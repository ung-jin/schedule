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d987d1f347428e" /><Relationship Type="http://schemas.openxmlformats.org/officeDocument/2006/relationships/extended-properties" Target="/docProps/app.xml" Id="Rf29ae88d11b24323" /><Relationship Type="http://schemas.openxmlformats.org/officeDocument/2006/relationships/officeDocument" Target="/ppt/presentation.xml" Id="Ra2beea1b8acb422f" /></Relationships>
</file>

<file path=ppt/presentation.xml><?xml version="1.0" encoding="utf-8"?>
<p:presentation xmlns:p="http://schemas.openxmlformats.org/presentationml/2006/main">
  <p:sldMasterIdLst>
    <p:sldMasterId xmlns:r="http://schemas.openxmlformats.org/officeDocument/2006/relationships" id="2147483648" r:id="Rfb35fa3175ec49b7"/>
  </p:sldMasterIdLst>
  <p:notesMasterIdLst>
    <p:notesMasterId xmlns:r="http://schemas.openxmlformats.org/officeDocument/2006/relationships" r:id="R45bff24995334f5d"/>
  </p:notesMasterIdLst>
  <p:sldIdLst>
    <p:sldId xmlns:r="http://schemas.openxmlformats.org/officeDocument/2006/relationships" id="256" r:id="R919efd4b07bd4704"/>
    <p:sldId xmlns:r="http://schemas.openxmlformats.org/officeDocument/2006/relationships" id="257" r:id="R384b01bc43674eb7"/>
    <p:sldId xmlns:r="http://schemas.openxmlformats.org/officeDocument/2006/relationships" id="258" r:id="Rdd6db44c43264f15"/>
    <p:sldId xmlns:r="http://schemas.openxmlformats.org/officeDocument/2006/relationships" id="259" r:id="Rb60c41b9b9324d06"/>
    <p:sldId xmlns:r="http://schemas.openxmlformats.org/officeDocument/2006/relationships" id="260" r:id="R4751bc4d1146406a"/>
    <p:sldId xmlns:r="http://schemas.openxmlformats.org/officeDocument/2006/relationships" id="261" r:id="R8481788db6d54c5d"/>
    <p:sldId xmlns:r="http://schemas.openxmlformats.org/officeDocument/2006/relationships" id="262" r:id="Rf3e3cd7fc9924551"/>
    <p:sldId xmlns:r="http://schemas.openxmlformats.org/officeDocument/2006/relationships" id="263" r:id="R7f525bb8ae014ea8"/>
    <p:sldId xmlns:r="http://schemas.openxmlformats.org/officeDocument/2006/relationships" id="264" r:id="Rf80b9a8d096d4d95"/>
    <p:sldId xmlns:r="http://schemas.openxmlformats.org/officeDocument/2006/relationships" id="265" r:id="Rea466a4dba404f74"/>
    <p:sldId xmlns:r="http://schemas.openxmlformats.org/officeDocument/2006/relationships" id="266" r:id="Rb08b2fd30a814533"/>
    <p:sldId xmlns:r="http://schemas.openxmlformats.org/officeDocument/2006/relationships" id="267" r:id="R287e81f2bfc54642"/>
    <p:sldId xmlns:r="http://schemas.openxmlformats.org/officeDocument/2006/relationships" id="268" r:id="R9fbc87b65b7243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0524d1dd9d4e1d" /><Relationship Type="http://schemas.openxmlformats.org/officeDocument/2006/relationships/slideMaster" Target="/ppt/slideMasters/slideMaster1.xml" Id="Rfb35fa3175ec49b7" /><Relationship Type="http://schemas.openxmlformats.org/officeDocument/2006/relationships/notesMaster" Target="/ppt/notesMasters/notesMaster1.xml" Id="R45bff24995334f5d" /><Relationship Type="http://schemas.openxmlformats.org/officeDocument/2006/relationships/presProps" Target="/ppt/presProps.xml" Id="R2d7fb4a7f73a44cf" /><Relationship Type="http://schemas.openxmlformats.org/officeDocument/2006/relationships/tableStyles" Target="/ppt/tableStyles.xml" Id="Rcb2255ecd2d5432a" /><Relationship Type="http://schemas.openxmlformats.org/officeDocument/2006/relationships/slide" Target="/ppt/slides/slide1.xml" Id="R919efd4b07bd4704" /><Relationship Type="http://schemas.openxmlformats.org/officeDocument/2006/relationships/slide" Target="/ppt/slides/slide2.xml" Id="R384b01bc43674eb7" /><Relationship Type="http://schemas.openxmlformats.org/officeDocument/2006/relationships/slide" Target="/ppt/slides/slide3.xml" Id="Rdd6db44c43264f15" /><Relationship Type="http://schemas.openxmlformats.org/officeDocument/2006/relationships/slide" Target="/ppt/slides/slide4.xml" Id="Rb60c41b9b9324d06" /><Relationship Type="http://schemas.openxmlformats.org/officeDocument/2006/relationships/slide" Target="/ppt/slides/slide5.xml" Id="R4751bc4d1146406a" /><Relationship Type="http://schemas.openxmlformats.org/officeDocument/2006/relationships/slide" Target="/ppt/slides/slide6.xml" Id="R8481788db6d54c5d" /><Relationship Type="http://schemas.openxmlformats.org/officeDocument/2006/relationships/slide" Target="/ppt/slides/slide7.xml" Id="Rf3e3cd7fc9924551" /><Relationship Type="http://schemas.openxmlformats.org/officeDocument/2006/relationships/slide" Target="/ppt/slides/slide8.xml" Id="R7f525bb8ae014ea8" /><Relationship Type="http://schemas.openxmlformats.org/officeDocument/2006/relationships/slide" Target="/ppt/slides/slide9.xml" Id="Rf80b9a8d096d4d95" /><Relationship Type="http://schemas.openxmlformats.org/officeDocument/2006/relationships/slide" Target="/ppt/slides/slide10.xml" Id="Rea466a4dba404f74" /><Relationship Type="http://schemas.openxmlformats.org/officeDocument/2006/relationships/slide" Target="/ppt/slides/slide11.xml" Id="Rb08b2fd30a814533" /><Relationship Type="http://schemas.openxmlformats.org/officeDocument/2006/relationships/slide" Target="/ppt/slides/slide12.xml" Id="R287e81f2bfc54642" /><Relationship Type="http://schemas.openxmlformats.org/officeDocument/2006/relationships/slide" Target="/ppt/slides/slide13.xml" Id="R9fbc87b65b7243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84c816b7743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18d136e89d4eb6" /><Relationship Type="http://schemas.openxmlformats.org/officeDocument/2006/relationships/notesMaster" Target="/ppt/notesMasters/notesMaster1.xml" Id="Re6100f56e34d4f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ae44bcf92746f1" /><Relationship Type="http://schemas.openxmlformats.org/officeDocument/2006/relationships/notesMaster" Target="/ppt/notesMasters/notesMaster1.xml" Id="R835453a7b01e4e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7301d94a4a4e0f" /><Relationship Type="http://schemas.openxmlformats.org/officeDocument/2006/relationships/notesMaster" Target="/ppt/notesMasters/notesMaster1.xml" Id="Ra1d7720cc2d44b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491a689b284061" /><Relationship Type="http://schemas.openxmlformats.org/officeDocument/2006/relationships/notesMaster" Target="/ppt/notesMasters/notesMaster1.xml" Id="R2d7a9143cb3447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d2cf8cc59644e2" /><Relationship Type="http://schemas.openxmlformats.org/officeDocument/2006/relationships/notesMaster" Target="/ppt/notesMasters/notesMaster1.xml" Id="R09b73472725b4d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7150ad09a94c76" /><Relationship Type="http://schemas.openxmlformats.org/officeDocument/2006/relationships/notesMaster" Target="/ppt/notesMasters/notesMaster1.xml" Id="Rf6dfc39d739442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133c386ad04282" /><Relationship Type="http://schemas.openxmlformats.org/officeDocument/2006/relationships/notesMaster" Target="/ppt/notesMasters/notesMaster1.xml" Id="R8487cdc7af3441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30d39313bd4f61" /><Relationship Type="http://schemas.openxmlformats.org/officeDocument/2006/relationships/notesMaster" Target="/ppt/notesMasters/notesMaster1.xml" Id="Ra29c1d1aa0e849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8f2ece546a4715" /><Relationship Type="http://schemas.openxmlformats.org/officeDocument/2006/relationships/notesMaster" Target="/ppt/notesMasters/notesMaster1.xml" Id="R09c6b3ec2ad345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59a006d2024bbc" /><Relationship Type="http://schemas.openxmlformats.org/officeDocument/2006/relationships/notesMaster" Target="/ppt/notesMasters/notesMaster1.xml" Id="R311775d9ce2049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438924e7b74b0b" /><Relationship Type="http://schemas.openxmlformats.org/officeDocument/2006/relationships/notesMaster" Target="/ppt/notesMasters/notesMaster1.xml" Id="Raf726791286844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3586139eb14f79" /><Relationship Type="http://schemas.openxmlformats.org/officeDocument/2006/relationships/notesMaster" Target="/ppt/notesMasters/notesMaster1.xml" Id="Rbdd7b2b012c145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d4390aa3d94c48" /><Relationship Type="http://schemas.openxmlformats.org/officeDocument/2006/relationships/notesMaster" Target="/ppt/notesMasters/notesMaster1.xml" Id="Rfac7421b86e648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안녕하세요. 저희가 개발한 Schedule은 냉난방기기 AS 운영을 하나의 흐름으로 관리하는 웹 서비스입니다. 고객 접수, 관리자 배정, 기사 방문과 결과보고, 고객 만족도 수집까지 실제 업무 순서대로 연결했습니다. 오늘은 기능 나열보다 어떤 운영 문제를 해결했고 실제로 어떻게 동작하는지 중심으로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[0:35~1:20] 프로젝트의 핵심은 네 단계입니다. 고객이 신청하면 관리자가 기사를 배정하고, 기사가 현장에서 결과를 등록하면 고객에게 설문 링크가 발송됩니다. 각 역할은 서로 다른 화면을 사용하지만 같은 접수번호와 일정 데이터를 공유합니다. 현재 구현은 사용자 역할 3종, 핵심 테이블 6개이며 자동 테스트 4개가 통과했습니다. 이 숫자는 성공률이 아니라 저장소에서 확인한 테스트 개수입니다.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[1:20~2:25] 선정 배경은 현장 서비스 업무의 정보 단절입니다. 접수 내용이 전화나 메모로 들어오면 상태를 다시 확인해야 하고, 관리자는 미배정 요청과 기사 일정을 따로 봐야 합니다. 기사는 일정을 전달받은 뒤 다시 결과를 남겨야 하며, 고객 평가는 운영 데이터로 축적되기 어렵습니다. Schedule은 이 세 가지 단절을 하나의 접수 상태와 일정 데이터로 연결하는 데서 출발했습니다.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[2:25~3:25] 서비스 구조는 고객, 관리자, 기사 세 역할로 나뉩니다. 고객은 신청과 자신의 내역, 만족도 설문을 사용합니다. 관리자는 접수 현황과 기사 관리, 일정 배정을 담당합니다. 기사는 본인 일정과 결과보고만 확인합니다. 화면과 권한은 분리했지만 접수 상태, 기사 일정, 처리 결과와 만족도 데이터는 순차적으로 이어집니다. 역할별 접근 제어와 본인 소유 데이터 확인도 적용했습니다.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[3:25~4:25] 고객 화면은 접수 데이터의 시작점입니다. 고객은 제품 종류, 증상, 주소와 희망일을 입력합니다. 같은 조건의 중복 신청을 확인하고, 로그인한 고객은 자신의 신청내역과 상세만 조회할 수 있습니다. 이 화면에서 만들어진 REQUEST 데이터가 관리자 배정과 기사 일정으로 이어집니다.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[4:25~5:30] 관리자는 로그인 직후 대시보드에서 전체 운영 상태를 확인합니다. 상태별 건수와 최근 접수 목록을 함께 보고, 상세 화면에서 고객 정보와 증상을 확인합니다. 운영자가 여러 메뉴를 오가며 숫자를 맞추지 않아도 현재 요청이 어느 단계에 있는지 파악할 수 있도록 구성했습니다.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[5:30~6:35] 일정관리 화면에서는 미배정 요청을 선택하고 담당 기사와 방문 시간을 입력합니다. 저장하면 AS_SCHEDULE에 일정이 생성되고 REQUEST 상태가 ASSIGNED로 변경됩니다. 월간 캘린더에서 기사별 배정 결과를 색상으로 확인할 수 있습니다. 현재 핵심 배정 흐름은 구현됐고, 같은 기사에게 겹치는 시간을 배정하지 않도록 하는 충돌 검증은 다음 보완 과제로 남았습니다.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[6:35~8:05] 기사 화면은 현장 업무 순서에 맞췄습니다. 대시보드에서 오늘 배정과 월간 일정을 확인하고, 방문이 끝나면 결과보고 화면에서 처리 내용과 사진을 최대 두 장까지 등록합니다. 다른 기사의 scheduleNo를 직접 입력해 접근하지 못하도록 소유권을 확인하며, 처리 시각은 브라우저가 아니라 서버가 기록합니다. 신규 결과 등록이 완료되면 해당 접수 상태도 COMPLETED로 변경됩니다.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[8:05~9:20] 결과보고가 끝나면 Solapi를 통해 고객에게 만족도 설문 링크를 발송합니다. 초기에는 Google Form을 검토했지만 응답을 시스템 통계로 연결하기 어려워 자체 설문으로 변경했습니다. 고객은 세 항목을 평가하고, 응답은 만족도 테이블에 저장됩니다. 기사 대시보드는 월간 평균, 전년 동월 비교와 월별 추이를 보여줍니다. 결과 등록에서 고객 피드백까지 이어지는 흐름이 Schedule의 가장 큰 차별점입니다.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[9:20~10:40] 개발은 9월 8일부터 15일까지 6개 작업일 동안 진행했습니다. 팀은 화면 단위로 오너십을 나눴습니다. 팀장은 공통 화면과 로그인, 통합을 맡았고 최준영은 관리자 대시보드와 기사관리, 김성준은 관리자 일정관리, 박성인은 기사 대시보드와 결과보고, SMS와 만족도를 담당했습니다. 각 담당자가 Controller, Service, Mapper, HTML과 JavaScript까지 하나의 기능 흐름을 완결했습니다. 저장소에 없는 팀장명과 실제 멘토 지원 내용은 제출 전에 입력해야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[10:40~12:05] 기술 구성은 Java 17, Spring Boot 4.0.8, Thymeleaf, MyBatis와 MariaDB입니다. FullCalendar로 일정을 표시하고 Solapi SMS와 Cloudflare Tunnel을 연동했습니다. 교육에서 배운 MVC 구조, 데이터베이스 조인, 파일 업로드와 비동기 처리를 하나의 서비스 흐름에 적용했습니다. 개발 중 MEMBER 번호와 ENGINEER 번호를 혼동한 오류는 기사번호를 별도로 조회하도록 수정했고, 외부 설문은 자체 설문으로 바꿨습니다. 현재 빌드와 자동 테스트는 통과했지만 비밀번호 해시, 비밀정보 외부화와 배정 충돌 검증은 운영 전에 보완해야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[12:05~13:25] 활용 대상은 소규모 AS센터입니다. 관리자는 접수와 배정 현황을 한눈에 보고, 기사는 자신에게 배정된 일정과 처리 이력에 집중할 수 있습니다. 고객 평가까지 같은 DB에 쌓이기 때문에 기사별 서비스 품질을 월간 단위로 확인할 기반도 생깁니다. 다음 단계는 일정 충돌 검증, 보안과 배포 환경 강화, 모바일 화면과 알림 개선입니다. 아직 실제 사업장에서 측정한 운영 수치는 없으므로 이 슬라이드의 내용은 검증된 성과가 아니라 기대 효과입니다.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[13:25~15:00] 자체 완성도는 10점 만점에 8점으로 평가했습니다. 고객 접수에서 관리자 배정, 기사 처리와 만족도까지 핵심 흐름이 실제 화면에서 동작하고, 현재 빌드와 자동 테스트도 통과했습니다. 반면 비밀번호 해시 저장, SMS 인증정보 환경변수화, 일정 배정 충돌 검증은 운영 전에 반드시 보완해야 합니다. 프로젝트를 통해 테이블마다 다른 기본키를 정확히 구분하는 중요성, 처리 시각과 권한은 서버가 책임져야 한다는 점을 배웠습니다. 이상으로 발표를 마치겠습니다. 질문 주시면 실제 화면과 코드 흐름을 기준으로 답변드리겠습니다.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35e449f30942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63c19108e243c5" /><Relationship Type="http://schemas.openxmlformats.org/officeDocument/2006/relationships/slideLayout" Target="/ppt/slideLayouts/slideLayout1.xml" Id="Re83695b5671745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3695b5671745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9898265de8454b" /><Relationship Type="http://schemas.openxmlformats.org/officeDocument/2006/relationships/image" Target="/ppt/media/image.jpeg" Id="R3b9aa367945a42ed" /><Relationship Type="http://schemas.openxmlformats.org/officeDocument/2006/relationships/notesSlide" Target="/ppt/notesSlides/notesSlide1.xml" Id="R1aa18d9a7d6f4e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766b48b04d447f" /><Relationship Type="http://schemas.openxmlformats.org/officeDocument/2006/relationships/notesSlide" Target="/ppt/notesSlides/notesSlide2.xml" Id="Re045b3260ff14c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2f8b7d377d412a" /><Relationship Type="http://schemas.openxmlformats.org/officeDocument/2006/relationships/image" Target="/ppt/media/image2.jpeg" Id="R1ad7e0d715ce4119" /><Relationship Type="http://schemas.openxmlformats.org/officeDocument/2006/relationships/notesSlide" Target="/ppt/notesSlides/notesSlide3.xml" Id="R6036689ed8cb4d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6f19e763324a53" /><Relationship Type="http://schemas.openxmlformats.org/officeDocument/2006/relationships/notesSlide" Target="/ppt/notesSlides/notesSlide4.xml" Id="R335462dd9a584e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7b225ac69a456f" /><Relationship Type="http://schemas.openxmlformats.org/officeDocument/2006/relationships/image" Target="/ppt/media/image3.jpeg" Id="R699853047a5d4897" /><Relationship Type="http://schemas.openxmlformats.org/officeDocument/2006/relationships/notesSlide" Target="/ppt/notesSlides/notesSlide5.xml" Id="R4d255015b90541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bd4abf1d584ce2" /><Relationship Type="http://schemas.openxmlformats.org/officeDocument/2006/relationships/image" Target="/ppt/media/image4.jpeg" Id="R1592ca6c8fc5412a" /><Relationship Type="http://schemas.openxmlformats.org/officeDocument/2006/relationships/notesSlide" Target="/ppt/notesSlides/notesSlide6.xml" Id="R6bc99f24de5e4b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da9efa44d74857" /><Relationship Type="http://schemas.openxmlformats.org/officeDocument/2006/relationships/image" Target="/ppt/media/image5.jpeg" Id="R1820db09dff64bbd" /><Relationship Type="http://schemas.openxmlformats.org/officeDocument/2006/relationships/notesSlide" Target="/ppt/notesSlides/notesSlide7.xml" Id="R042acc20d5a341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6d30e3ca8f4996" /><Relationship Type="http://schemas.openxmlformats.org/officeDocument/2006/relationships/image" Target="/ppt/media/image6.jpeg" Id="R549b54f30f654e3c" /><Relationship Type="http://schemas.openxmlformats.org/officeDocument/2006/relationships/image" Target="/ppt/media/image7.jpeg" Id="R6b2d7fcace14451c" /><Relationship Type="http://schemas.openxmlformats.org/officeDocument/2006/relationships/notesSlide" Target="/ppt/notesSlides/notesSlide8.xml" Id="R190b504211b44b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6e9bce683c4037" /><Relationship Type="http://schemas.openxmlformats.org/officeDocument/2006/relationships/image" Target="/ppt/media/image8.jpeg" Id="Rc91269a9d93e434b" /><Relationship Type="http://schemas.openxmlformats.org/officeDocument/2006/relationships/notesSlide" Target="/ppt/notesSlides/notesSlide9.xml" Id="Rf5b19d90ca5443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0af2f6095f401b" /><Relationship Type="http://schemas.openxmlformats.org/officeDocument/2006/relationships/notesSlide" Target="/ppt/notesSlides/notesSlide10.xml" Id="R941abfb5211643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14a58936654ac7" /><Relationship Type="http://schemas.openxmlformats.org/officeDocument/2006/relationships/notesSlide" Target="/ppt/notesSlides/notesSlide11.xml" Id="R3db0bee86a3d45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43db03ae964377" /><Relationship Type="http://schemas.openxmlformats.org/officeDocument/2006/relationships/notesSlide" Target="/ppt/notesSlides/notesSlide12.xml" Id="R294a3633fcb449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f836cb48ce44e9" /><Relationship Type="http://schemas.openxmlformats.org/officeDocument/2006/relationships/notesSlide" Target="/ppt/notesSlides/notesSlide13.xml" Id="Rdfd1f77daeee4ae1" /></Relationships>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b9aa367945a42ed"/>
          <a:srcRect xmlns:a="http://schemas.openxmlformats.org/drawingml/2006/main" l="29675" t="0" r="29675"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4B2CF9-D287-4B54-B332-D19B993A687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3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1B6AA7-ACB0-4054-9E66-D0DCACBEB732}"/>
              </a:ext>
            </a:extLst>
          </p:cNvPr>
          <p:cNvSpPr>
            <a:spLocks xmlns:a="http://schemas.openxmlformats.org/drawingml/2006/main" noGrp="1"/>
          </p:cNvSpPr>
          <p:nvPr/>
        </p:nvSpPr>
        <p:spPr>
          <a:xfrm xmlns:a="http://schemas.openxmlformats.org/drawingml/2006/main">
            <a:off x="628650" y="990600"/>
            <a:ext cx="6858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535171-B67B-4C22-A6B7-0ED4B5D8B349}"/>
              </a:ext>
            </a:extLst>
          </p:cNvPr>
          <p:cNvSpPr>
            <a:spLocks xmlns:a="http://schemas.openxmlformats.org/drawingml/2006/main" noGrp="1"/>
          </p:cNvSpPr>
          <p:nvPr/>
        </p:nvSpPr>
        <p:spPr>
          <a:xfrm xmlns:a="http://schemas.openxmlformats.org/drawingml/2006/main">
            <a:off x="628650" y="14287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맑은 고딕"/>
                <a:ea typeface="맑은 고딕"/>
                <a:cs typeface="맑은 고딕"/>
              </a:defRPr>
            </a:pPr>
            <a:r>
              <a:rPr sz="4350" b="1">
                <a:solidFill>
                  <a:srgbClr val="FFFFFF"/>
                </a:solidFill>
                <a:latin typeface="맑은 고딕"/>
                <a:ea typeface="맑은 고딕"/>
                <a:cs typeface="맑은 고딕"/>
              </a:rPr>
              <a:t>Schedule</a:t>
            </a:r>
          </a:p>
        </p:txBody>
      </p:sp>
      <p:sp>
        <p:nvSpPr>
          <p:cNvPr id="5" name="">
            <a:extLst xmlns:a="http://schemas.openxmlformats.org/drawingml/2006/main">
              <a:ext uri="{FF2B5EF4-FFF2-40B4-BE49-F238E27FC236}">
                <a16:creationId xmlns:a16="http://schemas.microsoft.com/office/drawing/2014/main" id="{A3DDA6F2-1F9B-4432-AF48-55A5468D1A01}"/>
              </a:ext>
            </a:extLst>
          </p:cNvPr>
          <p:cNvSpPr>
            <a:spLocks xmlns:a="http://schemas.openxmlformats.org/drawingml/2006/main" noGrp="1"/>
          </p:cNvSpPr>
          <p:nvPr/>
        </p:nvSpPr>
        <p:spPr>
          <a:xfrm xmlns:a="http://schemas.openxmlformats.org/drawingml/2006/main">
            <a:off x="647700" y="23431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7E1E7"/>
                </a:solidFill>
                <a:latin typeface="맑은 고딕"/>
                <a:ea typeface="맑은 고딕"/>
                <a:cs typeface="맑은 고딕"/>
              </a:defRPr>
            </a:pPr>
            <a:r>
              <a:rPr sz="1800" b="0">
                <a:solidFill>
                  <a:srgbClr val="D7E1E7"/>
                </a:solidFill>
                <a:latin typeface="맑은 고딕"/>
                <a:ea typeface="맑은 고딕"/>
                <a:cs typeface="맑은 고딕"/>
              </a:rPr>
              <a:t>냉난방기기 AS 운영관리 시스템</a:t>
            </a:r>
          </a:p>
        </p:txBody>
      </p:sp>
      <p:sp>
        <p:nvSpPr>
          <p:cNvPr id="6" name="">
            <a:extLst xmlns:a="http://schemas.openxmlformats.org/drawingml/2006/main">
              <a:ext uri="{FF2B5EF4-FFF2-40B4-BE49-F238E27FC236}">
                <a16:creationId xmlns:a16="http://schemas.microsoft.com/office/drawing/2014/main" id="{ECEB1741-C13A-480C-841D-DBDC50856587}"/>
              </a:ext>
            </a:extLst>
          </p:cNvPr>
          <p:cNvSpPr>
            <a:spLocks xmlns:a="http://schemas.openxmlformats.org/drawingml/2006/main" noGrp="1"/>
          </p:cNvSpPr>
          <p:nvPr/>
        </p:nvSpPr>
        <p:spPr>
          <a:xfrm xmlns:a="http://schemas.openxmlformats.org/drawingml/2006/main">
            <a:off x="647700" y="3028950"/>
            <a:ext cx="5667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D5C4"/>
                </a:solidFill>
                <a:latin typeface="맑은 고딕"/>
                <a:ea typeface="맑은 고딕"/>
                <a:cs typeface="맑은 고딕"/>
              </a:defRPr>
            </a:pPr>
            <a:r>
              <a:rPr sz="2025" b="1">
                <a:solidFill>
                  <a:srgbClr val="20D5C4"/>
                </a:solidFill>
                <a:latin typeface="맑은 고딕"/>
                <a:ea typeface="맑은 고딕"/>
                <a:cs typeface="맑은 고딕"/>
              </a:rPr>
              <a:t>접수부터 고객 평가까지 이어지는 현장 서비스 운영</a:t>
            </a:r>
          </a:p>
        </p:txBody>
      </p:sp>
      <p:sp>
        <p:nvSpPr>
          <p:cNvPr id="7" name="">
            <a:extLst xmlns:a="http://schemas.openxmlformats.org/drawingml/2006/main">
              <a:ext uri="{FF2B5EF4-FFF2-40B4-BE49-F238E27FC236}">
                <a16:creationId xmlns:a16="http://schemas.microsoft.com/office/drawing/2014/main" id="{A161D9FE-C3BC-4B05-9729-FFBA806E247F}"/>
              </a:ext>
            </a:extLst>
          </p:cNvPr>
          <p:cNvSpPr>
            <a:spLocks xmlns:a="http://schemas.openxmlformats.org/drawingml/2006/main" noGrp="1"/>
          </p:cNvSpPr>
          <p:nvPr/>
        </p:nvSpPr>
        <p:spPr>
          <a:xfrm xmlns:a="http://schemas.openxmlformats.org/drawingml/2006/main">
            <a:off x="647700" y="5524500"/>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8EA2B1"/>
                </a:solidFill>
                <a:latin typeface="맑은 고딕"/>
                <a:ea typeface="맑은 고딕"/>
                <a:cs typeface="맑은 고딕"/>
              </a:defRPr>
            </a:pPr>
            <a:r>
              <a:rPr sz="975" b="1">
                <a:solidFill>
                  <a:srgbClr val="8EA2B1"/>
                </a:solidFill>
                <a:latin typeface="맑은 고딕"/>
                <a:ea typeface="맑은 고딕"/>
                <a:cs typeface="맑은 고딕"/>
              </a:rPr>
              <a:t>TEAM PROJECT  ·  2026.09.08–09.15</a:t>
            </a:r>
          </a:p>
        </p:txBody>
      </p:sp>
      <p:sp>
        <p:nvSpPr>
          <p:cNvPr id="8" name="">
            <a:extLst xmlns:a="http://schemas.openxmlformats.org/drawingml/2006/main">
              <a:ext uri="{FF2B5EF4-FFF2-40B4-BE49-F238E27FC236}">
                <a16:creationId xmlns:a16="http://schemas.microsoft.com/office/drawing/2014/main" id="{CDDAF95A-AFD9-4158-8A6D-E1CBD7324509}"/>
              </a:ext>
            </a:extLst>
          </p:cNvPr>
          <p:cNvSpPr>
            <a:spLocks xmlns:a="http://schemas.openxmlformats.org/drawingml/2006/main" noGrp="1"/>
          </p:cNvSpPr>
          <p:nvPr/>
        </p:nvSpPr>
        <p:spPr>
          <a:xfrm xmlns:a="http://schemas.openxmlformats.org/drawingml/2006/main">
            <a:off x="647700" y="5905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맑은 고딕"/>
                <a:ea typeface="맑은 고딕"/>
                <a:cs typeface="맑은 고딕"/>
              </a:defRPr>
            </a:pPr>
            <a:r>
              <a:rPr sz="1200" b="0">
                <a:solidFill>
                  <a:srgbClr val="FFFFFF"/>
                </a:solidFill>
                <a:latin typeface="맑은 고딕"/>
                <a:ea typeface="맑은 고딕"/>
                <a:cs typeface="맑은 고딕"/>
              </a:rPr>
              <a:t>팀명·발표자 입력</a:t>
            </a:r>
          </a:p>
        </p:txBody>
      </p:sp>
    </p:spTree>
    <p:extLst>
      <p:ext uri="{BB962C8B-B14F-4D97-AF65-F5344CB8AC3E}">
        <p14:creationId xmlns:p14="http://schemas.microsoft.com/office/powerpoint/2010/main" val="12618189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E8D51A8-A20B-4312-91F9-357F2D9DC57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D3BD79-BA0C-454F-81D0-03451DF4C899}"/>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3F6B0136-6159-4089-BEEC-8C783B5B90B9}"/>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02</a:t>
            </a:r>
          </a:p>
        </p:txBody>
      </p:sp>
      <p:sp>
        <p:nvSpPr>
          <p:cNvPr id="4" name="">
            <a:extLst xmlns:a="http://schemas.openxmlformats.org/drawingml/2006/main">
              <a:ext uri="{FF2B5EF4-FFF2-40B4-BE49-F238E27FC236}">
                <a16:creationId xmlns:a16="http://schemas.microsoft.com/office/drawing/2014/main" id="{C9A5A991-5FF2-41BA-9C8B-FF7174A0698E}"/>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PROJECT OVERVIEW</a:t>
            </a:r>
          </a:p>
        </p:txBody>
      </p:sp>
      <p:sp>
        <p:nvSpPr>
          <p:cNvPr id="5" name="">
            <a:extLst xmlns:a="http://schemas.openxmlformats.org/drawingml/2006/main">
              <a:ext uri="{FF2B5EF4-FFF2-40B4-BE49-F238E27FC236}">
                <a16:creationId xmlns:a16="http://schemas.microsoft.com/office/drawing/2014/main" id="{E6913AA2-181F-406D-A9CF-715250B8B872}"/>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AS 업무 전체를 하나의 데이터 흐름으로 연결</a:t>
            </a:r>
          </a:p>
        </p:txBody>
      </p:sp>
      <p:sp>
        <p:nvSpPr>
          <p:cNvPr id="6" name="">
            <a:extLst xmlns:a="http://schemas.openxmlformats.org/drawingml/2006/main">
              <a:ext uri="{FF2B5EF4-FFF2-40B4-BE49-F238E27FC236}">
                <a16:creationId xmlns:a16="http://schemas.microsoft.com/office/drawing/2014/main" id="{589FDF7B-60EA-48B2-9CFC-9862E5FE5792}"/>
              </a:ext>
            </a:extLst>
          </p:cNvPr>
          <p:cNvSpPr>
            <a:spLocks xmlns:a="http://schemas.openxmlformats.org/drawingml/2006/main" noGrp="1"/>
          </p:cNvSpPr>
          <p:nvPr/>
        </p:nvSpPr>
        <p:spPr>
          <a:xfrm xmlns:a="http://schemas.openxmlformats.org/drawingml/2006/main">
            <a:off x="628650" y="1600200"/>
            <a:ext cx="971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18295"/>
                </a:solidFill>
                <a:latin typeface="맑은 고딕"/>
                <a:ea typeface="맑은 고딕"/>
                <a:cs typeface="맑은 고딕"/>
              </a:defRPr>
            </a:pPr>
            <a:r>
              <a:rPr sz="1500" b="0">
                <a:solidFill>
                  <a:srgbClr val="718295"/>
                </a:solidFill>
                <a:latin typeface="맑은 고딕"/>
                <a:ea typeface="맑은 고딕"/>
                <a:cs typeface="맑은 고딕"/>
              </a:rPr>
              <a:t>전화·메모 중심의 분절된 업무를 역할별 화면과 공통 상태 데이터로 통합했습니다.</a:t>
            </a:r>
          </a:p>
        </p:txBody>
      </p:sp>
      <p:sp>
        <p:nvSpPr>
          <p:cNvPr id="7" name="">
            <a:extLst xmlns:a="http://schemas.openxmlformats.org/drawingml/2006/main">
              <a:ext uri="{FF2B5EF4-FFF2-40B4-BE49-F238E27FC236}">
                <a16:creationId xmlns:a16="http://schemas.microsoft.com/office/drawing/2014/main" id="{98658A02-6DF7-4EB0-A024-33314BFB498B}"/>
              </a:ext>
            </a:extLst>
          </p:cNvPr>
          <p:cNvSpPr>
            <a:spLocks xmlns:a="http://schemas.openxmlformats.org/drawingml/2006/main" noGrp="1"/>
          </p:cNvSpPr>
          <p:nvPr/>
        </p:nvSpPr>
        <p:spPr>
          <a:xfrm xmlns:a="http://schemas.openxmlformats.org/drawingml/2006/main">
            <a:off x="62865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01</a:t>
            </a:r>
          </a:p>
        </p:txBody>
      </p:sp>
      <p:sp>
        <p:nvSpPr>
          <p:cNvPr id="8" name="">
            <a:extLst xmlns:a="http://schemas.openxmlformats.org/drawingml/2006/main">
              <a:ext uri="{FF2B5EF4-FFF2-40B4-BE49-F238E27FC236}">
                <a16:creationId xmlns:a16="http://schemas.microsoft.com/office/drawing/2014/main" id="{5F9F98E9-B4C1-47DD-A642-A528396E0906}"/>
              </a:ext>
            </a:extLst>
          </p:cNvPr>
          <p:cNvSpPr>
            <a:spLocks xmlns:a="http://schemas.openxmlformats.org/drawingml/2006/main" noGrp="1"/>
          </p:cNvSpPr>
          <p:nvPr/>
        </p:nvSpPr>
        <p:spPr>
          <a:xfrm xmlns:a="http://schemas.openxmlformats.org/drawingml/2006/main">
            <a:off x="62865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고객 접수</a:t>
            </a:r>
          </a:p>
        </p:txBody>
      </p:sp>
      <p:sp>
        <p:nvSpPr>
          <p:cNvPr id="9" name="">
            <a:extLst xmlns:a="http://schemas.openxmlformats.org/drawingml/2006/main">
              <a:ext uri="{FF2B5EF4-FFF2-40B4-BE49-F238E27FC236}">
                <a16:creationId xmlns:a16="http://schemas.microsoft.com/office/drawing/2014/main" id="{B72E542E-6D26-49A1-8D82-3AEB02CE7AD3}"/>
              </a:ext>
            </a:extLst>
          </p:cNvPr>
          <p:cNvSpPr>
            <a:spLocks xmlns:a="http://schemas.openxmlformats.org/drawingml/2006/main" noGrp="1"/>
          </p:cNvSpPr>
          <p:nvPr/>
        </p:nvSpPr>
        <p:spPr>
          <a:xfrm xmlns:a="http://schemas.openxmlformats.org/drawingml/2006/main">
            <a:off x="62865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제품·증상·희망일 입력</a:t>
            </a:r>
          </a:p>
        </p:txBody>
      </p:sp>
      <p:sp>
        <p:nvSpPr>
          <p:cNvPr id="10" name="">
            <a:extLst xmlns:a="http://schemas.openxmlformats.org/drawingml/2006/main">
              <a:ext uri="{FF2B5EF4-FFF2-40B4-BE49-F238E27FC236}">
                <a16:creationId xmlns:a16="http://schemas.microsoft.com/office/drawing/2014/main" id="{4F1F6814-0361-4F5C-B15B-95D00B014B0E}"/>
              </a:ext>
            </a:extLst>
          </p:cNvPr>
          <p:cNvSpPr>
            <a:spLocks xmlns:a="http://schemas.openxmlformats.org/drawingml/2006/main" noGrp="1"/>
          </p:cNvSpPr>
          <p:nvPr/>
        </p:nvSpPr>
        <p:spPr>
          <a:xfrm xmlns:a="http://schemas.openxmlformats.org/drawingml/2006/main">
            <a:off x="300990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1" name="">
            <a:extLst xmlns:a="http://schemas.openxmlformats.org/drawingml/2006/main">
              <a:ext uri="{FF2B5EF4-FFF2-40B4-BE49-F238E27FC236}">
                <a16:creationId xmlns:a16="http://schemas.microsoft.com/office/drawing/2014/main" id="{71DA45F2-31CF-4163-AA0F-41FD58AA4D2B}"/>
              </a:ext>
            </a:extLst>
          </p:cNvPr>
          <p:cNvSpPr>
            <a:spLocks xmlns:a="http://schemas.openxmlformats.org/drawingml/2006/main" noGrp="1"/>
          </p:cNvSpPr>
          <p:nvPr/>
        </p:nvSpPr>
        <p:spPr>
          <a:xfrm xmlns:a="http://schemas.openxmlformats.org/drawingml/2006/main">
            <a:off x="342900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02</a:t>
            </a:r>
          </a:p>
        </p:txBody>
      </p:sp>
      <p:sp>
        <p:nvSpPr>
          <p:cNvPr id="12" name="">
            <a:extLst xmlns:a="http://schemas.openxmlformats.org/drawingml/2006/main">
              <a:ext uri="{FF2B5EF4-FFF2-40B4-BE49-F238E27FC236}">
                <a16:creationId xmlns:a16="http://schemas.microsoft.com/office/drawing/2014/main" id="{97AA21D1-13BA-42E9-B159-BE2244C0F880}"/>
              </a:ext>
            </a:extLst>
          </p:cNvPr>
          <p:cNvSpPr>
            <a:spLocks xmlns:a="http://schemas.openxmlformats.org/drawingml/2006/main" noGrp="1"/>
          </p:cNvSpPr>
          <p:nvPr/>
        </p:nvSpPr>
        <p:spPr>
          <a:xfrm xmlns:a="http://schemas.openxmlformats.org/drawingml/2006/main">
            <a:off x="342900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기사 배정</a:t>
            </a:r>
          </a:p>
        </p:txBody>
      </p:sp>
      <p:sp>
        <p:nvSpPr>
          <p:cNvPr id="13" name="">
            <a:extLst xmlns:a="http://schemas.openxmlformats.org/drawingml/2006/main">
              <a:ext uri="{FF2B5EF4-FFF2-40B4-BE49-F238E27FC236}">
                <a16:creationId xmlns:a16="http://schemas.microsoft.com/office/drawing/2014/main" id="{79BE6905-E686-4787-B0B6-76A96E161350}"/>
              </a:ext>
            </a:extLst>
          </p:cNvPr>
          <p:cNvSpPr>
            <a:spLocks xmlns:a="http://schemas.openxmlformats.org/drawingml/2006/main" noGrp="1"/>
          </p:cNvSpPr>
          <p:nvPr/>
        </p:nvSpPr>
        <p:spPr>
          <a:xfrm xmlns:a="http://schemas.openxmlformats.org/drawingml/2006/main">
            <a:off x="342900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담당 기사와 방문시간 확정</a:t>
            </a:r>
          </a:p>
        </p:txBody>
      </p:sp>
      <p:sp>
        <p:nvSpPr>
          <p:cNvPr id="14" name="">
            <a:extLst xmlns:a="http://schemas.openxmlformats.org/drawingml/2006/main">
              <a:ext uri="{FF2B5EF4-FFF2-40B4-BE49-F238E27FC236}">
                <a16:creationId xmlns:a16="http://schemas.microsoft.com/office/drawing/2014/main" id="{E0FF65B1-61AC-47AE-85B3-9403D51009E7}"/>
              </a:ext>
            </a:extLst>
          </p:cNvPr>
          <p:cNvSpPr>
            <a:spLocks xmlns:a="http://schemas.openxmlformats.org/drawingml/2006/main" noGrp="1"/>
          </p:cNvSpPr>
          <p:nvPr/>
        </p:nvSpPr>
        <p:spPr>
          <a:xfrm xmlns:a="http://schemas.openxmlformats.org/drawingml/2006/main">
            <a:off x="581025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5" name="">
            <a:extLst xmlns:a="http://schemas.openxmlformats.org/drawingml/2006/main">
              <a:ext uri="{FF2B5EF4-FFF2-40B4-BE49-F238E27FC236}">
                <a16:creationId xmlns:a16="http://schemas.microsoft.com/office/drawing/2014/main" id="{FF9B71B4-0450-4C75-9312-4946C25673DB}"/>
              </a:ext>
            </a:extLst>
          </p:cNvPr>
          <p:cNvSpPr>
            <a:spLocks xmlns:a="http://schemas.openxmlformats.org/drawingml/2006/main" noGrp="1"/>
          </p:cNvSpPr>
          <p:nvPr/>
        </p:nvSpPr>
        <p:spPr>
          <a:xfrm xmlns:a="http://schemas.openxmlformats.org/drawingml/2006/main">
            <a:off x="622935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03</a:t>
            </a:r>
          </a:p>
        </p:txBody>
      </p:sp>
      <p:sp>
        <p:nvSpPr>
          <p:cNvPr id="16" name="">
            <a:extLst xmlns:a="http://schemas.openxmlformats.org/drawingml/2006/main">
              <a:ext uri="{FF2B5EF4-FFF2-40B4-BE49-F238E27FC236}">
                <a16:creationId xmlns:a16="http://schemas.microsoft.com/office/drawing/2014/main" id="{34BAA96A-CF39-436C-8C06-A93D0494D0C8}"/>
              </a:ext>
            </a:extLst>
          </p:cNvPr>
          <p:cNvSpPr>
            <a:spLocks xmlns:a="http://schemas.openxmlformats.org/drawingml/2006/main" noGrp="1"/>
          </p:cNvSpPr>
          <p:nvPr/>
        </p:nvSpPr>
        <p:spPr>
          <a:xfrm xmlns:a="http://schemas.openxmlformats.org/drawingml/2006/main">
            <a:off x="622935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현장 처리</a:t>
            </a:r>
          </a:p>
        </p:txBody>
      </p:sp>
      <p:sp>
        <p:nvSpPr>
          <p:cNvPr id="17" name="">
            <a:extLst xmlns:a="http://schemas.openxmlformats.org/drawingml/2006/main">
              <a:ext uri="{FF2B5EF4-FFF2-40B4-BE49-F238E27FC236}">
                <a16:creationId xmlns:a16="http://schemas.microsoft.com/office/drawing/2014/main" id="{4745BE0D-3146-40CF-A6CB-542261A01368}"/>
              </a:ext>
            </a:extLst>
          </p:cNvPr>
          <p:cNvSpPr>
            <a:spLocks xmlns:a="http://schemas.openxmlformats.org/drawingml/2006/main" noGrp="1"/>
          </p:cNvSpPr>
          <p:nvPr/>
        </p:nvSpPr>
        <p:spPr>
          <a:xfrm xmlns:a="http://schemas.openxmlformats.org/drawingml/2006/main">
            <a:off x="622935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작업 결과와 사진 기록</a:t>
            </a:r>
          </a:p>
        </p:txBody>
      </p:sp>
      <p:sp>
        <p:nvSpPr>
          <p:cNvPr id="18" name="">
            <a:extLst xmlns:a="http://schemas.openxmlformats.org/drawingml/2006/main">
              <a:ext uri="{FF2B5EF4-FFF2-40B4-BE49-F238E27FC236}">
                <a16:creationId xmlns:a16="http://schemas.microsoft.com/office/drawing/2014/main" id="{A4F2A8D7-0634-44FC-A4BB-0F2A7B3001D6}"/>
              </a:ext>
            </a:extLst>
          </p:cNvPr>
          <p:cNvSpPr>
            <a:spLocks xmlns:a="http://schemas.openxmlformats.org/drawingml/2006/main" noGrp="1"/>
          </p:cNvSpPr>
          <p:nvPr/>
        </p:nvSpPr>
        <p:spPr>
          <a:xfrm xmlns:a="http://schemas.openxmlformats.org/drawingml/2006/main">
            <a:off x="8610600" y="2857500"/>
            <a:ext cx="28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5C4CC"/>
                </a:solidFill>
                <a:latin typeface="맑은 고딕"/>
                <a:ea typeface="맑은 고딕"/>
                <a:cs typeface="맑은 고딕"/>
              </a:defRPr>
            </a:pPr>
            <a:r>
              <a:rPr sz="2100" b="0">
                <a:solidFill>
                  <a:srgbClr val="B5C4CC"/>
                </a:solidFill>
                <a:latin typeface="맑은 고딕"/>
                <a:ea typeface="맑은 고딕"/>
                <a:cs typeface="맑은 고딕"/>
              </a:rPr>
              <a:t>›</a:t>
            </a:r>
          </a:p>
        </p:txBody>
      </p:sp>
      <p:sp>
        <p:nvSpPr>
          <p:cNvPr id="19" name="">
            <a:extLst xmlns:a="http://schemas.openxmlformats.org/drawingml/2006/main">
              <a:ext uri="{FF2B5EF4-FFF2-40B4-BE49-F238E27FC236}">
                <a16:creationId xmlns:a16="http://schemas.microsoft.com/office/drawing/2014/main" id="{A158EBF3-CE2E-4A63-9DF4-AD495562CFCC}"/>
              </a:ext>
            </a:extLst>
          </p:cNvPr>
          <p:cNvSpPr>
            <a:spLocks xmlns:a="http://schemas.openxmlformats.org/drawingml/2006/main" noGrp="1"/>
          </p:cNvSpPr>
          <p:nvPr/>
        </p:nvSpPr>
        <p:spPr>
          <a:xfrm xmlns:a="http://schemas.openxmlformats.org/drawingml/2006/main">
            <a:off x="9029700" y="2428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04</a:t>
            </a:r>
          </a:p>
        </p:txBody>
      </p:sp>
      <p:sp>
        <p:nvSpPr>
          <p:cNvPr id="20" name="">
            <a:extLst xmlns:a="http://schemas.openxmlformats.org/drawingml/2006/main">
              <a:ext uri="{FF2B5EF4-FFF2-40B4-BE49-F238E27FC236}">
                <a16:creationId xmlns:a16="http://schemas.microsoft.com/office/drawing/2014/main" id="{90F153FD-A688-4C18-B5F8-B1FF1ED3F496}"/>
              </a:ext>
            </a:extLst>
          </p:cNvPr>
          <p:cNvSpPr>
            <a:spLocks xmlns:a="http://schemas.openxmlformats.org/drawingml/2006/main" noGrp="1"/>
          </p:cNvSpPr>
          <p:nvPr/>
        </p:nvSpPr>
        <p:spPr>
          <a:xfrm xmlns:a="http://schemas.openxmlformats.org/drawingml/2006/main">
            <a:off x="9029700" y="2838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7131F"/>
                </a:solidFill>
                <a:latin typeface="맑은 고딕"/>
                <a:ea typeface="맑은 고딕"/>
                <a:cs typeface="맑은 고딕"/>
              </a:defRPr>
            </a:pPr>
            <a:r>
              <a:rPr sz="1875" b="1">
                <a:solidFill>
                  <a:srgbClr val="07131F"/>
                </a:solidFill>
                <a:latin typeface="맑은 고딕"/>
                <a:ea typeface="맑은 고딕"/>
                <a:cs typeface="맑은 고딕"/>
              </a:rPr>
              <a:t>고객 평가</a:t>
            </a:r>
          </a:p>
        </p:txBody>
      </p:sp>
      <p:sp>
        <p:nvSpPr>
          <p:cNvPr id="21" name="">
            <a:extLst xmlns:a="http://schemas.openxmlformats.org/drawingml/2006/main">
              <a:ext uri="{FF2B5EF4-FFF2-40B4-BE49-F238E27FC236}">
                <a16:creationId xmlns:a16="http://schemas.microsoft.com/office/drawing/2014/main" id="{38F0366B-1828-48BE-A14E-BC6B4D06CE34}"/>
              </a:ext>
            </a:extLst>
          </p:cNvPr>
          <p:cNvSpPr>
            <a:spLocks xmlns:a="http://schemas.openxmlformats.org/drawingml/2006/main" noGrp="1"/>
          </p:cNvSpPr>
          <p:nvPr/>
        </p:nvSpPr>
        <p:spPr>
          <a:xfrm xmlns:a="http://schemas.openxmlformats.org/drawingml/2006/main">
            <a:off x="9029700" y="33337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SMS 설문과 월간 통계</a:t>
            </a:r>
          </a:p>
        </p:txBody>
      </p:sp>
      <p:sp>
        <p:nvSpPr>
          <p:cNvPr id="22" name="">
            <a:extLst xmlns:a="http://schemas.openxmlformats.org/drawingml/2006/main">
              <a:ext uri="{FF2B5EF4-FFF2-40B4-BE49-F238E27FC236}">
                <a16:creationId xmlns:a16="http://schemas.microsoft.com/office/drawing/2014/main" id="{4AFAD64C-9505-4DCC-BDA8-5FD06C87284B}"/>
              </a:ext>
            </a:extLst>
          </p:cNvPr>
          <p:cNvSpPr>
            <a:spLocks xmlns:a="http://schemas.openxmlformats.org/drawingml/2006/main" noGrp="1"/>
          </p:cNvSpPr>
          <p:nvPr/>
        </p:nvSpPr>
        <p:spPr>
          <a:xfrm xmlns:a="http://schemas.openxmlformats.org/drawingml/2006/main">
            <a:off x="628650" y="4343400"/>
            <a:ext cx="10934700"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80C2387-0215-45C1-BBF7-67A927237896}"/>
              </a:ext>
            </a:extLst>
          </p:cNvPr>
          <p:cNvSpPr>
            <a:spLocks xmlns:a="http://schemas.openxmlformats.org/drawingml/2006/main" noGrp="1"/>
          </p:cNvSpPr>
          <p:nvPr/>
        </p:nvSpPr>
        <p:spPr>
          <a:xfrm xmlns:a="http://schemas.openxmlformats.org/drawingml/2006/main">
            <a:off x="6286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AFA8"/>
                </a:solidFill>
                <a:latin typeface="맑은 고딕"/>
                <a:ea typeface="맑은 고딕"/>
                <a:cs typeface="맑은 고딕"/>
              </a:defRPr>
            </a:pPr>
            <a:r>
              <a:rPr sz="2850" b="1">
                <a:solidFill>
                  <a:srgbClr val="00AFA8"/>
                </a:solidFill>
                <a:latin typeface="맑은 고딕"/>
                <a:ea typeface="맑은 고딕"/>
                <a:cs typeface="맑은 고딕"/>
              </a:rPr>
              <a:t>3</a:t>
            </a:r>
          </a:p>
        </p:txBody>
      </p:sp>
      <p:sp>
        <p:nvSpPr>
          <p:cNvPr id="24" name="">
            <a:extLst xmlns:a="http://schemas.openxmlformats.org/drawingml/2006/main">
              <a:ext uri="{FF2B5EF4-FFF2-40B4-BE49-F238E27FC236}">
                <a16:creationId xmlns:a16="http://schemas.microsoft.com/office/drawing/2014/main" id="{26E14FBB-286C-480E-A9D9-AD247A254642}"/>
              </a:ext>
            </a:extLst>
          </p:cNvPr>
          <p:cNvSpPr>
            <a:spLocks xmlns:a="http://schemas.openxmlformats.org/drawingml/2006/main" noGrp="1"/>
          </p:cNvSpPr>
          <p:nvPr/>
        </p:nvSpPr>
        <p:spPr>
          <a:xfrm xmlns:a="http://schemas.openxmlformats.org/drawingml/2006/main">
            <a:off x="6286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사용자 역할</a:t>
            </a:r>
          </a:p>
        </p:txBody>
      </p:sp>
      <p:sp>
        <p:nvSpPr>
          <p:cNvPr id="25" name="">
            <a:extLst xmlns:a="http://schemas.openxmlformats.org/drawingml/2006/main">
              <a:ext uri="{FF2B5EF4-FFF2-40B4-BE49-F238E27FC236}">
                <a16:creationId xmlns:a16="http://schemas.microsoft.com/office/drawing/2014/main" id="{1F92F5F7-24DC-4A8C-91CC-526DE58E6F18}"/>
              </a:ext>
            </a:extLst>
          </p:cNvPr>
          <p:cNvSpPr>
            <a:spLocks xmlns:a="http://schemas.openxmlformats.org/drawingml/2006/main" noGrp="1"/>
          </p:cNvSpPr>
          <p:nvPr/>
        </p:nvSpPr>
        <p:spPr>
          <a:xfrm xmlns:a="http://schemas.openxmlformats.org/drawingml/2006/main">
            <a:off x="33337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B4A"/>
                </a:solidFill>
                <a:latin typeface="맑은 고딕"/>
                <a:ea typeface="맑은 고딕"/>
                <a:cs typeface="맑은 고딕"/>
              </a:defRPr>
            </a:pPr>
            <a:r>
              <a:rPr sz="2850" b="1">
                <a:solidFill>
                  <a:srgbClr val="FF6B4A"/>
                </a:solidFill>
                <a:latin typeface="맑은 고딕"/>
                <a:ea typeface="맑은 고딕"/>
                <a:cs typeface="맑은 고딕"/>
              </a:rPr>
              <a:t>6</a:t>
            </a:r>
          </a:p>
        </p:txBody>
      </p:sp>
      <p:sp>
        <p:nvSpPr>
          <p:cNvPr id="26" name="">
            <a:extLst xmlns:a="http://schemas.openxmlformats.org/drawingml/2006/main">
              <a:ext uri="{FF2B5EF4-FFF2-40B4-BE49-F238E27FC236}">
                <a16:creationId xmlns:a16="http://schemas.microsoft.com/office/drawing/2014/main" id="{6D9CB5B5-A8A2-4202-BE24-1A5F9DAE6F2C}"/>
              </a:ext>
            </a:extLst>
          </p:cNvPr>
          <p:cNvSpPr>
            <a:spLocks xmlns:a="http://schemas.openxmlformats.org/drawingml/2006/main" noGrp="1"/>
          </p:cNvSpPr>
          <p:nvPr/>
        </p:nvSpPr>
        <p:spPr>
          <a:xfrm xmlns:a="http://schemas.openxmlformats.org/drawingml/2006/main">
            <a:off x="33337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핵심 DB 테이블</a:t>
            </a:r>
          </a:p>
        </p:txBody>
      </p:sp>
      <p:sp>
        <p:nvSpPr>
          <p:cNvPr id="27" name="">
            <a:extLst xmlns:a="http://schemas.openxmlformats.org/drawingml/2006/main">
              <a:ext uri="{FF2B5EF4-FFF2-40B4-BE49-F238E27FC236}">
                <a16:creationId xmlns:a16="http://schemas.microsoft.com/office/drawing/2014/main" id="{25C11440-75EB-423E-AE09-0C1729EE23BA}"/>
              </a:ext>
            </a:extLst>
          </p:cNvPr>
          <p:cNvSpPr>
            <a:spLocks xmlns:a="http://schemas.openxmlformats.org/drawingml/2006/main" noGrp="1"/>
          </p:cNvSpPr>
          <p:nvPr/>
        </p:nvSpPr>
        <p:spPr>
          <a:xfrm xmlns:a="http://schemas.openxmlformats.org/drawingml/2006/main">
            <a:off x="61912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BDD3C"/>
                </a:solidFill>
                <a:latin typeface="맑은 고딕"/>
                <a:ea typeface="맑은 고딕"/>
                <a:cs typeface="맑은 고딕"/>
              </a:defRPr>
            </a:pPr>
            <a:r>
              <a:rPr sz="2850" b="1">
                <a:solidFill>
                  <a:srgbClr val="BBDD3C"/>
                </a:solidFill>
                <a:latin typeface="맑은 고딕"/>
                <a:ea typeface="맑은 고딕"/>
                <a:cs typeface="맑은 고딕"/>
              </a:rPr>
              <a:t>4</a:t>
            </a:r>
          </a:p>
        </p:txBody>
      </p:sp>
      <p:sp>
        <p:nvSpPr>
          <p:cNvPr id="28" name="">
            <a:extLst xmlns:a="http://schemas.openxmlformats.org/drawingml/2006/main">
              <a:ext uri="{FF2B5EF4-FFF2-40B4-BE49-F238E27FC236}">
                <a16:creationId xmlns:a16="http://schemas.microsoft.com/office/drawing/2014/main" id="{125B8D6F-D97F-4C12-B4FA-A625C2304546}"/>
              </a:ext>
            </a:extLst>
          </p:cNvPr>
          <p:cNvSpPr>
            <a:spLocks xmlns:a="http://schemas.openxmlformats.org/drawingml/2006/main" noGrp="1"/>
          </p:cNvSpPr>
          <p:nvPr/>
        </p:nvSpPr>
        <p:spPr>
          <a:xfrm xmlns:a="http://schemas.openxmlformats.org/drawingml/2006/main">
            <a:off x="61912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자동 테스트 통과</a:t>
            </a:r>
          </a:p>
        </p:txBody>
      </p:sp>
      <p:sp>
        <p:nvSpPr>
          <p:cNvPr id="29" name="">
            <a:extLst xmlns:a="http://schemas.openxmlformats.org/drawingml/2006/main">
              <a:ext uri="{FF2B5EF4-FFF2-40B4-BE49-F238E27FC236}">
                <a16:creationId xmlns:a16="http://schemas.microsoft.com/office/drawing/2014/main" id="{BA74C62A-7983-4BFC-A1E3-7F447C06CAB1}"/>
              </a:ext>
            </a:extLst>
          </p:cNvPr>
          <p:cNvSpPr>
            <a:spLocks xmlns:a="http://schemas.openxmlformats.org/drawingml/2006/main" noGrp="1"/>
          </p:cNvSpPr>
          <p:nvPr/>
        </p:nvSpPr>
        <p:spPr>
          <a:xfrm xmlns:a="http://schemas.openxmlformats.org/drawingml/2006/main">
            <a:off x="9048750" y="46863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6CC8FF"/>
                </a:solidFill>
                <a:latin typeface="맑은 고딕"/>
                <a:ea typeface="맑은 고딕"/>
                <a:cs typeface="맑은 고딕"/>
              </a:defRPr>
            </a:pPr>
            <a:r>
              <a:rPr sz="2850" b="1">
                <a:solidFill>
                  <a:srgbClr val="6CC8FF"/>
                </a:solidFill>
                <a:latin typeface="맑은 고딕"/>
                <a:ea typeface="맑은 고딕"/>
                <a:cs typeface="맑은 고딕"/>
              </a:rPr>
              <a:t>1</a:t>
            </a:r>
          </a:p>
        </p:txBody>
      </p:sp>
      <p:sp>
        <p:nvSpPr>
          <p:cNvPr id="30" name="">
            <a:extLst xmlns:a="http://schemas.openxmlformats.org/drawingml/2006/main">
              <a:ext uri="{FF2B5EF4-FFF2-40B4-BE49-F238E27FC236}">
                <a16:creationId xmlns:a16="http://schemas.microsoft.com/office/drawing/2014/main" id="{9DDCE7A3-9869-413A-A0CB-52281B473AAF}"/>
              </a:ext>
            </a:extLst>
          </p:cNvPr>
          <p:cNvSpPr>
            <a:spLocks xmlns:a="http://schemas.openxmlformats.org/drawingml/2006/main" noGrp="1"/>
          </p:cNvSpPr>
          <p:nvPr/>
        </p:nvSpPr>
        <p:spPr>
          <a:xfrm xmlns:a="http://schemas.openxmlformats.org/drawingml/2006/main">
            <a:off x="9048750" y="521970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통합 처리 흐름</a:t>
            </a:r>
          </a:p>
        </p:txBody>
      </p:sp>
      <p:sp>
        <p:nvSpPr>
          <p:cNvPr id="31" name="">
            <a:extLst xmlns:a="http://schemas.openxmlformats.org/drawingml/2006/main">
              <a:ext uri="{FF2B5EF4-FFF2-40B4-BE49-F238E27FC236}">
                <a16:creationId xmlns:a16="http://schemas.microsoft.com/office/drawing/2014/main" id="{8D52AF0D-3889-4959-9F03-993CC7A97BE5}"/>
              </a:ext>
            </a:extLst>
          </p:cNvPr>
          <p:cNvSpPr>
            <a:spLocks xmlns:a="http://schemas.openxmlformats.org/drawingml/2006/main" noGrp="1"/>
          </p:cNvSpPr>
          <p:nvPr/>
        </p:nvSpPr>
        <p:spPr>
          <a:xfrm xmlns:a="http://schemas.openxmlformats.org/drawingml/2006/main">
            <a:off x="628650" y="61531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5A5AF"/>
                </a:solidFill>
                <a:latin typeface="맑은 고딕"/>
                <a:ea typeface="맑은 고딕"/>
                <a:cs typeface="맑은 고딕"/>
              </a:defRPr>
            </a:pPr>
            <a:r>
              <a:rPr sz="900" b="0">
                <a:solidFill>
                  <a:srgbClr val="95A5AF"/>
                </a:solidFill>
                <a:latin typeface="맑은 고딕"/>
                <a:ea typeface="맑은 고딕"/>
                <a:cs typeface="맑은 고딕"/>
              </a:rPr>
              <a:t>개발 근거  ·  실제 저장소, 작업일지, localhost 구동 화면 기준</a:t>
            </a:r>
          </a:p>
        </p:txBody>
      </p:sp>
    </p:spTree>
    <p:extLst>
      <p:ext uri="{BB962C8B-B14F-4D97-AF65-F5344CB8AC3E}">
        <p14:creationId xmlns:p14="http://schemas.microsoft.com/office/powerpoint/2010/main" val="113434518"/>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B10113-D3A1-41F0-B1D7-32A1E0A689A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289FA3-7CEC-4D82-BFA5-C70A9BBAFF0B}"/>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014E9586-DEFD-4224-8F7D-37035317ECAA}"/>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ad7e0d715ce4119"/>
          <a:srcRect xmlns:a="http://schemas.openxmlformats.org/drawingml/2006/main" l="24038" t="0" r="24038" b="0"/>
          <a:stretch xmlns:a="http://schemas.openxmlformats.org/drawingml/2006/main">
            <a:fillRect l="0" t="0" r="0" b="0"/>
          </a:stretch>
        </p:blipFill>
        <p:spPr>
          <a:xfrm xmlns:a="http://schemas.openxmlformats.org/drawingml/2006/main">
            <a:off x="6572250" y="819150"/>
            <a:ext cx="4991100" cy="5410200"/>
          </a:xfrm>
          <a:prstGeom xmlns:a="http://schemas.openxmlformats.org/drawingml/2006/main" prst="roundRect">
            <a:avLst>
              <a:gd name="adj" fmla="val 3053"/>
            </a:avLst>
          </a:prstGeom>
        </p:spPr>
      </p:pic>
      <p:sp>
        <p:nvSpPr>
          <p:cNvPr id="5" name="">
            <a:extLst xmlns:a="http://schemas.openxmlformats.org/drawingml/2006/main">
              <a:ext uri="{FF2B5EF4-FFF2-40B4-BE49-F238E27FC236}">
                <a16:creationId xmlns:a16="http://schemas.microsoft.com/office/drawing/2014/main" id="{4149C5F0-3480-4EC0-845F-C0FC77302C75}"/>
              </a:ext>
            </a:extLst>
          </p:cNvPr>
          <p:cNvSpPr>
            <a:spLocks xmlns:a="http://schemas.openxmlformats.org/drawingml/2006/main" noGrp="1"/>
          </p:cNvSpPr>
          <p:nvPr/>
        </p:nvSpPr>
        <p:spPr>
          <a:xfrm xmlns:a="http://schemas.openxmlformats.org/drawingml/2006/main">
            <a:off x="628650" y="7239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WHY THIS PROJECT</a:t>
            </a:r>
          </a:p>
        </p:txBody>
      </p:sp>
      <p:sp>
        <p:nvSpPr>
          <p:cNvPr id="6" name="">
            <a:extLst xmlns:a="http://schemas.openxmlformats.org/drawingml/2006/main">
              <a:ext uri="{FF2B5EF4-FFF2-40B4-BE49-F238E27FC236}">
                <a16:creationId xmlns:a16="http://schemas.microsoft.com/office/drawing/2014/main" id="{BD5B7A99-D7AC-4948-91CB-07D0C1A5E93F}"/>
              </a:ext>
            </a:extLst>
          </p:cNvPr>
          <p:cNvSpPr>
            <a:spLocks xmlns:a="http://schemas.openxmlformats.org/drawingml/2006/main" noGrp="1"/>
          </p:cNvSpPr>
          <p:nvPr/>
        </p:nvSpPr>
        <p:spPr>
          <a:xfrm xmlns:a="http://schemas.openxmlformats.org/drawingml/2006/main">
            <a:off x="628650" y="1104900"/>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맑은 고딕"/>
                <a:ea typeface="맑은 고딕"/>
                <a:cs typeface="맑은 고딕"/>
              </a:defRPr>
            </a:pPr>
            <a:r>
              <a:rPr sz="2625" b="1">
                <a:solidFill>
                  <a:srgbClr val="FFFFFF"/>
                </a:solidFill>
                <a:latin typeface="맑은 고딕"/>
                <a:ea typeface="맑은 고딕"/>
                <a:cs typeface="맑은 고딕"/>
              </a:rPr>
              <a:t>운영 정보가 흩어지면</a:t>
            </a:r>
          </a:p>
          <a:p xmlns:a="http://schemas.openxmlformats.org/drawingml/2006/main">
            <a:pPr>
              <a:defRPr sz="2625" b="1">
                <a:solidFill>
                  <a:srgbClr val="FFFFFF"/>
                </a:solidFill>
                <a:latin typeface="맑은 고딕"/>
                <a:ea typeface="맑은 고딕"/>
                <a:cs typeface="맑은 고딕"/>
              </a:defRPr>
            </a:pPr>
            <a:r>
              <a:rPr sz="2625" b="1">
                <a:solidFill>
                  <a:srgbClr val="FFFFFF"/>
                </a:solidFill>
                <a:latin typeface="맑은 고딕"/>
                <a:ea typeface="맑은 고딕"/>
                <a:cs typeface="맑은 고딕"/>
              </a:rPr>
              <a:t>일정과 책임도 함께 흐려집니다</a:t>
            </a:r>
          </a:p>
        </p:txBody>
      </p:sp>
      <p:sp>
        <p:nvSpPr>
          <p:cNvPr id="7" name="">
            <a:extLst xmlns:a="http://schemas.openxmlformats.org/drawingml/2006/main">
              <a:ext uri="{FF2B5EF4-FFF2-40B4-BE49-F238E27FC236}">
                <a16:creationId xmlns:a16="http://schemas.microsoft.com/office/drawing/2014/main" id="{A0C5B87D-7FC6-417F-A29D-40DCC74B884E}"/>
              </a:ext>
            </a:extLst>
          </p:cNvPr>
          <p:cNvSpPr>
            <a:spLocks xmlns:a="http://schemas.openxmlformats.org/drawingml/2006/main" noGrp="1"/>
          </p:cNvSpPr>
          <p:nvPr/>
        </p:nvSpPr>
        <p:spPr>
          <a:xfrm xmlns:a="http://schemas.openxmlformats.org/drawingml/2006/main">
            <a:off x="628650" y="26479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01</a:t>
            </a:r>
          </a:p>
        </p:txBody>
      </p:sp>
      <p:sp>
        <p:nvSpPr>
          <p:cNvPr id="8" name="">
            <a:extLst xmlns:a="http://schemas.openxmlformats.org/drawingml/2006/main">
              <a:ext uri="{FF2B5EF4-FFF2-40B4-BE49-F238E27FC236}">
                <a16:creationId xmlns:a16="http://schemas.microsoft.com/office/drawing/2014/main" id="{603DB1A7-84F9-42A8-A8A8-3F5A350C6AE7}"/>
              </a:ext>
            </a:extLst>
          </p:cNvPr>
          <p:cNvSpPr>
            <a:spLocks xmlns:a="http://schemas.openxmlformats.org/drawingml/2006/main" noGrp="1"/>
          </p:cNvSpPr>
          <p:nvPr/>
        </p:nvSpPr>
        <p:spPr>
          <a:xfrm xmlns:a="http://schemas.openxmlformats.org/drawingml/2006/main">
            <a:off x="1200150" y="2628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접수 이력</a:t>
            </a:r>
          </a:p>
        </p:txBody>
      </p:sp>
      <p:sp>
        <p:nvSpPr>
          <p:cNvPr id="9" name="">
            <a:extLst xmlns:a="http://schemas.openxmlformats.org/drawingml/2006/main">
              <a:ext uri="{FF2B5EF4-FFF2-40B4-BE49-F238E27FC236}">
                <a16:creationId xmlns:a16="http://schemas.microsoft.com/office/drawing/2014/main" id="{19D66491-E874-4049-8573-EC63F879EA23}"/>
              </a:ext>
            </a:extLst>
          </p:cNvPr>
          <p:cNvSpPr>
            <a:spLocks xmlns:a="http://schemas.openxmlformats.org/drawingml/2006/main" noGrp="1"/>
          </p:cNvSpPr>
          <p:nvPr/>
        </p:nvSpPr>
        <p:spPr>
          <a:xfrm xmlns:a="http://schemas.openxmlformats.org/drawingml/2006/main">
            <a:off x="1200150" y="29718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전화와 메모에 남은 요청은 검색과 상태 추적이 어렵습니다.</a:t>
            </a:r>
          </a:p>
        </p:txBody>
      </p:sp>
      <p:sp>
        <p:nvSpPr>
          <p:cNvPr id="10" name="">
            <a:extLst xmlns:a="http://schemas.openxmlformats.org/drawingml/2006/main">
              <a:ext uri="{FF2B5EF4-FFF2-40B4-BE49-F238E27FC236}">
                <a16:creationId xmlns:a16="http://schemas.microsoft.com/office/drawing/2014/main" id="{C422E828-63C7-4F85-8B4A-1FD73A104D9A}"/>
              </a:ext>
            </a:extLst>
          </p:cNvPr>
          <p:cNvSpPr>
            <a:spLocks xmlns:a="http://schemas.openxmlformats.org/drawingml/2006/main" noGrp="1"/>
          </p:cNvSpPr>
          <p:nvPr/>
        </p:nvSpPr>
        <p:spPr>
          <a:xfrm xmlns:a="http://schemas.openxmlformats.org/drawingml/2006/main">
            <a:off x="628650" y="3714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02</a:t>
            </a:r>
          </a:p>
        </p:txBody>
      </p:sp>
      <p:sp>
        <p:nvSpPr>
          <p:cNvPr id="11" name="">
            <a:extLst xmlns:a="http://schemas.openxmlformats.org/drawingml/2006/main">
              <a:ext uri="{FF2B5EF4-FFF2-40B4-BE49-F238E27FC236}">
                <a16:creationId xmlns:a16="http://schemas.microsoft.com/office/drawing/2014/main" id="{BB95829B-5D69-48FC-8DCF-1264FF7BC6BE}"/>
              </a:ext>
            </a:extLst>
          </p:cNvPr>
          <p:cNvSpPr>
            <a:spLocks xmlns:a="http://schemas.openxmlformats.org/drawingml/2006/main" noGrp="1"/>
          </p:cNvSpPr>
          <p:nvPr/>
        </p:nvSpPr>
        <p:spPr>
          <a:xfrm xmlns:a="http://schemas.openxmlformats.org/drawingml/2006/main">
            <a:off x="1200150" y="36957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배정 현황</a:t>
            </a:r>
          </a:p>
        </p:txBody>
      </p:sp>
      <p:sp>
        <p:nvSpPr>
          <p:cNvPr id="12" name="">
            <a:extLst xmlns:a="http://schemas.openxmlformats.org/drawingml/2006/main">
              <a:ext uri="{FF2B5EF4-FFF2-40B4-BE49-F238E27FC236}">
                <a16:creationId xmlns:a16="http://schemas.microsoft.com/office/drawing/2014/main" id="{D133468B-FE92-454C-9D0F-2D1CDD8058E3}"/>
              </a:ext>
            </a:extLst>
          </p:cNvPr>
          <p:cNvSpPr>
            <a:spLocks xmlns:a="http://schemas.openxmlformats.org/drawingml/2006/main" noGrp="1"/>
          </p:cNvSpPr>
          <p:nvPr/>
        </p:nvSpPr>
        <p:spPr>
          <a:xfrm xmlns:a="http://schemas.openxmlformats.org/drawingml/2006/main">
            <a:off x="1200150" y="40386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관리자는 기사별 일정과 미배정 요청을 함께 보기 어렵습니다.</a:t>
            </a:r>
          </a:p>
        </p:txBody>
      </p:sp>
      <p:sp>
        <p:nvSpPr>
          <p:cNvPr id="13" name="">
            <a:extLst xmlns:a="http://schemas.openxmlformats.org/drawingml/2006/main">
              <a:ext uri="{FF2B5EF4-FFF2-40B4-BE49-F238E27FC236}">
                <a16:creationId xmlns:a16="http://schemas.microsoft.com/office/drawing/2014/main" id="{1794F1D4-596A-4E97-B9F8-44434B276EFD}"/>
              </a:ext>
            </a:extLst>
          </p:cNvPr>
          <p:cNvSpPr>
            <a:spLocks xmlns:a="http://schemas.openxmlformats.org/drawingml/2006/main" noGrp="1"/>
          </p:cNvSpPr>
          <p:nvPr/>
        </p:nvSpPr>
        <p:spPr>
          <a:xfrm xmlns:a="http://schemas.openxmlformats.org/drawingml/2006/main">
            <a:off x="628650" y="47815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03</a:t>
            </a:r>
          </a:p>
        </p:txBody>
      </p:sp>
      <p:sp>
        <p:nvSpPr>
          <p:cNvPr id="14" name="">
            <a:extLst xmlns:a="http://schemas.openxmlformats.org/drawingml/2006/main">
              <a:ext uri="{FF2B5EF4-FFF2-40B4-BE49-F238E27FC236}">
                <a16:creationId xmlns:a16="http://schemas.microsoft.com/office/drawing/2014/main" id="{29A9BDF1-FE87-40F8-BBCA-2DC5996D7380}"/>
              </a:ext>
            </a:extLst>
          </p:cNvPr>
          <p:cNvSpPr>
            <a:spLocks xmlns:a="http://schemas.openxmlformats.org/drawingml/2006/main" noGrp="1"/>
          </p:cNvSpPr>
          <p:nvPr/>
        </p:nvSpPr>
        <p:spPr>
          <a:xfrm xmlns:a="http://schemas.openxmlformats.org/drawingml/2006/main">
            <a:off x="1200150" y="4762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고객 피드백</a:t>
            </a:r>
          </a:p>
        </p:txBody>
      </p:sp>
      <p:sp>
        <p:nvSpPr>
          <p:cNvPr id="15" name="">
            <a:extLst xmlns:a="http://schemas.openxmlformats.org/drawingml/2006/main">
              <a:ext uri="{FF2B5EF4-FFF2-40B4-BE49-F238E27FC236}">
                <a16:creationId xmlns:a16="http://schemas.microsoft.com/office/drawing/2014/main" id="{458ACB0B-B854-465E-B1D6-AB28022E5DB1}"/>
              </a:ext>
            </a:extLst>
          </p:cNvPr>
          <p:cNvSpPr>
            <a:spLocks xmlns:a="http://schemas.openxmlformats.org/drawingml/2006/main" noGrp="1"/>
          </p:cNvSpPr>
          <p:nvPr/>
        </p:nvSpPr>
        <p:spPr>
          <a:xfrm xmlns:a="http://schemas.openxmlformats.org/drawingml/2006/main">
            <a:off x="1200150" y="5105400"/>
            <a:ext cx="451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FC0CA"/>
                </a:solidFill>
                <a:latin typeface="맑은 고딕"/>
                <a:ea typeface="맑은 고딕"/>
                <a:cs typeface="맑은 고딕"/>
              </a:defRPr>
            </a:pPr>
            <a:r>
              <a:rPr sz="1125" b="0">
                <a:solidFill>
                  <a:srgbClr val="AFC0CA"/>
                </a:solidFill>
                <a:latin typeface="맑은 고딕"/>
                <a:ea typeface="맑은 고딕"/>
                <a:cs typeface="맑은 고딕"/>
              </a:rPr>
              <a:t>처리 후 평가는 별도 채널에 남아 운영 지표로 축적되지 않습니다.</a:t>
            </a:r>
          </a:p>
        </p:txBody>
      </p:sp>
    </p:spTree>
    <p:extLst>
      <p:ext uri="{BB962C8B-B14F-4D97-AF65-F5344CB8AC3E}">
        <p14:creationId xmlns:p14="http://schemas.microsoft.com/office/powerpoint/2010/main" val="1098013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A8FE0B9-4FB8-445F-B69E-1B09BB9674B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1A2DE6-22AF-493C-973E-22422D1A0955}"/>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C29C32ED-1CC4-4EE7-977C-C3D1F239E93A}"/>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04</a:t>
            </a:r>
          </a:p>
        </p:txBody>
      </p:sp>
      <p:sp>
        <p:nvSpPr>
          <p:cNvPr id="4" name="">
            <a:extLst xmlns:a="http://schemas.openxmlformats.org/drawingml/2006/main">
              <a:ext uri="{FF2B5EF4-FFF2-40B4-BE49-F238E27FC236}">
                <a16:creationId xmlns:a16="http://schemas.microsoft.com/office/drawing/2014/main" id="{097C103E-BDB2-4403-A9E6-9CBF1B0793D3}"/>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SERVICE MODEL</a:t>
            </a:r>
          </a:p>
        </p:txBody>
      </p:sp>
      <p:sp>
        <p:nvSpPr>
          <p:cNvPr id="5" name="">
            <a:extLst xmlns:a="http://schemas.openxmlformats.org/drawingml/2006/main">
              <a:ext uri="{FF2B5EF4-FFF2-40B4-BE49-F238E27FC236}">
                <a16:creationId xmlns:a16="http://schemas.microsoft.com/office/drawing/2014/main" id="{86B0FE64-48AC-4771-95F9-82FB4E5274F2}"/>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역할은 분리하고 업무 상태는 공유</a:t>
            </a:r>
          </a:p>
        </p:txBody>
      </p:sp>
      <p:sp>
        <p:nvSpPr>
          <p:cNvPr id="6" name="">
            <a:extLst xmlns:a="http://schemas.openxmlformats.org/drawingml/2006/main">
              <a:ext uri="{FF2B5EF4-FFF2-40B4-BE49-F238E27FC236}">
                <a16:creationId xmlns:a16="http://schemas.microsoft.com/office/drawing/2014/main" id="{FF7D9F52-BE1E-458D-8D81-7056DCFB8220}"/>
              </a:ext>
            </a:extLst>
          </p:cNvPr>
          <p:cNvSpPr>
            <a:spLocks xmlns:a="http://schemas.openxmlformats.org/drawingml/2006/main" noGrp="1"/>
          </p:cNvSpPr>
          <p:nvPr/>
        </p:nvSpPr>
        <p:spPr>
          <a:xfrm xmlns:a="http://schemas.openxmlformats.org/drawingml/2006/main">
            <a:off x="628650" y="1581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18295"/>
                </a:solidFill>
                <a:latin typeface="맑은 고딕"/>
                <a:ea typeface="맑은 고딕"/>
                <a:cs typeface="맑은 고딕"/>
              </a:defRPr>
            </a:pPr>
            <a:r>
              <a:rPr sz="1425" b="0">
                <a:solidFill>
                  <a:srgbClr val="718295"/>
                </a:solidFill>
                <a:latin typeface="맑은 고딕"/>
                <a:ea typeface="맑은 고딕"/>
                <a:cs typeface="맑은 고딕"/>
              </a:rPr>
              <a:t>각 사용자는 필요한 화면만 보지만 REQUEST와 AS_SCHEDULE을 중심으로 같은 진행 상태를 사용합니다.</a:t>
            </a:r>
          </a:p>
        </p:txBody>
      </p:sp>
      <p:sp>
        <p:nvSpPr>
          <p:cNvPr id="7" name="">
            <a:extLst xmlns:a="http://schemas.openxmlformats.org/drawingml/2006/main">
              <a:ext uri="{FF2B5EF4-FFF2-40B4-BE49-F238E27FC236}">
                <a16:creationId xmlns:a16="http://schemas.microsoft.com/office/drawing/2014/main" id="{687DF949-245C-4A9C-9172-D6C7DDAEF466}"/>
              </a:ext>
            </a:extLst>
          </p:cNvPr>
          <p:cNvSpPr>
            <a:spLocks xmlns:a="http://schemas.openxmlformats.org/drawingml/2006/main" noGrp="1"/>
          </p:cNvSpPr>
          <p:nvPr/>
        </p:nvSpPr>
        <p:spPr>
          <a:xfrm xmlns:a="http://schemas.openxmlformats.org/drawingml/2006/main">
            <a:off x="62865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6CC8FF"/>
                </a:solidFill>
                <a:latin typeface="맑은 고딕"/>
                <a:ea typeface="맑은 고딕"/>
                <a:cs typeface="맑은 고딕"/>
              </a:defRPr>
            </a:pPr>
            <a:r>
              <a:rPr sz="825" b="1">
                <a:solidFill>
                  <a:srgbClr val="6CC8FF"/>
                </a:solidFill>
                <a:latin typeface="맑은 고딕"/>
                <a:ea typeface="맑은 고딕"/>
                <a:cs typeface="맑은 고딕"/>
              </a:rPr>
              <a:t>CUSTOMER</a:t>
            </a:r>
          </a:p>
        </p:txBody>
      </p:sp>
      <p:sp>
        <p:nvSpPr>
          <p:cNvPr id="8" name="">
            <a:extLst xmlns:a="http://schemas.openxmlformats.org/drawingml/2006/main">
              <a:ext uri="{FF2B5EF4-FFF2-40B4-BE49-F238E27FC236}">
                <a16:creationId xmlns:a16="http://schemas.microsoft.com/office/drawing/2014/main" id="{C17F25EB-DF5D-4184-82EC-2CAE1B2E8159}"/>
              </a:ext>
            </a:extLst>
          </p:cNvPr>
          <p:cNvSpPr>
            <a:spLocks xmlns:a="http://schemas.openxmlformats.org/drawingml/2006/main" noGrp="1"/>
          </p:cNvSpPr>
          <p:nvPr/>
        </p:nvSpPr>
        <p:spPr>
          <a:xfrm xmlns:a="http://schemas.openxmlformats.org/drawingml/2006/main">
            <a:off x="62865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고객</a:t>
            </a:r>
          </a:p>
        </p:txBody>
      </p:sp>
      <p:sp>
        <p:nvSpPr>
          <p:cNvPr id="9" name="">
            <a:extLst xmlns:a="http://schemas.openxmlformats.org/drawingml/2006/main">
              <a:ext uri="{FF2B5EF4-FFF2-40B4-BE49-F238E27FC236}">
                <a16:creationId xmlns:a16="http://schemas.microsoft.com/office/drawing/2014/main" id="{9E4E7023-3B8B-4F0B-BD48-9E7A1A16334F}"/>
              </a:ext>
            </a:extLst>
          </p:cNvPr>
          <p:cNvSpPr>
            <a:spLocks xmlns:a="http://schemas.openxmlformats.org/drawingml/2006/main" noGrp="1"/>
          </p:cNvSpPr>
          <p:nvPr/>
        </p:nvSpPr>
        <p:spPr>
          <a:xfrm xmlns:a="http://schemas.openxmlformats.org/drawingml/2006/main">
            <a:off x="628650" y="3352800"/>
            <a:ext cx="2857500" cy="19050"/>
          </a:xfrm>
          <a:prstGeom xmlns:a="http://schemas.openxmlformats.org/drawingml/2006/main" prst="rect">
            <a:avLst/>
          </a:prstGeom>
          <a:solidFill xmlns:a="http://schemas.openxmlformats.org/drawingml/2006/main">
            <a:srgbClr val="6CC8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DEAD5B-516E-4732-8F83-0242E5287C0A}"/>
              </a:ext>
            </a:extLst>
          </p:cNvPr>
          <p:cNvSpPr>
            <a:spLocks xmlns:a="http://schemas.openxmlformats.org/drawingml/2006/main" noGrp="1"/>
          </p:cNvSpPr>
          <p:nvPr/>
        </p:nvSpPr>
        <p:spPr>
          <a:xfrm xmlns:a="http://schemas.openxmlformats.org/drawingml/2006/main">
            <a:off x="62865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신청</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내역 확인</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만족도 응답</a:t>
            </a:r>
          </a:p>
        </p:txBody>
      </p:sp>
      <p:sp>
        <p:nvSpPr>
          <p:cNvPr id="11" name="">
            <a:extLst xmlns:a="http://schemas.openxmlformats.org/drawingml/2006/main">
              <a:ext uri="{FF2B5EF4-FFF2-40B4-BE49-F238E27FC236}">
                <a16:creationId xmlns:a16="http://schemas.microsoft.com/office/drawing/2014/main" id="{55CECB89-7416-4852-BAD5-56E92E97468A}"/>
              </a:ext>
            </a:extLst>
          </p:cNvPr>
          <p:cNvSpPr>
            <a:spLocks xmlns:a="http://schemas.openxmlformats.org/drawingml/2006/main" noGrp="1"/>
          </p:cNvSpPr>
          <p:nvPr/>
        </p:nvSpPr>
        <p:spPr>
          <a:xfrm xmlns:a="http://schemas.openxmlformats.org/drawingml/2006/main">
            <a:off x="430530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FF6B4A"/>
                </a:solidFill>
                <a:latin typeface="맑은 고딕"/>
                <a:ea typeface="맑은 고딕"/>
                <a:cs typeface="맑은 고딕"/>
              </a:defRPr>
            </a:pPr>
            <a:r>
              <a:rPr sz="825" b="1">
                <a:solidFill>
                  <a:srgbClr val="FF6B4A"/>
                </a:solidFill>
                <a:latin typeface="맑은 고딕"/>
                <a:ea typeface="맑은 고딕"/>
                <a:cs typeface="맑은 고딕"/>
              </a:rPr>
              <a:t>ADMIN</a:t>
            </a:r>
          </a:p>
        </p:txBody>
      </p:sp>
      <p:sp>
        <p:nvSpPr>
          <p:cNvPr id="12" name="">
            <a:extLst xmlns:a="http://schemas.openxmlformats.org/drawingml/2006/main">
              <a:ext uri="{FF2B5EF4-FFF2-40B4-BE49-F238E27FC236}">
                <a16:creationId xmlns:a16="http://schemas.microsoft.com/office/drawing/2014/main" id="{EB4498B4-8530-4C03-A3C8-773F8F7B7DA8}"/>
              </a:ext>
            </a:extLst>
          </p:cNvPr>
          <p:cNvSpPr>
            <a:spLocks xmlns:a="http://schemas.openxmlformats.org/drawingml/2006/main" noGrp="1"/>
          </p:cNvSpPr>
          <p:nvPr/>
        </p:nvSpPr>
        <p:spPr>
          <a:xfrm xmlns:a="http://schemas.openxmlformats.org/drawingml/2006/main">
            <a:off x="430530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관리자</a:t>
            </a:r>
          </a:p>
        </p:txBody>
      </p:sp>
      <p:sp>
        <p:nvSpPr>
          <p:cNvPr id="13" name="">
            <a:extLst xmlns:a="http://schemas.openxmlformats.org/drawingml/2006/main">
              <a:ext uri="{FF2B5EF4-FFF2-40B4-BE49-F238E27FC236}">
                <a16:creationId xmlns:a16="http://schemas.microsoft.com/office/drawing/2014/main" id="{7FAEA186-D8B1-4663-844F-72C1D556D735}"/>
              </a:ext>
            </a:extLst>
          </p:cNvPr>
          <p:cNvSpPr>
            <a:spLocks xmlns:a="http://schemas.openxmlformats.org/drawingml/2006/main" noGrp="1"/>
          </p:cNvSpPr>
          <p:nvPr/>
        </p:nvSpPr>
        <p:spPr>
          <a:xfrm xmlns:a="http://schemas.openxmlformats.org/drawingml/2006/main">
            <a:off x="4305300" y="3352800"/>
            <a:ext cx="2857500" cy="19050"/>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13E943-9618-4579-B952-7EC222BE4E9C}"/>
              </a:ext>
            </a:extLst>
          </p:cNvPr>
          <p:cNvSpPr>
            <a:spLocks xmlns:a="http://schemas.openxmlformats.org/drawingml/2006/main" noGrp="1"/>
          </p:cNvSpPr>
          <p:nvPr/>
        </p:nvSpPr>
        <p:spPr>
          <a:xfrm xmlns:a="http://schemas.openxmlformats.org/drawingml/2006/main">
            <a:off x="430530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접수 현황</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기사 관리</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일정 배정</a:t>
            </a:r>
          </a:p>
        </p:txBody>
      </p:sp>
      <p:sp>
        <p:nvSpPr>
          <p:cNvPr id="15" name="">
            <a:extLst xmlns:a="http://schemas.openxmlformats.org/drawingml/2006/main">
              <a:ext uri="{FF2B5EF4-FFF2-40B4-BE49-F238E27FC236}">
                <a16:creationId xmlns:a16="http://schemas.microsoft.com/office/drawing/2014/main" id="{8C3C4645-5C0B-4529-9AE2-B18219CBCA8F}"/>
              </a:ext>
            </a:extLst>
          </p:cNvPr>
          <p:cNvSpPr>
            <a:spLocks xmlns:a="http://schemas.openxmlformats.org/drawingml/2006/main" noGrp="1"/>
          </p:cNvSpPr>
          <p:nvPr/>
        </p:nvSpPr>
        <p:spPr>
          <a:xfrm xmlns:a="http://schemas.openxmlformats.org/drawingml/2006/main">
            <a:off x="7981950" y="2438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0AFA8"/>
                </a:solidFill>
                <a:latin typeface="맑은 고딕"/>
                <a:ea typeface="맑은 고딕"/>
                <a:cs typeface="맑은 고딕"/>
              </a:defRPr>
            </a:pPr>
            <a:r>
              <a:rPr sz="825" b="1">
                <a:solidFill>
                  <a:srgbClr val="00AFA8"/>
                </a:solidFill>
                <a:latin typeface="맑은 고딕"/>
                <a:ea typeface="맑은 고딕"/>
                <a:cs typeface="맑은 고딕"/>
              </a:rPr>
              <a:t>ENGINEER</a:t>
            </a:r>
          </a:p>
        </p:txBody>
      </p:sp>
      <p:sp>
        <p:nvSpPr>
          <p:cNvPr id="16" name="">
            <a:extLst xmlns:a="http://schemas.openxmlformats.org/drawingml/2006/main">
              <a:ext uri="{FF2B5EF4-FFF2-40B4-BE49-F238E27FC236}">
                <a16:creationId xmlns:a16="http://schemas.microsoft.com/office/drawing/2014/main" id="{C2D6BE07-6B9C-4903-ACC5-AD1004E9FB62}"/>
              </a:ext>
            </a:extLst>
          </p:cNvPr>
          <p:cNvSpPr>
            <a:spLocks xmlns:a="http://schemas.openxmlformats.org/drawingml/2006/main" noGrp="1"/>
          </p:cNvSpPr>
          <p:nvPr/>
        </p:nvSpPr>
        <p:spPr>
          <a:xfrm xmlns:a="http://schemas.openxmlformats.org/drawingml/2006/main">
            <a:off x="7981950" y="27813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131F"/>
                </a:solidFill>
                <a:latin typeface="맑은 고딕"/>
                <a:ea typeface="맑은 고딕"/>
                <a:cs typeface="맑은 고딕"/>
              </a:defRPr>
            </a:pPr>
            <a:r>
              <a:rPr sz="2250" b="1">
                <a:solidFill>
                  <a:srgbClr val="07131F"/>
                </a:solidFill>
                <a:latin typeface="맑은 고딕"/>
                <a:ea typeface="맑은 고딕"/>
                <a:cs typeface="맑은 고딕"/>
              </a:rPr>
              <a:t>기사</a:t>
            </a:r>
          </a:p>
        </p:txBody>
      </p:sp>
      <p:sp>
        <p:nvSpPr>
          <p:cNvPr id="17" name="">
            <a:extLst xmlns:a="http://schemas.openxmlformats.org/drawingml/2006/main">
              <a:ext uri="{FF2B5EF4-FFF2-40B4-BE49-F238E27FC236}">
                <a16:creationId xmlns:a16="http://schemas.microsoft.com/office/drawing/2014/main" id="{A83C6F6D-9933-4119-88FF-C52B1921DA50}"/>
              </a:ext>
            </a:extLst>
          </p:cNvPr>
          <p:cNvSpPr>
            <a:spLocks xmlns:a="http://schemas.openxmlformats.org/drawingml/2006/main" noGrp="1"/>
          </p:cNvSpPr>
          <p:nvPr/>
        </p:nvSpPr>
        <p:spPr>
          <a:xfrm xmlns:a="http://schemas.openxmlformats.org/drawingml/2006/main">
            <a:off x="7981950" y="3352800"/>
            <a:ext cx="2857500" cy="19050"/>
          </a:xfrm>
          <a:prstGeom xmlns:a="http://schemas.openxmlformats.org/drawingml/2006/main" prst="rect">
            <a:avLst/>
          </a:prstGeom>
          <a:solidFill xmlns:a="http://schemas.openxmlformats.org/drawingml/2006/main">
            <a:srgbClr val="00AF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60AD66-E2D2-4A48-816B-F262BF2705B4}"/>
              </a:ext>
            </a:extLst>
          </p:cNvPr>
          <p:cNvSpPr>
            <a:spLocks xmlns:a="http://schemas.openxmlformats.org/drawingml/2006/main" noGrp="1"/>
          </p:cNvSpPr>
          <p:nvPr/>
        </p:nvSpPr>
        <p:spPr>
          <a:xfrm xmlns:a="http://schemas.openxmlformats.org/drawingml/2006/main">
            <a:off x="7981950" y="358140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오늘 일정</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현장 처리</a:t>
            </a:r>
          </a:p>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결과보고</a:t>
            </a:r>
          </a:p>
        </p:txBody>
      </p:sp>
      <p:sp>
        <p:nvSpPr>
          <p:cNvPr id="19" name="">
            <a:extLst xmlns:a="http://schemas.openxmlformats.org/drawingml/2006/main">
              <a:ext uri="{FF2B5EF4-FFF2-40B4-BE49-F238E27FC236}">
                <a16:creationId xmlns:a16="http://schemas.microsoft.com/office/drawing/2014/main" id="{5C86C403-219B-4C09-A00D-3C677FA5A022}"/>
              </a:ext>
            </a:extLst>
          </p:cNvPr>
          <p:cNvSpPr>
            <a:spLocks xmlns:a="http://schemas.openxmlformats.org/drawingml/2006/main" noGrp="1"/>
          </p:cNvSpPr>
          <p:nvPr/>
        </p:nvSpPr>
        <p:spPr>
          <a:xfrm xmlns:a="http://schemas.openxmlformats.org/drawingml/2006/main">
            <a:off x="628650" y="5238750"/>
            <a:ext cx="10934700" cy="666750"/>
          </a:xfrm>
          <a:prstGeom xmlns:a="http://schemas.openxmlformats.org/drawingml/2006/main" prst="roundRect">
            <a:avLst>
              <a:gd name="adj" fmla="val 11429"/>
            </a:avLst>
          </a:prstGeom>
          <a:solidFill xmlns:a="http://schemas.openxmlformats.org/drawingml/2006/main">
            <a:srgbClr val="07131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FA454C-2232-4760-A4BE-D533153B4DA2}"/>
              </a:ext>
            </a:extLst>
          </p:cNvPr>
          <p:cNvSpPr>
            <a:spLocks xmlns:a="http://schemas.openxmlformats.org/drawingml/2006/main" noGrp="1"/>
          </p:cNvSpPr>
          <p:nvPr/>
        </p:nvSpPr>
        <p:spPr>
          <a:xfrm xmlns:a="http://schemas.openxmlformats.org/drawingml/2006/main">
            <a:off x="876300" y="5429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공통 데이터</a:t>
            </a:r>
          </a:p>
        </p:txBody>
      </p:sp>
      <p:sp>
        <p:nvSpPr>
          <p:cNvPr id="21" name="">
            <a:extLst xmlns:a="http://schemas.openxmlformats.org/drawingml/2006/main">
              <a:ext uri="{FF2B5EF4-FFF2-40B4-BE49-F238E27FC236}">
                <a16:creationId xmlns:a16="http://schemas.microsoft.com/office/drawing/2014/main" id="{C25DBF2D-E40A-4D37-A9E1-7DE2A6AAA100}"/>
              </a:ext>
            </a:extLst>
          </p:cNvPr>
          <p:cNvSpPr>
            <a:spLocks xmlns:a="http://schemas.openxmlformats.org/drawingml/2006/main" noGrp="1"/>
          </p:cNvSpPr>
          <p:nvPr/>
        </p:nvSpPr>
        <p:spPr>
          <a:xfrm xmlns:a="http://schemas.openxmlformats.org/drawingml/2006/main">
            <a:off x="2457450" y="5391150"/>
            <a:ext cx="742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접수 상태 · 기사 일정 · 처리 결과 · 만족도</a:t>
            </a:r>
          </a:p>
        </p:txBody>
      </p:sp>
      <p:sp>
        <p:nvSpPr>
          <p:cNvPr id="22" name="">
            <a:extLst xmlns:a="http://schemas.openxmlformats.org/drawingml/2006/main">
              <a:ext uri="{FF2B5EF4-FFF2-40B4-BE49-F238E27FC236}">
                <a16:creationId xmlns:a16="http://schemas.microsoft.com/office/drawing/2014/main" id="{34D64048-5218-4D30-B456-30275EF00F3C}"/>
              </a:ext>
            </a:extLst>
          </p:cNvPr>
          <p:cNvSpPr>
            <a:spLocks xmlns:a="http://schemas.openxmlformats.org/drawingml/2006/main" noGrp="1"/>
          </p:cNvSpPr>
          <p:nvPr/>
        </p:nvSpPr>
        <p:spPr>
          <a:xfrm xmlns:a="http://schemas.openxmlformats.org/drawingml/2006/main">
            <a:off x="8058150" y="57721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1A5B2"/>
                </a:solidFill>
                <a:latin typeface="맑은 고딕"/>
                <a:ea typeface="맑은 고딕"/>
                <a:cs typeface="맑은 고딕"/>
              </a:defRPr>
            </a:pPr>
            <a:r>
              <a:rPr sz="900" b="0">
                <a:solidFill>
                  <a:srgbClr val="91A5B2"/>
                </a:solidFill>
                <a:latin typeface="맑은 고딕"/>
                <a:ea typeface="맑은 고딕"/>
                <a:cs typeface="맑은 고딕"/>
              </a:rPr>
              <a:t>한 번 입력한 정보가 다음 업무 단계로 이어집니다</a:t>
            </a:r>
          </a:p>
        </p:txBody>
      </p:sp>
    </p:spTree>
    <p:extLst>
      <p:ext uri="{BB962C8B-B14F-4D97-AF65-F5344CB8AC3E}">
        <p14:creationId xmlns:p14="http://schemas.microsoft.com/office/powerpoint/2010/main" val="14500988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434C7FE-057E-40F2-B76D-042285B25B4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9A220C-D7AC-400C-8DB8-8C23254A4A9A}"/>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90BE17A1-7FD1-48EB-B90F-A51D419F86A4}"/>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99853047a5d4897"/>
          <a:srcRect xmlns:a="http://schemas.openxmlformats.org/drawingml/2006/main" l="10457" t="0" r="10457" b="0"/>
          <a:stretch xmlns:a="http://schemas.openxmlformats.org/drawingml/2006/main">
            <a:fillRect l="0" t="0" r="0" b="0"/>
          </a:stretch>
        </p:blipFill>
        <p:spPr>
          <a:xfrm xmlns:a="http://schemas.openxmlformats.org/drawingml/2006/main">
            <a:off x="419100" y="876300"/>
            <a:ext cx="7334250" cy="5219700"/>
          </a:xfrm>
          <a:prstGeom xmlns:a="http://schemas.openxmlformats.org/drawingml/2006/main" prst="roundRect">
            <a:avLst>
              <a:gd name="adj" fmla="val 2920"/>
            </a:avLst>
          </a:prstGeom>
        </p:spPr>
      </p:pic>
      <p:sp>
        <p:nvSpPr>
          <p:cNvPr id="5" name="">
            <a:extLst xmlns:a="http://schemas.openxmlformats.org/drawingml/2006/main">
              <a:ext uri="{FF2B5EF4-FFF2-40B4-BE49-F238E27FC236}">
                <a16:creationId xmlns:a16="http://schemas.microsoft.com/office/drawing/2014/main" id="{6FED72CD-4C0F-47B7-B722-6715D144B3F7}"/>
              </a:ext>
            </a:extLst>
          </p:cNvPr>
          <p:cNvSpPr>
            <a:spLocks xmlns:a="http://schemas.openxmlformats.org/drawingml/2006/main" noGrp="1"/>
          </p:cNvSpPr>
          <p:nvPr/>
        </p:nvSpPr>
        <p:spPr>
          <a:xfrm xmlns:a="http://schemas.openxmlformats.org/drawingml/2006/main">
            <a:off x="8191500" y="8953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CUSTOMER EXPERIENCE</a:t>
            </a:r>
          </a:p>
        </p:txBody>
      </p:sp>
      <p:sp>
        <p:nvSpPr>
          <p:cNvPr id="6" name="">
            <a:extLst xmlns:a="http://schemas.openxmlformats.org/drawingml/2006/main">
              <a:ext uri="{FF2B5EF4-FFF2-40B4-BE49-F238E27FC236}">
                <a16:creationId xmlns:a16="http://schemas.microsoft.com/office/drawing/2014/main" id="{2A864CB6-12CB-4646-96CC-DA5F2F18438B}"/>
              </a:ext>
            </a:extLst>
          </p:cNvPr>
          <p:cNvSpPr>
            <a:spLocks xmlns:a="http://schemas.openxmlformats.org/drawingml/2006/main" noGrp="1"/>
          </p:cNvSpPr>
          <p:nvPr/>
        </p:nvSpPr>
        <p:spPr>
          <a:xfrm xmlns:a="http://schemas.openxmlformats.org/drawingml/2006/main">
            <a:off x="8191500" y="12573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7131F"/>
                </a:solidFill>
                <a:latin typeface="맑은 고딕"/>
                <a:ea typeface="맑은 고딕"/>
                <a:cs typeface="맑은 고딕"/>
              </a:defRPr>
            </a:pPr>
            <a:r>
              <a:rPr sz="2400" b="1">
                <a:solidFill>
                  <a:srgbClr val="07131F"/>
                </a:solidFill>
                <a:latin typeface="맑은 고딕"/>
                <a:ea typeface="맑은 고딕"/>
                <a:cs typeface="맑은 고딕"/>
              </a:rPr>
              <a:t>고객 접수</a:t>
            </a:r>
          </a:p>
        </p:txBody>
      </p:sp>
      <p:sp>
        <p:nvSpPr>
          <p:cNvPr id="7" name="">
            <a:extLst xmlns:a="http://schemas.openxmlformats.org/drawingml/2006/main">
              <a:ext uri="{FF2B5EF4-FFF2-40B4-BE49-F238E27FC236}">
                <a16:creationId xmlns:a16="http://schemas.microsoft.com/office/drawing/2014/main" id="{5CF666DE-5C66-4DD8-98BB-550F25824B9C}"/>
              </a:ext>
            </a:extLst>
          </p:cNvPr>
          <p:cNvSpPr>
            <a:spLocks xmlns:a="http://schemas.openxmlformats.org/drawingml/2006/main" noGrp="1"/>
          </p:cNvSpPr>
          <p:nvPr/>
        </p:nvSpPr>
        <p:spPr>
          <a:xfrm xmlns:a="http://schemas.openxmlformats.org/drawingml/2006/main">
            <a:off x="8191500" y="186690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7131F"/>
                </a:solidFill>
                <a:latin typeface="맑은 고딕"/>
                <a:ea typeface="맑은 고딕"/>
                <a:cs typeface="맑은 고딕"/>
              </a:defRPr>
            </a:pPr>
            <a:r>
              <a:rPr sz="1725" b="1">
                <a:solidFill>
                  <a:srgbClr val="07131F"/>
                </a:solidFill>
                <a:latin typeface="맑은 고딕"/>
                <a:ea typeface="맑은 고딕"/>
                <a:cs typeface="맑은 고딕"/>
              </a:rPr>
              <a:t>필요한 정보만 입력하고</a:t>
            </a:r>
          </a:p>
          <a:p xmlns:a="http://schemas.openxmlformats.org/drawingml/2006/main">
            <a:pPr>
              <a:defRPr sz="1725" b="1">
                <a:solidFill>
                  <a:srgbClr val="07131F"/>
                </a:solidFill>
                <a:latin typeface="맑은 고딕"/>
                <a:ea typeface="맑은 고딕"/>
                <a:cs typeface="맑은 고딕"/>
              </a:defRPr>
            </a:pPr>
            <a:r>
              <a:rPr sz="1725" b="1">
                <a:solidFill>
                  <a:srgbClr val="07131F"/>
                </a:solidFill>
                <a:latin typeface="맑은 고딕"/>
                <a:ea typeface="맑은 고딕"/>
                <a:cs typeface="맑은 고딕"/>
              </a:rPr>
              <a:t>처리 상태를 직접 확인</a:t>
            </a:r>
          </a:p>
        </p:txBody>
      </p:sp>
      <p:sp>
        <p:nvSpPr>
          <p:cNvPr id="8" name="">
            <a:extLst xmlns:a="http://schemas.openxmlformats.org/drawingml/2006/main">
              <a:ext uri="{FF2B5EF4-FFF2-40B4-BE49-F238E27FC236}">
                <a16:creationId xmlns:a16="http://schemas.microsoft.com/office/drawing/2014/main" id="{C3B05BDD-D922-4F1D-9C76-B1A19701B389}"/>
              </a:ext>
            </a:extLst>
          </p:cNvPr>
          <p:cNvSpPr>
            <a:spLocks xmlns:a="http://schemas.openxmlformats.org/drawingml/2006/main" noGrp="1"/>
          </p:cNvSpPr>
          <p:nvPr/>
        </p:nvSpPr>
        <p:spPr>
          <a:xfrm xmlns:a="http://schemas.openxmlformats.org/drawingml/2006/main">
            <a:off x="8191500" y="31242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01</a:t>
            </a:r>
          </a:p>
        </p:txBody>
      </p:sp>
      <p:sp>
        <p:nvSpPr>
          <p:cNvPr id="9" name="">
            <a:extLst xmlns:a="http://schemas.openxmlformats.org/drawingml/2006/main">
              <a:ext uri="{FF2B5EF4-FFF2-40B4-BE49-F238E27FC236}">
                <a16:creationId xmlns:a16="http://schemas.microsoft.com/office/drawing/2014/main" id="{06222483-9DC3-4174-866D-780AA60425D8}"/>
              </a:ext>
            </a:extLst>
          </p:cNvPr>
          <p:cNvSpPr>
            <a:spLocks xmlns:a="http://schemas.openxmlformats.org/drawingml/2006/main" noGrp="1"/>
          </p:cNvSpPr>
          <p:nvPr/>
        </p:nvSpPr>
        <p:spPr>
          <a:xfrm xmlns:a="http://schemas.openxmlformats.org/drawingml/2006/main">
            <a:off x="8667750" y="31146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제품·증상·희망일 입력</a:t>
            </a:r>
          </a:p>
        </p:txBody>
      </p:sp>
      <p:sp>
        <p:nvSpPr>
          <p:cNvPr id="10" name="">
            <a:extLst xmlns:a="http://schemas.openxmlformats.org/drawingml/2006/main">
              <a:ext uri="{FF2B5EF4-FFF2-40B4-BE49-F238E27FC236}">
                <a16:creationId xmlns:a16="http://schemas.microsoft.com/office/drawing/2014/main" id="{C9AA5985-F163-4C21-96EA-4DA4DB7D7E32}"/>
              </a:ext>
            </a:extLst>
          </p:cNvPr>
          <p:cNvSpPr>
            <a:spLocks xmlns:a="http://schemas.openxmlformats.org/drawingml/2006/main" noGrp="1"/>
          </p:cNvSpPr>
          <p:nvPr/>
        </p:nvSpPr>
        <p:spPr>
          <a:xfrm xmlns:a="http://schemas.openxmlformats.org/drawingml/2006/main">
            <a:off x="8191500" y="3810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02</a:t>
            </a:r>
          </a:p>
        </p:txBody>
      </p:sp>
      <p:sp>
        <p:nvSpPr>
          <p:cNvPr id="11" name="">
            <a:extLst xmlns:a="http://schemas.openxmlformats.org/drawingml/2006/main">
              <a:ext uri="{FF2B5EF4-FFF2-40B4-BE49-F238E27FC236}">
                <a16:creationId xmlns:a16="http://schemas.microsoft.com/office/drawing/2014/main" id="{844DDBF6-1BE3-4D70-A8E3-D0A9AB6E161E}"/>
              </a:ext>
            </a:extLst>
          </p:cNvPr>
          <p:cNvSpPr>
            <a:spLocks xmlns:a="http://schemas.openxmlformats.org/drawingml/2006/main" noGrp="1"/>
          </p:cNvSpPr>
          <p:nvPr/>
        </p:nvSpPr>
        <p:spPr>
          <a:xfrm xmlns:a="http://schemas.openxmlformats.org/drawingml/2006/main">
            <a:off x="8667750" y="38004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중복 신청 사전 확인</a:t>
            </a:r>
          </a:p>
        </p:txBody>
      </p:sp>
      <p:sp>
        <p:nvSpPr>
          <p:cNvPr id="12" name="">
            <a:extLst xmlns:a="http://schemas.openxmlformats.org/drawingml/2006/main">
              <a:ext uri="{FF2B5EF4-FFF2-40B4-BE49-F238E27FC236}">
                <a16:creationId xmlns:a16="http://schemas.microsoft.com/office/drawing/2014/main" id="{C5DBF789-99C2-4654-AFCF-21DD4A5AC2E1}"/>
              </a:ext>
            </a:extLst>
          </p:cNvPr>
          <p:cNvSpPr>
            <a:spLocks xmlns:a="http://schemas.openxmlformats.org/drawingml/2006/main" noGrp="1"/>
          </p:cNvSpPr>
          <p:nvPr/>
        </p:nvSpPr>
        <p:spPr>
          <a:xfrm xmlns:a="http://schemas.openxmlformats.org/drawingml/2006/main">
            <a:off x="8191500" y="44958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03</a:t>
            </a:r>
          </a:p>
        </p:txBody>
      </p:sp>
      <p:sp>
        <p:nvSpPr>
          <p:cNvPr id="13" name="">
            <a:extLst xmlns:a="http://schemas.openxmlformats.org/drawingml/2006/main">
              <a:ext uri="{FF2B5EF4-FFF2-40B4-BE49-F238E27FC236}">
                <a16:creationId xmlns:a16="http://schemas.microsoft.com/office/drawing/2014/main" id="{C402E946-9994-4995-8EDD-B071C201007C}"/>
              </a:ext>
            </a:extLst>
          </p:cNvPr>
          <p:cNvSpPr>
            <a:spLocks xmlns:a="http://schemas.openxmlformats.org/drawingml/2006/main" noGrp="1"/>
          </p:cNvSpPr>
          <p:nvPr/>
        </p:nvSpPr>
        <p:spPr>
          <a:xfrm xmlns:a="http://schemas.openxmlformats.org/drawingml/2006/main">
            <a:off x="8667750" y="44862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본인 신청내역과 상세 조회</a:t>
            </a:r>
          </a:p>
        </p:txBody>
      </p:sp>
      <p:sp>
        <p:nvSpPr>
          <p:cNvPr id="14" name="">
            <a:extLst xmlns:a="http://schemas.openxmlformats.org/drawingml/2006/main">
              <a:ext uri="{FF2B5EF4-FFF2-40B4-BE49-F238E27FC236}">
                <a16:creationId xmlns:a16="http://schemas.microsoft.com/office/drawing/2014/main" id="{4A0E2D83-B483-4BF4-8947-46FD007A8223}"/>
              </a:ext>
            </a:extLst>
          </p:cNvPr>
          <p:cNvSpPr>
            <a:spLocks xmlns:a="http://schemas.openxmlformats.org/drawingml/2006/main" noGrp="1"/>
          </p:cNvSpPr>
          <p:nvPr/>
        </p:nvSpPr>
        <p:spPr>
          <a:xfrm xmlns:a="http://schemas.openxmlformats.org/drawingml/2006/main">
            <a:off x="8191500" y="5391150"/>
            <a:ext cx="3048000" cy="19050"/>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C3F31FB-0D79-4648-856C-992A7F5FE851}"/>
              </a:ext>
            </a:extLst>
          </p:cNvPr>
          <p:cNvSpPr>
            <a:spLocks xmlns:a="http://schemas.openxmlformats.org/drawingml/2006/main" noGrp="1"/>
          </p:cNvSpPr>
          <p:nvPr/>
        </p:nvSpPr>
        <p:spPr>
          <a:xfrm xmlns:a="http://schemas.openxmlformats.org/drawingml/2006/main">
            <a:off x="8191500" y="55721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00AFA8"/>
                </a:solidFill>
                <a:latin typeface="맑은 고딕"/>
                <a:ea typeface="맑은 고딕"/>
                <a:cs typeface="맑은 고딕"/>
              </a:defRPr>
            </a:pPr>
            <a:r>
              <a:rPr sz="825" b="1">
                <a:solidFill>
                  <a:srgbClr val="00AFA8"/>
                </a:solidFill>
                <a:latin typeface="맑은 고딕"/>
                <a:ea typeface="맑은 고딕"/>
                <a:cs typeface="맑은 고딕"/>
              </a:rPr>
              <a:t>REQUEST</a:t>
            </a:r>
          </a:p>
        </p:txBody>
      </p:sp>
      <p:sp>
        <p:nvSpPr>
          <p:cNvPr id="16" name="">
            <a:extLst xmlns:a="http://schemas.openxmlformats.org/drawingml/2006/main">
              <a:ext uri="{FF2B5EF4-FFF2-40B4-BE49-F238E27FC236}">
                <a16:creationId xmlns:a16="http://schemas.microsoft.com/office/drawing/2014/main" id="{C6383374-3BE3-4ED9-9FDE-35E521F16266}"/>
              </a:ext>
            </a:extLst>
          </p:cNvPr>
          <p:cNvSpPr>
            <a:spLocks xmlns:a="http://schemas.openxmlformats.org/drawingml/2006/main" noGrp="1"/>
          </p:cNvSpPr>
          <p:nvPr/>
        </p:nvSpPr>
        <p:spPr>
          <a:xfrm xmlns:a="http://schemas.openxmlformats.org/drawingml/2006/main">
            <a:off x="9239250" y="55340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접수 데이터의 시작점</a:t>
            </a:r>
          </a:p>
        </p:txBody>
      </p:sp>
    </p:spTree>
    <p:extLst>
      <p:ext uri="{BB962C8B-B14F-4D97-AF65-F5344CB8AC3E}">
        <p14:creationId xmlns:p14="http://schemas.microsoft.com/office/powerpoint/2010/main" val="1242544693"/>
      </p:ext>
    </p:extLst>
  </p:cSld>
</p:sld>
</file>

<file path=ppt/slides/slide6.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343EBC-1B08-4A5C-A8CB-BA24096BE57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85AFA6-6B8E-4EE8-9C7B-A30875C38FD3}"/>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8C490E39-D9E1-4E65-A5DF-6D29526D734F}"/>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06</a:t>
            </a:r>
          </a:p>
        </p:txBody>
      </p:sp>
      <p:sp>
        <p:nvSpPr>
          <p:cNvPr id="4" name="">
            <a:extLst xmlns:a="http://schemas.openxmlformats.org/drawingml/2006/main">
              <a:ext uri="{FF2B5EF4-FFF2-40B4-BE49-F238E27FC236}">
                <a16:creationId xmlns:a16="http://schemas.microsoft.com/office/drawing/2014/main" id="{4E59AD24-DC40-43A6-83A8-130D148E53B2}"/>
              </a:ext>
            </a:extLst>
          </p:cNvPr>
          <p:cNvSpPr>
            <a:spLocks xmlns:a="http://schemas.openxmlformats.org/drawingml/2006/main" noGrp="1"/>
          </p:cNvSpPr>
          <p:nvPr/>
        </p:nvSpPr>
        <p:spPr>
          <a:xfrm xmlns:a="http://schemas.openxmlformats.org/drawingml/2006/main">
            <a:off x="628650" y="590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ADMIN OPERATIONS</a:t>
            </a:r>
          </a:p>
        </p:txBody>
      </p:sp>
      <p:sp>
        <p:nvSpPr>
          <p:cNvPr id="5" name="">
            <a:extLst xmlns:a="http://schemas.openxmlformats.org/drawingml/2006/main">
              <a:ext uri="{FF2B5EF4-FFF2-40B4-BE49-F238E27FC236}">
                <a16:creationId xmlns:a16="http://schemas.microsoft.com/office/drawing/2014/main" id="{6C70A460-EA9B-4A90-8829-98A33BB0A175}"/>
              </a:ext>
            </a:extLst>
          </p:cNvPr>
          <p:cNvSpPr>
            <a:spLocks xmlns:a="http://schemas.openxmlformats.org/drawingml/2006/main" noGrp="1"/>
          </p:cNvSpPr>
          <p:nvPr/>
        </p:nvSpPr>
        <p:spPr>
          <a:xfrm xmlns:a="http://schemas.openxmlformats.org/drawingml/2006/main">
            <a:off x="628650" y="93345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관리자가 먼저 보는 운영 현황</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592ca6c8fc5412a"/>
          <a:srcRect xmlns:a="http://schemas.openxmlformats.org/drawingml/2006/main" l="0" t="20750" r="0" b="20750"/>
          <a:stretch xmlns:a="http://schemas.openxmlformats.org/drawingml/2006/main">
            <a:fillRect l="0" t="0" r="0" b="0"/>
          </a:stretch>
        </p:blipFill>
        <p:spPr>
          <a:xfrm xmlns:a="http://schemas.openxmlformats.org/drawingml/2006/main">
            <a:off x="628650" y="1771650"/>
            <a:ext cx="10934700" cy="3600450"/>
          </a:xfrm>
          <a:prstGeom xmlns:a="http://schemas.openxmlformats.org/drawingml/2006/main" prst="roundRect">
            <a:avLst>
              <a:gd name="adj" fmla="val 4233"/>
            </a:avLst>
          </a:prstGeom>
        </p:spPr>
      </p:pic>
      <p:sp>
        <p:nvSpPr>
          <p:cNvPr id="7" name="">
            <a:extLst xmlns:a="http://schemas.openxmlformats.org/drawingml/2006/main">
              <a:ext uri="{FF2B5EF4-FFF2-40B4-BE49-F238E27FC236}">
                <a16:creationId xmlns:a16="http://schemas.microsoft.com/office/drawing/2014/main" id="{570C60FC-2EAD-453D-92D1-F599CB19475B}"/>
              </a:ext>
            </a:extLst>
          </p:cNvPr>
          <p:cNvSpPr>
            <a:spLocks xmlns:a="http://schemas.openxmlformats.org/drawingml/2006/main" noGrp="1"/>
          </p:cNvSpPr>
          <p:nvPr/>
        </p:nvSpPr>
        <p:spPr>
          <a:xfrm xmlns:a="http://schemas.openxmlformats.org/drawingml/2006/main">
            <a:off x="62865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0D5C4"/>
                </a:solidFill>
                <a:latin typeface="맑은 고딕"/>
                <a:ea typeface="맑은 고딕"/>
                <a:cs typeface="맑은 고딕"/>
              </a:defRPr>
            </a:pPr>
            <a:r>
              <a:rPr sz="1200" b="1">
                <a:solidFill>
                  <a:srgbClr val="20D5C4"/>
                </a:solidFill>
                <a:latin typeface="맑은 고딕"/>
                <a:ea typeface="맑은 고딕"/>
                <a:cs typeface="맑은 고딕"/>
              </a:rPr>
              <a:t>상태 통계</a:t>
            </a:r>
          </a:p>
        </p:txBody>
      </p:sp>
      <p:sp>
        <p:nvSpPr>
          <p:cNvPr id="8" name="">
            <a:extLst xmlns:a="http://schemas.openxmlformats.org/drawingml/2006/main">
              <a:ext uri="{FF2B5EF4-FFF2-40B4-BE49-F238E27FC236}">
                <a16:creationId xmlns:a16="http://schemas.microsoft.com/office/drawing/2014/main" id="{37FBE65B-41A6-4DF5-B8D4-99F258C78E16}"/>
              </a:ext>
            </a:extLst>
          </p:cNvPr>
          <p:cNvSpPr>
            <a:spLocks xmlns:a="http://schemas.openxmlformats.org/drawingml/2006/main" noGrp="1"/>
          </p:cNvSpPr>
          <p:nvPr/>
        </p:nvSpPr>
        <p:spPr>
          <a:xfrm xmlns:a="http://schemas.openxmlformats.org/drawingml/2006/main">
            <a:off x="62865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접수·배정·처리 상태를 즉시 확인</a:t>
            </a:r>
          </a:p>
        </p:txBody>
      </p:sp>
      <p:sp>
        <p:nvSpPr>
          <p:cNvPr id="9" name="">
            <a:extLst xmlns:a="http://schemas.openxmlformats.org/drawingml/2006/main">
              <a:ext uri="{FF2B5EF4-FFF2-40B4-BE49-F238E27FC236}">
                <a16:creationId xmlns:a16="http://schemas.microsoft.com/office/drawing/2014/main" id="{E135A16B-E013-45E2-86C7-34BAA08E2633}"/>
              </a:ext>
            </a:extLst>
          </p:cNvPr>
          <p:cNvSpPr>
            <a:spLocks xmlns:a="http://schemas.openxmlformats.org/drawingml/2006/main" noGrp="1"/>
          </p:cNvSpPr>
          <p:nvPr/>
        </p:nvSpPr>
        <p:spPr>
          <a:xfrm xmlns:a="http://schemas.openxmlformats.org/drawingml/2006/main">
            <a:off x="426720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최근 요청</a:t>
            </a:r>
          </a:p>
        </p:txBody>
      </p:sp>
      <p:sp>
        <p:nvSpPr>
          <p:cNvPr id="10" name="">
            <a:extLst xmlns:a="http://schemas.openxmlformats.org/drawingml/2006/main">
              <a:ext uri="{FF2B5EF4-FFF2-40B4-BE49-F238E27FC236}">
                <a16:creationId xmlns:a16="http://schemas.microsoft.com/office/drawing/2014/main" id="{EE14CAAF-9F0B-4BD1-9715-EA9E1E8A79D0}"/>
              </a:ext>
            </a:extLst>
          </p:cNvPr>
          <p:cNvSpPr>
            <a:spLocks xmlns:a="http://schemas.openxmlformats.org/drawingml/2006/main" noGrp="1"/>
          </p:cNvSpPr>
          <p:nvPr/>
        </p:nvSpPr>
        <p:spPr>
          <a:xfrm xmlns:a="http://schemas.openxmlformats.org/drawingml/2006/main">
            <a:off x="426720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신규 접수의 우선순위를 빠르게 판단</a:t>
            </a:r>
          </a:p>
        </p:txBody>
      </p:sp>
      <p:sp>
        <p:nvSpPr>
          <p:cNvPr id="11" name="">
            <a:extLst xmlns:a="http://schemas.openxmlformats.org/drawingml/2006/main">
              <a:ext uri="{FF2B5EF4-FFF2-40B4-BE49-F238E27FC236}">
                <a16:creationId xmlns:a16="http://schemas.microsoft.com/office/drawing/2014/main" id="{5414543B-472D-445B-8021-D4B76FF731FB}"/>
              </a:ext>
            </a:extLst>
          </p:cNvPr>
          <p:cNvSpPr>
            <a:spLocks xmlns:a="http://schemas.openxmlformats.org/drawingml/2006/main" noGrp="1"/>
          </p:cNvSpPr>
          <p:nvPr/>
        </p:nvSpPr>
        <p:spPr>
          <a:xfrm xmlns:a="http://schemas.openxmlformats.org/drawingml/2006/main">
            <a:off x="7905750" y="56388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0D5C4"/>
                </a:solidFill>
                <a:latin typeface="맑은 고딕"/>
                <a:ea typeface="맑은 고딕"/>
                <a:cs typeface="맑은 고딕"/>
              </a:defRPr>
            </a:pPr>
            <a:r>
              <a:rPr sz="1200" b="1">
                <a:solidFill>
                  <a:srgbClr val="20D5C4"/>
                </a:solidFill>
                <a:latin typeface="맑은 고딕"/>
                <a:ea typeface="맑은 고딕"/>
                <a:cs typeface="맑은 고딕"/>
              </a:rPr>
              <a:t>상세 조회</a:t>
            </a:r>
          </a:p>
        </p:txBody>
      </p:sp>
      <p:sp>
        <p:nvSpPr>
          <p:cNvPr id="12" name="">
            <a:extLst xmlns:a="http://schemas.openxmlformats.org/drawingml/2006/main">
              <a:ext uri="{FF2B5EF4-FFF2-40B4-BE49-F238E27FC236}">
                <a16:creationId xmlns:a16="http://schemas.microsoft.com/office/drawing/2014/main" id="{3FBBC4AB-CE16-4AE8-81E2-DD427B9288A8}"/>
              </a:ext>
            </a:extLst>
          </p:cNvPr>
          <p:cNvSpPr>
            <a:spLocks xmlns:a="http://schemas.openxmlformats.org/drawingml/2006/main" noGrp="1"/>
          </p:cNvSpPr>
          <p:nvPr/>
        </p:nvSpPr>
        <p:spPr>
          <a:xfrm xmlns:a="http://schemas.openxmlformats.org/drawingml/2006/main">
            <a:off x="7905750" y="5905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FC0CA"/>
                </a:solidFill>
                <a:latin typeface="맑은 고딕"/>
                <a:ea typeface="맑은 고딕"/>
                <a:cs typeface="맑은 고딕"/>
              </a:defRPr>
            </a:pPr>
            <a:r>
              <a:rPr sz="1050" b="0">
                <a:solidFill>
                  <a:srgbClr val="AFC0CA"/>
                </a:solidFill>
                <a:latin typeface="맑은 고딕"/>
                <a:ea typeface="맑은 고딕"/>
                <a:cs typeface="맑은 고딕"/>
              </a:rPr>
              <a:t>고객 정보와 증상을 한 화면에서 확인</a:t>
            </a:r>
          </a:p>
        </p:txBody>
      </p:sp>
    </p:spTree>
    <p:extLst>
      <p:ext uri="{BB962C8B-B14F-4D97-AF65-F5344CB8AC3E}">
        <p14:creationId xmlns:p14="http://schemas.microsoft.com/office/powerpoint/2010/main" val="17181165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5BB05D-D4AD-44DA-82A9-4BA3E8EB5C2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BA8278-5280-4701-84D3-14F62A5341A4}"/>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1F44F777-7CDB-4834-B8AD-9A5C0BF41116}"/>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07</a:t>
            </a:r>
          </a:p>
        </p:txBody>
      </p:sp>
      <p:sp>
        <p:nvSpPr>
          <p:cNvPr id="4" name="">
            <a:extLst xmlns:a="http://schemas.openxmlformats.org/drawingml/2006/main">
              <a:ext uri="{FF2B5EF4-FFF2-40B4-BE49-F238E27FC236}">
                <a16:creationId xmlns:a16="http://schemas.microsoft.com/office/drawing/2014/main" id="{36190B90-B367-4708-9A3F-3762F5F35095}"/>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SCHEDULING</a:t>
            </a:r>
          </a:p>
        </p:txBody>
      </p:sp>
      <p:sp>
        <p:nvSpPr>
          <p:cNvPr id="5" name="">
            <a:extLst xmlns:a="http://schemas.openxmlformats.org/drawingml/2006/main">
              <a:ext uri="{FF2B5EF4-FFF2-40B4-BE49-F238E27FC236}">
                <a16:creationId xmlns:a16="http://schemas.microsoft.com/office/drawing/2014/main" id="{DDEA4F62-D467-4C87-8569-4E22BE114279}"/>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미배정 요청을 기사 일정으로 전환</a:t>
            </a:r>
          </a:p>
        </p:txBody>
      </p:sp>
      <p:sp>
        <p:nvSpPr>
          <p:cNvPr id="6" name="">
            <a:extLst xmlns:a="http://schemas.openxmlformats.org/drawingml/2006/main">
              <a:ext uri="{FF2B5EF4-FFF2-40B4-BE49-F238E27FC236}">
                <a16:creationId xmlns:a16="http://schemas.microsoft.com/office/drawing/2014/main" id="{C615B561-EF93-40A2-82B6-CFA7055B95ED}"/>
              </a:ext>
            </a:extLst>
          </p:cNvPr>
          <p:cNvSpPr>
            <a:spLocks xmlns:a="http://schemas.openxmlformats.org/drawingml/2006/main" noGrp="1"/>
          </p:cNvSpPr>
          <p:nvPr/>
        </p:nvSpPr>
        <p:spPr>
          <a:xfrm xmlns:a="http://schemas.openxmlformats.org/drawingml/2006/main">
            <a:off x="628650" y="15621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18295"/>
                </a:solidFill>
                <a:latin typeface="맑은 고딕"/>
                <a:ea typeface="맑은 고딕"/>
                <a:cs typeface="맑은 고딕"/>
              </a:defRPr>
            </a:pPr>
            <a:r>
              <a:rPr sz="1425" b="0">
                <a:solidFill>
                  <a:srgbClr val="718295"/>
                </a:solidFill>
                <a:latin typeface="맑은 고딕"/>
                <a:ea typeface="맑은 고딕"/>
                <a:cs typeface="맑은 고딕"/>
              </a:rPr>
              <a:t>관리자는 요청을 선택한 뒤 담당 기사와 방문 시간을 확정합니다.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820db09dff64bbd"/>
          <a:srcRect xmlns:a="http://schemas.openxmlformats.org/drawingml/2006/main" l="0" t="2699" r="0" b="2699"/>
          <a:stretch xmlns:a="http://schemas.openxmlformats.org/drawingml/2006/main">
            <a:fillRect l="0" t="0" r="0" b="0"/>
          </a:stretch>
        </p:blipFill>
        <p:spPr>
          <a:xfrm xmlns:a="http://schemas.openxmlformats.org/drawingml/2006/main">
            <a:off x="628650" y="2133600"/>
            <a:ext cx="7334250" cy="3905250"/>
          </a:xfrm>
          <a:prstGeom xmlns:a="http://schemas.openxmlformats.org/drawingml/2006/main" prst="roundRect">
            <a:avLst>
              <a:gd name="adj" fmla="val 3902"/>
            </a:avLst>
          </a:prstGeom>
        </p:spPr>
      </p:pic>
      <p:sp>
        <p:nvSpPr>
          <p:cNvPr id="8" name="">
            <a:extLst xmlns:a="http://schemas.openxmlformats.org/drawingml/2006/main">
              <a:ext uri="{FF2B5EF4-FFF2-40B4-BE49-F238E27FC236}">
                <a16:creationId xmlns:a16="http://schemas.microsoft.com/office/drawing/2014/main" id="{CCCBEE9A-FB6C-4171-8D3A-7ED3B59C0D7C}"/>
              </a:ext>
            </a:extLst>
          </p:cNvPr>
          <p:cNvSpPr>
            <a:spLocks xmlns:a="http://schemas.openxmlformats.org/drawingml/2006/main" noGrp="1"/>
          </p:cNvSpPr>
          <p:nvPr/>
        </p:nvSpPr>
        <p:spPr>
          <a:xfrm xmlns:a="http://schemas.openxmlformats.org/drawingml/2006/main">
            <a:off x="8420100" y="22288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AFA8"/>
                </a:solidFill>
                <a:latin typeface="맑은 고딕"/>
                <a:ea typeface="맑은 고딕"/>
                <a:cs typeface="맑은 고딕"/>
              </a:defRPr>
            </a:pPr>
            <a:r>
              <a:rPr sz="1350" b="1">
                <a:solidFill>
                  <a:srgbClr val="00AFA8"/>
                </a:solidFill>
                <a:latin typeface="맑은 고딕"/>
                <a:ea typeface="맑은 고딕"/>
                <a:cs typeface="맑은 고딕"/>
              </a:rPr>
              <a:t>배정 로직</a:t>
            </a:r>
          </a:p>
        </p:txBody>
      </p:sp>
      <p:sp>
        <p:nvSpPr>
          <p:cNvPr id="9" name="">
            <a:extLst xmlns:a="http://schemas.openxmlformats.org/drawingml/2006/main">
              <a:ext uri="{FF2B5EF4-FFF2-40B4-BE49-F238E27FC236}">
                <a16:creationId xmlns:a16="http://schemas.microsoft.com/office/drawing/2014/main" id="{789FCF8B-F8D3-4405-A07D-B20525DC8BD6}"/>
              </a:ext>
            </a:extLst>
          </p:cNvPr>
          <p:cNvSpPr>
            <a:spLocks xmlns:a="http://schemas.openxmlformats.org/drawingml/2006/main" noGrp="1"/>
          </p:cNvSpPr>
          <p:nvPr/>
        </p:nvSpPr>
        <p:spPr>
          <a:xfrm xmlns:a="http://schemas.openxmlformats.org/drawingml/2006/main">
            <a:off x="8420100" y="28575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AFA8"/>
                </a:solidFill>
                <a:latin typeface="맑은 고딕"/>
                <a:ea typeface="맑은 고딕"/>
                <a:cs typeface="맑은 고딕"/>
              </a:defRPr>
            </a:pPr>
            <a:r>
              <a:rPr sz="1800" b="1">
                <a:solidFill>
                  <a:srgbClr val="00AFA8"/>
                </a:solidFill>
                <a:latin typeface="맑은 고딕"/>
                <a:ea typeface="맑은 고딕"/>
                <a:cs typeface="맑은 고딕"/>
              </a:rPr>
              <a:t>1</a:t>
            </a:r>
          </a:p>
        </p:txBody>
      </p:sp>
      <p:sp>
        <p:nvSpPr>
          <p:cNvPr id="10" name="">
            <a:extLst xmlns:a="http://schemas.openxmlformats.org/drawingml/2006/main">
              <a:ext uri="{FF2B5EF4-FFF2-40B4-BE49-F238E27FC236}">
                <a16:creationId xmlns:a16="http://schemas.microsoft.com/office/drawing/2014/main" id="{267173D9-0DE4-4993-B119-94B4509508E1}"/>
              </a:ext>
            </a:extLst>
          </p:cNvPr>
          <p:cNvSpPr>
            <a:spLocks xmlns:a="http://schemas.openxmlformats.org/drawingml/2006/main" noGrp="1"/>
          </p:cNvSpPr>
          <p:nvPr/>
        </p:nvSpPr>
        <p:spPr>
          <a:xfrm xmlns:a="http://schemas.openxmlformats.org/drawingml/2006/main">
            <a:off x="8896350"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미배정 접수 선택</a:t>
            </a:r>
          </a:p>
        </p:txBody>
      </p:sp>
      <p:sp>
        <p:nvSpPr>
          <p:cNvPr id="11" name="">
            <a:extLst xmlns:a="http://schemas.openxmlformats.org/drawingml/2006/main">
              <a:ext uri="{FF2B5EF4-FFF2-40B4-BE49-F238E27FC236}">
                <a16:creationId xmlns:a16="http://schemas.microsoft.com/office/drawing/2014/main" id="{E4246EFA-827C-4219-AAB0-2A86DCEDA6DF}"/>
              </a:ext>
            </a:extLst>
          </p:cNvPr>
          <p:cNvSpPr>
            <a:spLocks xmlns:a="http://schemas.openxmlformats.org/drawingml/2006/main" noGrp="1"/>
          </p:cNvSpPr>
          <p:nvPr/>
        </p:nvSpPr>
        <p:spPr>
          <a:xfrm xmlns:a="http://schemas.openxmlformats.org/drawingml/2006/main">
            <a:off x="8896350" y="31813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REQUEST 상태와 고객 요청일 확인</a:t>
            </a:r>
          </a:p>
        </p:txBody>
      </p:sp>
      <p:sp>
        <p:nvSpPr>
          <p:cNvPr id="12" name="">
            <a:extLst xmlns:a="http://schemas.openxmlformats.org/drawingml/2006/main">
              <a:ext uri="{FF2B5EF4-FFF2-40B4-BE49-F238E27FC236}">
                <a16:creationId xmlns:a16="http://schemas.microsoft.com/office/drawing/2014/main" id="{18B2AF85-1A05-463A-A31D-4848FAE0714C}"/>
              </a:ext>
            </a:extLst>
          </p:cNvPr>
          <p:cNvSpPr>
            <a:spLocks xmlns:a="http://schemas.openxmlformats.org/drawingml/2006/main" noGrp="1"/>
          </p:cNvSpPr>
          <p:nvPr/>
        </p:nvSpPr>
        <p:spPr>
          <a:xfrm xmlns:a="http://schemas.openxmlformats.org/drawingml/2006/main">
            <a:off x="8420100" y="37719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AFA8"/>
                </a:solidFill>
                <a:latin typeface="맑은 고딕"/>
                <a:ea typeface="맑은 고딕"/>
                <a:cs typeface="맑은 고딕"/>
              </a:defRPr>
            </a:pPr>
            <a:r>
              <a:rPr sz="1800" b="1">
                <a:solidFill>
                  <a:srgbClr val="00AFA8"/>
                </a:solidFill>
                <a:latin typeface="맑은 고딕"/>
                <a:ea typeface="맑은 고딕"/>
                <a:cs typeface="맑은 고딕"/>
              </a:rPr>
              <a:t>2</a:t>
            </a:r>
          </a:p>
        </p:txBody>
      </p:sp>
      <p:sp>
        <p:nvSpPr>
          <p:cNvPr id="13" name="">
            <a:extLst xmlns:a="http://schemas.openxmlformats.org/drawingml/2006/main">
              <a:ext uri="{FF2B5EF4-FFF2-40B4-BE49-F238E27FC236}">
                <a16:creationId xmlns:a16="http://schemas.microsoft.com/office/drawing/2014/main" id="{FBC13F3C-73D3-458B-A85D-130D13959AD7}"/>
              </a:ext>
            </a:extLst>
          </p:cNvPr>
          <p:cNvSpPr>
            <a:spLocks xmlns:a="http://schemas.openxmlformats.org/drawingml/2006/main" noGrp="1"/>
          </p:cNvSpPr>
          <p:nvPr/>
        </p:nvSpPr>
        <p:spPr>
          <a:xfrm xmlns:a="http://schemas.openxmlformats.org/drawingml/2006/main">
            <a:off x="8896350" y="37719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기사·시간 지정</a:t>
            </a:r>
          </a:p>
        </p:txBody>
      </p:sp>
      <p:sp>
        <p:nvSpPr>
          <p:cNvPr id="14" name="">
            <a:extLst xmlns:a="http://schemas.openxmlformats.org/drawingml/2006/main">
              <a:ext uri="{FF2B5EF4-FFF2-40B4-BE49-F238E27FC236}">
                <a16:creationId xmlns:a16="http://schemas.microsoft.com/office/drawing/2014/main" id="{E85396F6-FAA7-4DD2-B16E-A8AB2211DCBE}"/>
              </a:ext>
            </a:extLst>
          </p:cNvPr>
          <p:cNvSpPr>
            <a:spLocks xmlns:a="http://schemas.openxmlformats.org/drawingml/2006/main" noGrp="1"/>
          </p:cNvSpPr>
          <p:nvPr/>
        </p:nvSpPr>
        <p:spPr>
          <a:xfrm xmlns:a="http://schemas.openxmlformats.org/drawingml/2006/main">
            <a:off x="8896350" y="40957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기사 목록과 시작·종료시간 입력</a:t>
            </a:r>
          </a:p>
        </p:txBody>
      </p:sp>
      <p:sp>
        <p:nvSpPr>
          <p:cNvPr id="15" name="">
            <a:extLst xmlns:a="http://schemas.openxmlformats.org/drawingml/2006/main">
              <a:ext uri="{FF2B5EF4-FFF2-40B4-BE49-F238E27FC236}">
                <a16:creationId xmlns:a16="http://schemas.microsoft.com/office/drawing/2014/main" id="{5E31F5F6-1ADA-4DF9-8ED3-BCB97E516642}"/>
              </a:ext>
            </a:extLst>
          </p:cNvPr>
          <p:cNvSpPr>
            <a:spLocks xmlns:a="http://schemas.openxmlformats.org/drawingml/2006/main" noGrp="1"/>
          </p:cNvSpPr>
          <p:nvPr/>
        </p:nvSpPr>
        <p:spPr>
          <a:xfrm xmlns:a="http://schemas.openxmlformats.org/drawingml/2006/main">
            <a:off x="8420100" y="468630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6B4A"/>
                </a:solidFill>
                <a:latin typeface="맑은 고딕"/>
                <a:ea typeface="맑은 고딕"/>
                <a:cs typeface="맑은 고딕"/>
              </a:defRPr>
            </a:pPr>
            <a:r>
              <a:rPr sz="1800" b="1">
                <a:solidFill>
                  <a:srgbClr val="FF6B4A"/>
                </a:solidFill>
                <a:latin typeface="맑은 고딕"/>
                <a:ea typeface="맑은 고딕"/>
                <a:cs typeface="맑은 고딕"/>
              </a:rPr>
              <a:t>3</a:t>
            </a:r>
          </a:p>
        </p:txBody>
      </p:sp>
      <p:sp>
        <p:nvSpPr>
          <p:cNvPr id="16" name="">
            <a:extLst xmlns:a="http://schemas.openxmlformats.org/drawingml/2006/main">
              <a:ext uri="{FF2B5EF4-FFF2-40B4-BE49-F238E27FC236}">
                <a16:creationId xmlns:a16="http://schemas.microsoft.com/office/drawing/2014/main" id="{2F89763C-318D-4286-AE7D-73B463535B3A}"/>
              </a:ext>
            </a:extLst>
          </p:cNvPr>
          <p:cNvSpPr>
            <a:spLocks xmlns:a="http://schemas.openxmlformats.org/drawingml/2006/main" noGrp="1"/>
          </p:cNvSpPr>
          <p:nvPr/>
        </p:nvSpPr>
        <p:spPr>
          <a:xfrm xmlns:a="http://schemas.openxmlformats.org/drawingml/2006/main">
            <a:off x="8896350" y="4686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일정 생성</a:t>
            </a:r>
          </a:p>
        </p:txBody>
      </p:sp>
      <p:sp>
        <p:nvSpPr>
          <p:cNvPr id="17" name="">
            <a:extLst xmlns:a="http://schemas.openxmlformats.org/drawingml/2006/main">
              <a:ext uri="{FF2B5EF4-FFF2-40B4-BE49-F238E27FC236}">
                <a16:creationId xmlns:a16="http://schemas.microsoft.com/office/drawing/2014/main" id="{A9DD27E9-EE72-4EE6-AFF7-077E04FB5A6B}"/>
              </a:ext>
            </a:extLst>
          </p:cNvPr>
          <p:cNvSpPr>
            <a:spLocks xmlns:a="http://schemas.openxmlformats.org/drawingml/2006/main" noGrp="1"/>
          </p:cNvSpPr>
          <p:nvPr/>
        </p:nvSpPr>
        <p:spPr>
          <a:xfrm xmlns:a="http://schemas.openxmlformats.org/drawingml/2006/main">
            <a:off x="8896350" y="50101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295"/>
                </a:solidFill>
                <a:latin typeface="맑은 고딕"/>
                <a:ea typeface="맑은 고딕"/>
                <a:cs typeface="맑은 고딕"/>
              </a:defRPr>
            </a:pPr>
            <a:r>
              <a:rPr sz="1050" b="0">
                <a:solidFill>
                  <a:srgbClr val="718295"/>
                </a:solidFill>
                <a:latin typeface="맑은 고딕"/>
                <a:ea typeface="맑은 고딕"/>
                <a:cs typeface="맑은 고딕"/>
              </a:rPr>
              <a:t>AS_SCHEDULE 저장 후 상태를 ASSIGNED로 변경</a:t>
            </a:r>
          </a:p>
        </p:txBody>
      </p:sp>
    </p:spTree>
    <p:extLst>
      <p:ext uri="{BB962C8B-B14F-4D97-AF65-F5344CB8AC3E}">
        <p14:creationId xmlns:p14="http://schemas.microsoft.com/office/powerpoint/2010/main" val="846828347"/>
      </p:ext>
    </p:extLst>
  </p:cSld>
</p:sld>
</file>

<file path=ppt/slides/slide8.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8A60D9-18AE-45AE-9084-43C0E9136BE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C6F76A-A65A-4847-A1FC-B99901BDE1B4}"/>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6B25F850-9EF6-4E5C-9CC8-BB85240AD348}"/>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08</a:t>
            </a:r>
          </a:p>
        </p:txBody>
      </p:sp>
      <p:sp>
        <p:nvSpPr>
          <p:cNvPr id="4" name="">
            <a:extLst xmlns:a="http://schemas.openxmlformats.org/drawingml/2006/main">
              <a:ext uri="{FF2B5EF4-FFF2-40B4-BE49-F238E27FC236}">
                <a16:creationId xmlns:a16="http://schemas.microsoft.com/office/drawing/2014/main" id="{E7702CB2-A23E-4066-BFD0-5986DA322C82}"/>
              </a:ext>
            </a:extLst>
          </p:cNvPr>
          <p:cNvSpPr>
            <a:spLocks xmlns:a="http://schemas.openxmlformats.org/drawingml/2006/main" noGrp="1"/>
          </p:cNvSpPr>
          <p:nvPr/>
        </p:nvSpPr>
        <p:spPr>
          <a:xfrm xmlns:a="http://schemas.openxmlformats.org/drawingml/2006/main">
            <a:off x="628650" y="5524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FIELD EXECUTION</a:t>
            </a:r>
          </a:p>
        </p:txBody>
      </p:sp>
      <p:sp>
        <p:nvSpPr>
          <p:cNvPr id="5" name="">
            <a:extLst xmlns:a="http://schemas.openxmlformats.org/drawingml/2006/main">
              <a:ext uri="{FF2B5EF4-FFF2-40B4-BE49-F238E27FC236}">
                <a16:creationId xmlns:a16="http://schemas.microsoft.com/office/drawing/2014/main" id="{4435C2C5-8ED9-4F98-A1D0-C221232B1B7A}"/>
              </a:ext>
            </a:extLst>
          </p:cNvPr>
          <p:cNvSpPr>
            <a:spLocks xmlns:a="http://schemas.openxmlformats.org/drawingml/2006/main" noGrp="1"/>
          </p:cNvSpPr>
          <p:nvPr/>
        </p:nvSpPr>
        <p:spPr>
          <a:xfrm xmlns:a="http://schemas.openxmlformats.org/drawingml/2006/main">
            <a:off x="628650" y="8763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맑은 고딕"/>
                <a:ea typeface="맑은 고딕"/>
                <a:cs typeface="맑은 고딕"/>
              </a:defRPr>
            </a:pPr>
            <a:r>
              <a:rPr sz="2400" b="1">
                <a:solidFill>
                  <a:srgbClr val="FFFFFF"/>
                </a:solidFill>
                <a:latin typeface="맑은 고딕"/>
                <a:ea typeface="맑은 고딕"/>
                <a:cs typeface="맑은 고딕"/>
              </a:rPr>
              <a:t>기사는 일정 확인부터 결과보고까지 한 흐름으로 처리</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49b54f30f654e3c"/>
          <a:srcRect xmlns:a="http://schemas.openxmlformats.org/drawingml/2006/main" l="11637" t="0" r="11637" b="0"/>
          <a:stretch xmlns:a="http://schemas.openxmlformats.org/drawingml/2006/main">
            <a:fillRect l="0" t="0" r="0" b="0"/>
          </a:stretch>
        </p:blipFill>
        <p:spPr>
          <a:xfrm xmlns:a="http://schemas.openxmlformats.org/drawingml/2006/main">
            <a:off x="628650" y="1714500"/>
            <a:ext cx="5219700" cy="3829050"/>
          </a:xfrm>
          <a:prstGeom xmlns:a="http://schemas.openxmlformats.org/drawingml/2006/main" prst="roundRect">
            <a:avLst>
              <a:gd name="adj" fmla="val 3483"/>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b2d7fcace14451c"/>
          <a:srcRect xmlns:a="http://schemas.openxmlformats.org/drawingml/2006/main" l="11637" t="0" r="11637" b="0"/>
          <a:stretch xmlns:a="http://schemas.openxmlformats.org/drawingml/2006/main">
            <a:fillRect l="0" t="0" r="0" b="0"/>
          </a:stretch>
        </p:blipFill>
        <p:spPr>
          <a:xfrm xmlns:a="http://schemas.openxmlformats.org/drawingml/2006/main">
            <a:off x="6343650" y="1714500"/>
            <a:ext cx="5219700" cy="3829050"/>
          </a:xfrm>
          <a:prstGeom xmlns:a="http://schemas.openxmlformats.org/drawingml/2006/main" prst="roundRect">
            <a:avLst>
              <a:gd name="adj" fmla="val 3483"/>
            </a:avLst>
          </a:prstGeom>
        </p:spPr>
      </p:pic>
      <p:sp>
        <p:nvSpPr>
          <p:cNvPr id="8" name="">
            <a:extLst xmlns:a="http://schemas.openxmlformats.org/drawingml/2006/main">
              <a:ext uri="{FF2B5EF4-FFF2-40B4-BE49-F238E27FC236}">
                <a16:creationId xmlns:a16="http://schemas.microsoft.com/office/drawing/2014/main" id="{E618767D-B8E6-424D-92F3-A922D73A09E9}"/>
              </a:ext>
            </a:extLst>
          </p:cNvPr>
          <p:cNvSpPr>
            <a:spLocks xmlns:a="http://schemas.openxmlformats.org/drawingml/2006/main" noGrp="1"/>
          </p:cNvSpPr>
          <p:nvPr/>
        </p:nvSpPr>
        <p:spPr>
          <a:xfrm xmlns:a="http://schemas.openxmlformats.org/drawingml/2006/main">
            <a:off x="628650" y="5734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20D5C4"/>
                </a:solidFill>
                <a:latin typeface="맑은 고딕"/>
                <a:ea typeface="맑은 고딕"/>
                <a:cs typeface="맑은 고딕"/>
              </a:defRPr>
            </a:pPr>
            <a:r>
              <a:rPr sz="825" b="1">
                <a:solidFill>
                  <a:srgbClr val="20D5C4"/>
                </a:solidFill>
                <a:latin typeface="맑은 고딕"/>
                <a:ea typeface="맑은 고딕"/>
                <a:cs typeface="맑은 고딕"/>
              </a:rPr>
              <a:t>TODAY &amp; MONTH</a:t>
            </a:r>
          </a:p>
        </p:txBody>
      </p:sp>
      <p:sp>
        <p:nvSpPr>
          <p:cNvPr id="9" name="">
            <a:extLst xmlns:a="http://schemas.openxmlformats.org/drawingml/2006/main">
              <a:ext uri="{FF2B5EF4-FFF2-40B4-BE49-F238E27FC236}">
                <a16:creationId xmlns:a16="http://schemas.microsoft.com/office/drawing/2014/main" id="{0985F1CD-92A9-44E9-8976-ABF8934C66AD}"/>
              </a:ext>
            </a:extLst>
          </p:cNvPr>
          <p:cNvSpPr>
            <a:spLocks xmlns:a="http://schemas.openxmlformats.org/drawingml/2006/main" noGrp="1"/>
          </p:cNvSpPr>
          <p:nvPr/>
        </p:nvSpPr>
        <p:spPr>
          <a:xfrm xmlns:a="http://schemas.openxmlformats.org/drawingml/2006/main">
            <a:off x="2324100" y="5695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오늘 일정과 월간 캘린더</a:t>
            </a:r>
          </a:p>
        </p:txBody>
      </p:sp>
      <p:sp>
        <p:nvSpPr>
          <p:cNvPr id="10" name="">
            <a:extLst xmlns:a="http://schemas.openxmlformats.org/drawingml/2006/main">
              <a:ext uri="{FF2B5EF4-FFF2-40B4-BE49-F238E27FC236}">
                <a16:creationId xmlns:a16="http://schemas.microsoft.com/office/drawing/2014/main" id="{6F0C8C89-A590-42BE-940E-6F244A3326E5}"/>
              </a:ext>
            </a:extLst>
          </p:cNvPr>
          <p:cNvSpPr>
            <a:spLocks xmlns:a="http://schemas.openxmlformats.org/drawingml/2006/main" noGrp="1"/>
          </p:cNvSpPr>
          <p:nvPr/>
        </p:nvSpPr>
        <p:spPr>
          <a:xfrm xmlns:a="http://schemas.openxmlformats.org/drawingml/2006/main">
            <a:off x="6343650" y="5734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FF6B4A"/>
                </a:solidFill>
                <a:latin typeface="맑은 고딕"/>
                <a:ea typeface="맑은 고딕"/>
                <a:cs typeface="맑은 고딕"/>
              </a:defRPr>
            </a:pPr>
            <a:r>
              <a:rPr sz="825" b="1">
                <a:solidFill>
                  <a:srgbClr val="FF6B4A"/>
                </a:solidFill>
                <a:latin typeface="맑은 고딕"/>
                <a:ea typeface="맑은 고딕"/>
                <a:cs typeface="맑은 고딕"/>
              </a:rPr>
              <a:t>RESULT REPORT</a:t>
            </a:r>
          </a:p>
        </p:txBody>
      </p:sp>
      <p:sp>
        <p:nvSpPr>
          <p:cNvPr id="11" name="">
            <a:extLst xmlns:a="http://schemas.openxmlformats.org/drawingml/2006/main">
              <a:ext uri="{FF2B5EF4-FFF2-40B4-BE49-F238E27FC236}">
                <a16:creationId xmlns:a16="http://schemas.microsoft.com/office/drawing/2014/main" id="{764F5AB5-84EE-4025-9B6E-22ACB4F0309E}"/>
              </a:ext>
            </a:extLst>
          </p:cNvPr>
          <p:cNvSpPr>
            <a:spLocks xmlns:a="http://schemas.openxmlformats.org/drawingml/2006/main" noGrp="1"/>
          </p:cNvSpPr>
          <p:nvPr/>
        </p:nvSpPr>
        <p:spPr>
          <a:xfrm xmlns:a="http://schemas.openxmlformats.org/drawingml/2006/main">
            <a:off x="8058150" y="5695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처리 내용과 사진 2장 기록</a:t>
            </a:r>
          </a:p>
        </p:txBody>
      </p:sp>
    </p:spTree>
    <p:extLst>
      <p:ext uri="{BB962C8B-B14F-4D97-AF65-F5344CB8AC3E}">
        <p14:creationId xmlns:p14="http://schemas.microsoft.com/office/powerpoint/2010/main" val="11810537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EBE1C6-4964-47B8-A02D-B460DA4C92B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4433B3-B6CB-4DCA-BE7D-A5362E2A2114}"/>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7286E878-F39F-484E-864C-2FDD88E8180C}"/>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91269a9d93e434b"/>
          <a:srcRect xmlns:a="http://schemas.openxmlformats.org/drawingml/2006/main" l="24841" t="0" r="24841" b="0"/>
          <a:stretch xmlns:a="http://schemas.openxmlformats.org/drawingml/2006/main">
            <a:fillRect l="0" t="0" r="0" b="0"/>
          </a:stretch>
        </p:blipFill>
        <p:spPr>
          <a:xfrm xmlns:a="http://schemas.openxmlformats.org/drawingml/2006/main">
            <a:off x="6743700" y="762000"/>
            <a:ext cx="4819650" cy="5391150"/>
          </a:xfrm>
          <a:prstGeom xmlns:a="http://schemas.openxmlformats.org/drawingml/2006/main" prst="roundRect">
            <a:avLst>
              <a:gd name="adj" fmla="val 3162"/>
            </a:avLst>
          </a:prstGeom>
        </p:spPr>
      </p:pic>
      <p:sp>
        <p:nvSpPr>
          <p:cNvPr id="5" name="">
            <a:extLst xmlns:a="http://schemas.openxmlformats.org/drawingml/2006/main">
              <a:ext uri="{FF2B5EF4-FFF2-40B4-BE49-F238E27FC236}">
                <a16:creationId xmlns:a16="http://schemas.microsoft.com/office/drawing/2014/main" id="{77CBFB7E-BB1B-44A8-B0F3-0143DD2FBBE4}"/>
              </a:ext>
            </a:extLst>
          </p:cNvPr>
          <p:cNvSpPr>
            <a:spLocks xmlns:a="http://schemas.openxmlformats.org/drawingml/2006/main" noGrp="1"/>
          </p:cNvSpPr>
          <p:nvPr/>
        </p:nvSpPr>
        <p:spPr>
          <a:xfrm xmlns:a="http://schemas.openxmlformats.org/drawingml/2006/main">
            <a:off x="62865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CUSTOMER FEEDBACK</a:t>
            </a:r>
          </a:p>
        </p:txBody>
      </p:sp>
      <p:sp>
        <p:nvSpPr>
          <p:cNvPr id="6" name="">
            <a:extLst xmlns:a="http://schemas.openxmlformats.org/drawingml/2006/main">
              <a:ext uri="{FF2B5EF4-FFF2-40B4-BE49-F238E27FC236}">
                <a16:creationId xmlns:a16="http://schemas.microsoft.com/office/drawing/2014/main" id="{8DCAC438-25BC-46F4-A728-1D0904C0C39A}"/>
              </a:ext>
            </a:extLst>
          </p:cNvPr>
          <p:cNvSpPr>
            <a:spLocks xmlns:a="http://schemas.openxmlformats.org/drawingml/2006/main" noGrp="1"/>
          </p:cNvSpPr>
          <p:nvPr/>
        </p:nvSpPr>
        <p:spPr>
          <a:xfrm xmlns:a="http://schemas.openxmlformats.org/drawingml/2006/main">
            <a:off x="628650" y="10477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결과보고 뒤</a:t>
            </a:r>
          </a:p>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고객 평가가 운영 데이터가 됩니다</a:t>
            </a:r>
          </a:p>
        </p:txBody>
      </p:sp>
      <p:sp>
        <p:nvSpPr>
          <p:cNvPr id="7" name="">
            <a:extLst xmlns:a="http://schemas.openxmlformats.org/drawingml/2006/main">
              <a:ext uri="{FF2B5EF4-FFF2-40B4-BE49-F238E27FC236}">
                <a16:creationId xmlns:a16="http://schemas.microsoft.com/office/drawing/2014/main" id="{BF780AB4-64F7-4593-87E3-81037ED13FF8}"/>
              </a:ext>
            </a:extLst>
          </p:cNvPr>
          <p:cNvSpPr>
            <a:spLocks xmlns:a="http://schemas.openxmlformats.org/drawingml/2006/main" noGrp="1"/>
          </p:cNvSpPr>
          <p:nvPr/>
        </p:nvSpPr>
        <p:spPr>
          <a:xfrm xmlns:a="http://schemas.openxmlformats.org/drawingml/2006/main">
            <a:off x="628650" y="24384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B4A"/>
                </a:solidFill>
                <a:latin typeface="맑은 고딕"/>
                <a:ea typeface="맑은 고딕"/>
                <a:cs typeface="맑은 고딕"/>
              </a:defRPr>
            </a:pPr>
            <a:r>
              <a:rPr sz="1125" b="1">
                <a:solidFill>
                  <a:srgbClr val="FF6B4A"/>
                </a:solidFill>
                <a:latin typeface="맑은 고딕"/>
                <a:ea typeface="맑은 고딕"/>
                <a:cs typeface="맑은 고딕"/>
              </a:rPr>
              <a:t>차별화 포인트</a:t>
            </a:r>
          </a:p>
        </p:txBody>
      </p:sp>
      <p:sp>
        <p:nvSpPr>
          <p:cNvPr id="8" name="">
            <a:extLst xmlns:a="http://schemas.openxmlformats.org/drawingml/2006/main">
              <a:ext uri="{FF2B5EF4-FFF2-40B4-BE49-F238E27FC236}">
                <a16:creationId xmlns:a16="http://schemas.microsoft.com/office/drawing/2014/main" id="{3219B5E9-F135-4386-8873-B0826D264E05}"/>
              </a:ext>
            </a:extLst>
          </p:cNvPr>
          <p:cNvSpPr>
            <a:spLocks xmlns:a="http://schemas.openxmlformats.org/drawingml/2006/main" noGrp="1"/>
          </p:cNvSpPr>
          <p:nvPr/>
        </p:nvSpPr>
        <p:spPr>
          <a:xfrm xmlns:a="http://schemas.openxmlformats.org/drawingml/2006/main">
            <a:off x="628650" y="2857500"/>
            <a:ext cx="5314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07131F"/>
                </a:solidFill>
                <a:latin typeface="맑은 고딕"/>
                <a:ea typeface="맑은 고딕"/>
                <a:cs typeface="맑은 고딕"/>
              </a:defRPr>
            </a:pPr>
            <a:r>
              <a:rPr sz="1500" b="0">
                <a:solidFill>
                  <a:srgbClr val="07131F"/>
                </a:solidFill>
                <a:latin typeface="맑은 고딕"/>
                <a:ea typeface="맑은 고딕"/>
                <a:cs typeface="맑은 고딕"/>
              </a:rPr>
              <a:t>외부 설문으로 끝내지 않고 서비스 내부 DB에 응답을 저장해 기사별 월간 지표로 연결했습니다.</a:t>
            </a:r>
          </a:p>
        </p:txBody>
      </p:sp>
      <p:sp>
        <p:nvSpPr>
          <p:cNvPr id="9" name="">
            <a:extLst xmlns:a="http://schemas.openxmlformats.org/drawingml/2006/main">
              <a:ext uri="{FF2B5EF4-FFF2-40B4-BE49-F238E27FC236}">
                <a16:creationId xmlns:a16="http://schemas.microsoft.com/office/drawing/2014/main" id="{B862DFC3-F819-463E-B503-D3127F5544DA}"/>
              </a:ext>
            </a:extLst>
          </p:cNvPr>
          <p:cNvSpPr>
            <a:spLocks xmlns:a="http://schemas.openxmlformats.org/drawingml/2006/main" noGrp="1"/>
          </p:cNvSpPr>
          <p:nvPr/>
        </p:nvSpPr>
        <p:spPr>
          <a:xfrm xmlns:a="http://schemas.openxmlformats.org/drawingml/2006/main">
            <a:off x="628650" y="41910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01</a:t>
            </a:r>
          </a:p>
        </p:txBody>
      </p:sp>
      <p:sp>
        <p:nvSpPr>
          <p:cNvPr id="10" name="">
            <a:extLst xmlns:a="http://schemas.openxmlformats.org/drawingml/2006/main">
              <a:ext uri="{FF2B5EF4-FFF2-40B4-BE49-F238E27FC236}">
                <a16:creationId xmlns:a16="http://schemas.microsoft.com/office/drawing/2014/main" id="{2B67FC30-8B8B-40DC-B505-317E512B6428}"/>
              </a:ext>
            </a:extLst>
          </p:cNvPr>
          <p:cNvSpPr>
            <a:spLocks xmlns:a="http://schemas.openxmlformats.org/drawingml/2006/main" noGrp="1"/>
          </p:cNvSpPr>
          <p:nvPr/>
        </p:nvSpPr>
        <p:spPr>
          <a:xfrm xmlns:a="http://schemas.openxmlformats.org/drawingml/2006/main">
            <a:off x="1104900" y="41719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결과 등록</a:t>
            </a:r>
          </a:p>
        </p:txBody>
      </p:sp>
      <p:sp>
        <p:nvSpPr>
          <p:cNvPr id="11" name="">
            <a:extLst xmlns:a="http://schemas.openxmlformats.org/drawingml/2006/main">
              <a:ext uri="{FF2B5EF4-FFF2-40B4-BE49-F238E27FC236}">
                <a16:creationId xmlns:a16="http://schemas.microsoft.com/office/drawing/2014/main" id="{5D561ECB-AAF2-4BB9-B4BF-778718EEBC98}"/>
              </a:ext>
            </a:extLst>
          </p:cNvPr>
          <p:cNvSpPr>
            <a:spLocks xmlns:a="http://schemas.openxmlformats.org/drawingml/2006/main" noGrp="1"/>
          </p:cNvSpPr>
          <p:nvPr/>
        </p:nvSpPr>
        <p:spPr>
          <a:xfrm xmlns:a="http://schemas.openxmlformats.org/drawingml/2006/main">
            <a:off x="3343275" y="41910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02</a:t>
            </a:r>
          </a:p>
        </p:txBody>
      </p:sp>
      <p:sp>
        <p:nvSpPr>
          <p:cNvPr id="12" name="">
            <a:extLst xmlns:a="http://schemas.openxmlformats.org/drawingml/2006/main">
              <a:ext uri="{FF2B5EF4-FFF2-40B4-BE49-F238E27FC236}">
                <a16:creationId xmlns:a16="http://schemas.microsoft.com/office/drawing/2014/main" id="{24C93325-4BF4-4EC7-834E-4AB65A1A657D}"/>
              </a:ext>
            </a:extLst>
          </p:cNvPr>
          <p:cNvSpPr>
            <a:spLocks xmlns:a="http://schemas.openxmlformats.org/drawingml/2006/main" noGrp="1"/>
          </p:cNvSpPr>
          <p:nvPr/>
        </p:nvSpPr>
        <p:spPr>
          <a:xfrm xmlns:a="http://schemas.openxmlformats.org/drawingml/2006/main">
            <a:off x="3819525" y="41719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SMS 링크 발송</a:t>
            </a:r>
          </a:p>
        </p:txBody>
      </p:sp>
      <p:sp>
        <p:nvSpPr>
          <p:cNvPr id="13" name="">
            <a:extLst xmlns:a="http://schemas.openxmlformats.org/drawingml/2006/main">
              <a:ext uri="{FF2B5EF4-FFF2-40B4-BE49-F238E27FC236}">
                <a16:creationId xmlns:a16="http://schemas.microsoft.com/office/drawing/2014/main" id="{B601A46E-6EB4-47D5-B88D-F2C5CAB03118}"/>
              </a:ext>
            </a:extLst>
          </p:cNvPr>
          <p:cNvSpPr>
            <a:spLocks xmlns:a="http://schemas.openxmlformats.org/drawingml/2006/main" noGrp="1"/>
          </p:cNvSpPr>
          <p:nvPr/>
        </p:nvSpPr>
        <p:spPr>
          <a:xfrm xmlns:a="http://schemas.openxmlformats.org/drawingml/2006/main">
            <a:off x="628650" y="49720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0AFA8"/>
                </a:solidFill>
                <a:latin typeface="맑은 고딕"/>
                <a:ea typeface="맑은 고딕"/>
                <a:cs typeface="맑은 고딕"/>
              </a:defRPr>
            </a:pPr>
            <a:r>
              <a:rPr sz="975" b="1">
                <a:solidFill>
                  <a:srgbClr val="00AFA8"/>
                </a:solidFill>
                <a:latin typeface="맑은 고딕"/>
                <a:ea typeface="맑은 고딕"/>
                <a:cs typeface="맑은 고딕"/>
              </a:rPr>
              <a:t>03</a:t>
            </a:r>
          </a:p>
        </p:txBody>
      </p:sp>
      <p:sp>
        <p:nvSpPr>
          <p:cNvPr id="14" name="">
            <a:extLst xmlns:a="http://schemas.openxmlformats.org/drawingml/2006/main">
              <a:ext uri="{FF2B5EF4-FFF2-40B4-BE49-F238E27FC236}">
                <a16:creationId xmlns:a16="http://schemas.microsoft.com/office/drawing/2014/main" id="{ABB68DD7-89DC-45BE-A6D0-F89F522DC947}"/>
              </a:ext>
            </a:extLst>
          </p:cNvPr>
          <p:cNvSpPr>
            <a:spLocks xmlns:a="http://schemas.openxmlformats.org/drawingml/2006/main" noGrp="1"/>
          </p:cNvSpPr>
          <p:nvPr/>
        </p:nvSpPr>
        <p:spPr>
          <a:xfrm xmlns:a="http://schemas.openxmlformats.org/drawingml/2006/main">
            <a:off x="1104900" y="4953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3항목 평가</a:t>
            </a:r>
          </a:p>
        </p:txBody>
      </p:sp>
      <p:sp>
        <p:nvSpPr>
          <p:cNvPr id="15" name="">
            <a:extLst xmlns:a="http://schemas.openxmlformats.org/drawingml/2006/main">
              <a:ext uri="{FF2B5EF4-FFF2-40B4-BE49-F238E27FC236}">
                <a16:creationId xmlns:a16="http://schemas.microsoft.com/office/drawing/2014/main" id="{FAC1E03A-3D67-4EFA-A242-CC9508DFB411}"/>
              </a:ext>
            </a:extLst>
          </p:cNvPr>
          <p:cNvSpPr>
            <a:spLocks xmlns:a="http://schemas.openxmlformats.org/drawingml/2006/main" noGrp="1"/>
          </p:cNvSpPr>
          <p:nvPr/>
        </p:nvSpPr>
        <p:spPr>
          <a:xfrm xmlns:a="http://schemas.openxmlformats.org/drawingml/2006/main">
            <a:off x="3343275" y="49720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FF6B4A"/>
                </a:solidFill>
                <a:latin typeface="맑은 고딕"/>
                <a:ea typeface="맑은 고딕"/>
                <a:cs typeface="맑은 고딕"/>
              </a:defRPr>
            </a:pPr>
            <a:r>
              <a:rPr sz="975" b="1">
                <a:solidFill>
                  <a:srgbClr val="FF6B4A"/>
                </a:solidFill>
                <a:latin typeface="맑은 고딕"/>
                <a:ea typeface="맑은 고딕"/>
                <a:cs typeface="맑은 고딕"/>
              </a:rPr>
              <a:t>04</a:t>
            </a:r>
          </a:p>
        </p:txBody>
      </p:sp>
      <p:sp>
        <p:nvSpPr>
          <p:cNvPr id="16" name="">
            <a:extLst xmlns:a="http://schemas.openxmlformats.org/drawingml/2006/main">
              <a:ext uri="{FF2B5EF4-FFF2-40B4-BE49-F238E27FC236}">
                <a16:creationId xmlns:a16="http://schemas.microsoft.com/office/drawing/2014/main" id="{8953B8FA-0707-4DF6-B165-F8E324F30F80}"/>
              </a:ext>
            </a:extLst>
          </p:cNvPr>
          <p:cNvSpPr>
            <a:spLocks xmlns:a="http://schemas.openxmlformats.org/drawingml/2006/main" noGrp="1"/>
          </p:cNvSpPr>
          <p:nvPr/>
        </p:nvSpPr>
        <p:spPr>
          <a:xfrm xmlns:a="http://schemas.openxmlformats.org/drawingml/2006/main">
            <a:off x="3819525" y="4953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295"/>
                </a:solidFill>
                <a:latin typeface="맑은 고딕"/>
                <a:ea typeface="맑은 고딕"/>
                <a:cs typeface="맑은 고딕"/>
              </a:defRPr>
            </a:pPr>
            <a:r>
              <a:rPr sz="1275" b="0">
                <a:solidFill>
                  <a:srgbClr val="718295"/>
                </a:solidFill>
                <a:latin typeface="맑은 고딕"/>
                <a:ea typeface="맑은 고딕"/>
                <a:cs typeface="맑은 고딕"/>
              </a:rPr>
              <a:t>월별 평균·전년 비교</a:t>
            </a:r>
          </a:p>
        </p:txBody>
      </p:sp>
    </p:spTree>
    <p:extLst>
      <p:ext uri="{BB962C8B-B14F-4D97-AF65-F5344CB8AC3E}">
        <p14:creationId xmlns:p14="http://schemas.microsoft.com/office/powerpoint/2010/main" val="1047380116"/>
      </p:ext>
    </p:extLst>
  </p:cSld>
</p:sld>
</file>

<file path=ppt/slides/slide1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8BB2F76-7937-45C2-9876-A26C311F0E6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A9D4E9-6A48-4A42-9D56-1F518019C103}"/>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C7925DF2-A0A9-4DE1-84EA-402D3C8110F7}"/>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10</a:t>
            </a:r>
          </a:p>
        </p:txBody>
      </p:sp>
      <p:sp>
        <p:nvSpPr>
          <p:cNvPr id="4" name="">
            <a:extLst xmlns:a="http://schemas.openxmlformats.org/drawingml/2006/main">
              <a:ext uri="{FF2B5EF4-FFF2-40B4-BE49-F238E27FC236}">
                <a16:creationId xmlns:a16="http://schemas.microsoft.com/office/drawing/2014/main" id="{C4F7C96A-8966-4B5C-8444-267C1D6F0A01}"/>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DELIVERY MODEL</a:t>
            </a:r>
          </a:p>
        </p:txBody>
      </p:sp>
      <p:sp>
        <p:nvSpPr>
          <p:cNvPr id="5" name="">
            <a:extLst xmlns:a="http://schemas.openxmlformats.org/drawingml/2006/main">
              <a:ext uri="{FF2B5EF4-FFF2-40B4-BE49-F238E27FC236}">
                <a16:creationId xmlns:a16="http://schemas.microsoft.com/office/drawing/2014/main" id="{9DB85372-67D0-4DC1-9615-4AA5F9BF9E05}"/>
              </a:ext>
            </a:extLst>
          </p:cNvPr>
          <p:cNvSpPr>
            <a:spLocks xmlns:a="http://schemas.openxmlformats.org/drawingml/2006/main" noGrp="1"/>
          </p:cNvSpPr>
          <p:nvPr/>
        </p:nvSpPr>
        <p:spPr>
          <a:xfrm xmlns:a="http://schemas.openxmlformats.org/drawingml/2006/main">
            <a:off x="628650" y="876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화면 단위 오너십으로 6일 안에 통합</a:t>
            </a:r>
          </a:p>
        </p:txBody>
      </p:sp>
      <p:sp>
        <p:nvSpPr>
          <p:cNvPr id="6" name="">
            <a:extLst xmlns:a="http://schemas.openxmlformats.org/drawingml/2006/main">
              <a:ext uri="{FF2B5EF4-FFF2-40B4-BE49-F238E27FC236}">
                <a16:creationId xmlns:a16="http://schemas.microsoft.com/office/drawing/2014/main" id="{3D42B5F1-9E70-43DB-9DA3-DF80E908361E}"/>
              </a:ext>
            </a:extLst>
          </p:cNvPr>
          <p:cNvSpPr>
            <a:spLocks xmlns:a="http://schemas.openxmlformats.org/drawingml/2006/main" noGrp="1"/>
          </p:cNvSpPr>
          <p:nvPr/>
        </p:nvSpPr>
        <p:spPr>
          <a:xfrm xmlns:a="http://schemas.openxmlformats.org/drawingml/2006/main">
            <a:off x="6286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83A0A1-35D8-4D56-A3BB-90EF018AFFFA}"/>
              </a:ext>
            </a:extLst>
          </p:cNvPr>
          <p:cNvSpPr>
            <a:spLocks xmlns:a="http://schemas.openxmlformats.org/drawingml/2006/main" noGrp="1"/>
          </p:cNvSpPr>
          <p:nvPr/>
        </p:nvSpPr>
        <p:spPr>
          <a:xfrm xmlns:a="http://schemas.openxmlformats.org/drawingml/2006/main">
            <a:off x="6286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09.08</a:t>
            </a:r>
          </a:p>
        </p:txBody>
      </p:sp>
      <p:sp>
        <p:nvSpPr>
          <p:cNvPr id="8" name="">
            <a:extLst xmlns:a="http://schemas.openxmlformats.org/drawingml/2006/main">
              <a:ext uri="{FF2B5EF4-FFF2-40B4-BE49-F238E27FC236}">
                <a16:creationId xmlns:a16="http://schemas.microsoft.com/office/drawing/2014/main" id="{25128322-67FA-434D-9843-3431BC2D29CC}"/>
              </a:ext>
            </a:extLst>
          </p:cNvPr>
          <p:cNvSpPr>
            <a:spLocks xmlns:a="http://schemas.openxmlformats.org/drawingml/2006/main" noGrp="1"/>
          </p:cNvSpPr>
          <p:nvPr/>
        </p:nvSpPr>
        <p:spPr>
          <a:xfrm xmlns:a="http://schemas.openxmlformats.org/drawingml/2006/main">
            <a:off x="6286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기획</a:t>
            </a:r>
          </a:p>
        </p:txBody>
      </p:sp>
      <p:sp>
        <p:nvSpPr>
          <p:cNvPr id="9" name="">
            <a:extLst xmlns:a="http://schemas.openxmlformats.org/drawingml/2006/main">
              <a:ext uri="{FF2B5EF4-FFF2-40B4-BE49-F238E27FC236}">
                <a16:creationId xmlns:a16="http://schemas.microsoft.com/office/drawing/2014/main" id="{96540C06-7FAB-4674-B570-5307A27DDA1F}"/>
              </a:ext>
            </a:extLst>
          </p:cNvPr>
          <p:cNvSpPr>
            <a:spLocks xmlns:a="http://schemas.openxmlformats.org/drawingml/2006/main" noGrp="1"/>
          </p:cNvSpPr>
          <p:nvPr/>
        </p:nvSpPr>
        <p:spPr>
          <a:xfrm xmlns:a="http://schemas.openxmlformats.org/drawingml/2006/main">
            <a:off x="6286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역할·화면 범위와 Git 전략</a:t>
            </a:r>
          </a:p>
        </p:txBody>
      </p:sp>
      <p:sp>
        <p:nvSpPr>
          <p:cNvPr id="10" name="">
            <a:extLst xmlns:a="http://schemas.openxmlformats.org/drawingml/2006/main">
              <a:ext uri="{FF2B5EF4-FFF2-40B4-BE49-F238E27FC236}">
                <a16:creationId xmlns:a16="http://schemas.microsoft.com/office/drawing/2014/main" id="{F562B7F1-8AC1-4304-8BC8-BDCBFBE9974C}"/>
              </a:ext>
            </a:extLst>
          </p:cNvPr>
          <p:cNvSpPr>
            <a:spLocks xmlns:a="http://schemas.openxmlformats.org/drawingml/2006/main" noGrp="1"/>
          </p:cNvSpPr>
          <p:nvPr/>
        </p:nvSpPr>
        <p:spPr>
          <a:xfrm xmlns:a="http://schemas.openxmlformats.org/drawingml/2006/main">
            <a:off x="281940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69782C-5CFD-44FC-9E1B-19FC27152208}"/>
              </a:ext>
            </a:extLst>
          </p:cNvPr>
          <p:cNvSpPr>
            <a:spLocks xmlns:a="http://schemas.openxmlformats.org/drawingml/2006/main" noGrp="1"/>
          </p:cNvSpPr>
          <p:nvPr/>
        </p:nvSpPr>
        <p:spPr>
          <a:xfrm xmlns:a="http://schemas.openxmlformats.org/drawingml/2006/main">
            <a:off x="281940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09.09</a:t>
            </a:r>
          </a:p>
        </p:txBody>
      </p:sp>
      <p:sp>
        <p:nvSpPr>
          <p:cNvPr id="12" name="">
            <a:extLst xmlns:a="http://schemas.openxmlformats.org/drawingml/2006/main">
              <a:ext uri="{FF2B5EF4-FFF2-40B4-BE49-F238E27FC236}">
                <a16:creationId xmlns:a16="http://schemas.microsoft.com/office/drawing/2014/main" id="{E892ADE0-190B-4AD2-8610-4317DBFD5629}"/>
              </a:ext>
            </a:extLst>
          </p:cNvPr>
          <p:cNvSpPr>
            <a:spLocks xmlns:a="http://schemas.openxmlformats.org/drawingml/2006/main" noGrp="1"/>
          </p:cNvSpPr>
          <p:nvPr/>
        </p:nvSpPr>
        <p:spPr>
          <a:xfrm xmlns:a="http://schemas.openxmlformats.org/drawingml/2006/main">
            <a:off x="281940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기반</a:t>
            </a:r>
          </a:p>
        </p:txBody>
      </p:sp>
      <p:sp>
        <p:nvSpPr>
          <p:cNvPr id="13" name="">
            <a:extLst xmlns:a="http://schemas.openxmlformats.org/drawingml/2006/main">
              <a:ext uri="{FF2B5EF4-FFF2-40B4-BE49-F238E27FC236}">
                <a16:creationId xmlns:a16="http://schemas.microsoft.com/office/drawing/2014/main" id="{EE5D024C-B6B6-4711-92F4-CA6CB1B7B095}"/>
              </a:ext>
            </a:extLst>
          </p:cNvPr>
          <p:cNvSpPr>
            <a:spLocks xmlns:a="http://schemas.openxmlformats.org/drawingml/2006/main" noGrp="1"/>
          </p:cNvSpPr>
          <p:nvPr/>
        </p:nvSpPr>
        <p:spPr>
          <a:xfrm xmlns:a="http://schemas.openxmlformats.org/drawingml/2006/main">
            <a:off x="281940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DB와 공통 화면 뼈대</a:t>
            </a:r>
          </a:p>
        </p:txBody>
      </p:sp>
      <p:sp>
        <p:nvSpPr>
          <p:cNvPr id="14" name="">
            <a:extLst xmlns:a="http://schemas.openxmlformats.org/drawingml/2006/main">
              <a:ext uri="{FF2B5EF4-FFF2-40B4-BE49-F238E27FC236}">
                <a16:creationId xmlns:a16="http://schemas.microsoft.com/office/drawing/2014/main" id="{7BDA76EE-ACD1-4E0D-86CA-3DFD5BCEB5BB}"/>
              </a:ext>
            </a:extLst>
          </p:cNvPr>
          <p:cNvSpPr>
            <a:spLocks xmlns:a="http://schemas.openxmlformats.org/drawingml/2006/main" noGrp="1"/>
          </p:cNvSpPr>
          <p:nvPr/>
        </p:nvSpPr>
        <p:spPr>
          <a:xfrm xmlns:a="http://schemas.openxmlformats.org/drawingml/2006/main">
            <a:off x="50101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E66B552-4D25-45E9-9ABC-813A26CDE31E}"/>
              </a:ext>
            </a:extLst>
          </p:cNvPr>
          <p:cNvSpPr>
            <a:spLocks xmlns:a="http://schemas.openxmlformats.org/drawingml/2006/main" noGrp="1"/>
          </p:cNvSpPr>
          <p:nvPr/>
        </p:nvSpPr>
        <p:spPr>
          <a:xfrm xmlns:a="http://schemas.openxmlformats.org/drawingml/2006/main">
            <a:off x="50101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09.10–11</a:t>
            </a:r>
          </a:p>
        </p:txBody>
      </p:sp>
      <p:sp>
        <p:nvSpPr>
          <p:cNvPr id="16" name="">
            <a:extLst xmlns:a="http://schemas.openxmlformats.org/drawingml/2006/main">
              <a:ext uri="{FF2B5EF4-FFF2-40B4-BE49-F238E27FC236}">
                <a16:creationId xmlns:a16="http://schemas.microsoft.com/office/drawing/2014/main" id="{6FB5BEEE-9CF0-4B74-B358-7CE022D709B0}"/>
              </a:ext>
            </a:extLst>
          </p:cNvPr>
          <p:cNvSpPr>
            <a:spLocks xmlns:a="http://schemas.openxmlformats.org/drawingml/2006/main" noGrp="1"/>
          </p:cNvSpPr>
          <p:nvPr/>
        </p:nvSpPr>
        <p:spPr>
          <a:xfrm xmlns:a="http://schemas.openxmlformats.org/drawingml/2006/main">
            <a:off x="50101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연결</a:t>
            </a:r>
          </a:p>
        </p:txBody>
      </p:sp>
      <p:sp>
        <p:nvSpPr>
          <p:cNvPr id="17" name="">
            <a:extLst xmlns:a="http://schemas.openxmlformats.org/drawingml/2006/main">
              <a:ext uri="{FF2B5EF4-FFF2-40B4-BE49-F238E27FC236}">
                <a16:creationId xmlns:a16="http://schemas.microsoft.com/office/drawing/2014/main" id="{DD63D954-4C05-4181-BFCC-BF867BED4BBC}"/>
              </a:ext>
            </a:extLst>
          </p:cNvPr>
          <p:cNvSpPr>
            <a:spLocks xmlns:a="http://schemas.openxmlformats.org/drawingml/2006/main" noGrp="1"/>
          </p:cNvSpPr>
          <p:nvPr/>
        </p:nvSpPr>
        <p:spPr>
          <a:xfrm xmlns:a="http://schemas.openxmlformats.org/drawingml/2006/main">
            <a:off x="50101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일정·결과·SMS·설문</a:t>
            </a:r>
          </a:p>
        </p:txBody>
      </p:sp>
      <p:sp>
        <p:nvSpPr>
          <p:cNvPr id="18" name="">
            <a:extLst xmlns:a="http://schemas.openxmlformats.org/drawingml/2006/main">
              <a:ext uri="{FF2B5EF4-FFF2-40B4-BE49-F238E27FC236}">
                <a16:creationId xmlns:a16="http://schemas.microsoft.com/office/drawing/2014/main" id="{53A11B53-AE2B-44CE-86E4-FBAA8E929C73}"/>
              </a:ext>
            </a:extLst>
          </p:cNvPr>
          <p:cNvSpPr>
            <a:spLocks xmlns:a="http://schemas.openxmlformats.org/drawingml/2006/main" noGrp="1"/>
          </p:cNvSpPr>
          <p:nvPr/>
        </p:nvSpPr>
        <p:spPr>
          <a:xfrm xmlns:a="http://schemas.openxmlformats.org/drawingml/2006/main">
            <a:off x="7200900" y="1952625"/>
            <a:ext cx="1695450" cy="285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8569AA3-97C9-4141-8B3B-7553C82A8360}"/>
              </a:ext>
            </a:extLst>
          </p:cNvPr>
          <p:cNvSpPr>
            <a:spLocks xmlns:a="http://schemas.openxmlformats.org/drawingml/2006/main" noGrp="1"/>
          </p:cNvSpPr>
          <p:nvPr/>
        </p:nvSpPr>
        <p:spPr>
          <a:xfrm xmlns:a="http://schemas.openxmlformats.org/drawingml/2006/main">
            <a:off x="720090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09.14</a:t>
            </a:r>
          </a:p>
        </p:txBody>
      </p:sp>
      <p:sp>
        <p:nvSpPr>
          <p:cNvPr id="20" name="">
            <a:extLst xmlns:a="http://schemas.openxmlformats.org/drawingml/2006/main">
              <a:ext uri="{FF2B5EF4-FFF2-40B4-BE49-F238E27FC236}">
                <a16:creationId xmlns:a16="http://schemas.microsoft.com/office/drawing/2014/main" id="{C87B554B-2B85-4C67-8060-E55EEF4D8FC3}"/>
              </a:ext>
            </a:extLst>
          </p:cNvPr>
          <p:cNvSpPr>
            <a:spLocks xmlns:a="http://schemas.openxmlformats.org/drawingml/2006/main" noGrp="1"/>
          </p:cNvSpPr>
          <p:nvPr/>
        </p:nvSpPr>
        <p:spPr>
          <a:xfrm xmlns:a="http://schemas.openxmlformats.org/drawingml/2006/main">
            <a:off x="720090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개선</a:t>
            </a:r>
          </a:p>
        </p:txBody>
      </p:sp>
      <p:sp>
        <p:nvSpPr>
          <p:cNvPr id="21" name="">
            <a:extLst xmlns:a="http://schemas.openxmlformats.org/drawingml/2006/main">
              <a:ext uri="{FF2B5EF4-FFF2-40B4-BE49-F238E27FC236}">
                <a16:creationId xmlns:a16="http://schemas.microsoft.com/office/drawing/2014/main" id="{98FE49EE-96FA-421B-8BD2-9F7DB06EC6B7}"/>
              </a:ext>
            </a:extLst>
          </p:cNvPr>
          <p:cNvSpPr>
            <a:spLocks xmlns:a="http://schemas.openxmlformats.org/drawingml/2006/main" noGrp="1"/>
          </p:cNvSpPr>
          <p:nvPr/>
        </p:nvSpPr>
        <p:spPr>
          <a:xfrm xmlns:a="http://schemas.openxmlformats.org/drawingml/2006/main">
            <a:off x="720090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오류 수정·통계·디자인 통합</a:t>
            </a:r>
          </a:p>
        </p:txBody>
      </p:sp>
      <p:sp>
        <p:nvSpPr>
          <p:cNvPr id="22" name="">
            <a:extLst xmlns:a="http://schemas.openxmlformats.org/drawingml/2006/main">
              <a:ext uri="{FF2B5EF4-FFF2-40B4-BE49-F238E27FC236}">
                <a16:creationId xmlns:a16="http://schemas.microsoft.com/office/drawing/2014/main" id="{739D8F8E-65C6-4D53-AF82-FE7130A70FC4}"/>
              </a:ext>
            </a:extLst>
          </p:cNvPr>
          <p:cNvSpPr>
            <a:spLocks xmlns:a="http://schemas.openxmlformats.org/drawingml/2006/main" noGrp="1"/>
          </p:cNvSpPr>
          <p:nvPr/>
        </p:nvSpPr>
        <p:spPr>
          <a:xfrm xmlns:a="http://schemas.openxmlformats.org/drawingml/2006/main">
            <a:off x="9391650" y="1952625"/>
            <a:ext cx="1695450" cy="285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36E66A-613F-445D-A690-D20C1A6AD380}"/>
              </a:ext>
            </a:extLst>
          </p:cNvPr>
          <p:cNvSpPr>
            <a:spLocks xmlns:a="http://schemas.openxmlformats.org/drawingml/2006/main" noGrp="1"/>
          </p:cNvSpPr>
          <p:nvPr/>
        </p:nvSpPr>
        <p:spPr>
          <a:xfrm xmlns:a="http://schemas.openxmlformats.org/drawingml/2006/main">
            <a:off x="9391650" y="2133600"/>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09.15</a:t>
            </a:r>
          </a:p>
        </p:txBody>
      </p:sp>
      <p:sp>
        <p:nvSpPr>
          <p:cNvPr id="24" name="">
            <a:extLst xmlns:a="http://schemas.openxmlformats.org/drawingml/2006/main">
              <a:ext uri="{FF2B5EF4-FFF2-40B4-BE49-F238E27FC236}">
                <a16:creationId xmlns:a16="http://schemas.microsoft.com/office/drawing/2014/main" id="{4CFA990F-BF18-4B68-9ACC-22AA8D5B3F93}"/>
              </a:ext>
            </a:extLst>
          </p:cNvPr>
          <p:cNvSpPr>
            <a:spLocks xmlns:a="http://schemas.openxmlformats.org/drawingml/2006/main" noGrp="1"/>
          </p:cNvSpPr>
          <p:nvPr/>
        </p:nvSpPr>
        <p:spPr>
          <a:xfrm xmlns:a="http://schemas.openxmlformats.org/drawingml/2006/main">
            <a:off x="9391650" y="25336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맑은 고딕"/>
                <a:ea typeface="맑은 고딕"/>
                <a:cs typeface="맑은 고딕"/>
              </a:defRPr>
            </a:pPr>
            <a:r>
              <a:rPr sz="1650" b="1">
                <a:solidFill>
                  <a:srgbClr val="FFFFFF"/>
                </a:solidFill>
                <a:latin typeface="맑은 고딕"/>
                <a:ea typeface="맑은 고딕"/>
                <a:cs typeface="맑은 고딕"/>
              </a:rPr>
              <a:t>검증</a:t>
            </a:r>
          </a:p>
        </p:txBody>
      </p:sp>
      <p:sp>
        <p:nvSpPr>
          <p:cNvPr id="25" name="">
            <a:extLst xmlns:a="http://schemas.openxmlformats.org/drawingml/2006/main">
              <a:ext uri="{FF2B5EF4-FFF2-40B4-BE49-F238E27FC236}">
                <a16:creationId xmlns:a16="http://schemas.microsoft.com/office/drawing/2014/main" id="{A8F68CA8-E556-4492-83C4-DED085783B0A}"/>
              </a:ext>
            </a:extLst>
          </p:cNvPr>
          <p:cNvSpPr>
            <a:spLocks xmlns:a="http://schemas.openxmlformats.org/drawingml/2006/main" noGrp="1"/>
          </p:cNvSpPr>
          <p:nvPr/>
        </p:nvSpPr>
        <p:spPr>
          <a:xfrm xmlns:a="http://schemas.openxmlformats.org/drawingml/2006/main">
            <a:off x="9391650" y="29527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FB2BE"/>
                </a:solidFill>
                <a:latin typeface="맑은 고딕"/>
                <a:ea typeface="맑은 고딕"/>
                <a:cs typeface="맑은 고딕"/>
              </a:defRPr>
            </a:pPr>
            <a:r>
              <a:rPr sz="1050" b="0">
                <a:solidFill>
                  <a:srgbClr val="9FB2BE"/>
                </a:solidFill>
                <a:latin typeface="맑은 고딕"/>
                <a:ea typeface="맑은 고딕"/>
                <a:cs typeface="맑은 고딕"/>
              </a:rPr>
              <a:t>더미 데이터·빌드·테스트</a:t>
            </a:r>
          </a:p>
        </p:txBody>
      </p:sp>
      <p:sp>
        <p:nvSpPr>
          <p:cNvPr id="26" name="">
            <a:extLst xmlns:a="http://schemas.openxmlformats.org/drawingml/2006/main">
              <a:ext uri="{FF2B5EF4-FFF2-40B4-BE49-F238E27FC236}">
                <a16:creationId xmlns:a16="http://schemas.microsoft.com/office/drawing/2014/main" id="{FE6F98F2-3DAB-41A6-BF02-1CEE2638E30B}"/>
              </a:ext>
            </a:extLst>
          </p:cNvPr>
          <p:cNvSpPr>
            <a:spLocks xmlns:a="http://schemas.openxmlformats.org/drawingml/2006/main" noGrp="1"/>
          </p:cNvSpPr>
          <p:nvPr/>
        </p:nvSpPr>
        <p:spPr>
          <a:xfrm xmlns:a="http://schemas.openxmlformats.org/drawingml/2006/main">
            <a:off x="628650" y="3943350"/>
            <a:ext cx="10934700" cy="9525"/>
          </a:xfrm>
          <a:prstGeom xmlns:a="http://schemas.openxmlformats.org/drawingml/2006/main" prst="rect">
            <a:avLst/>
          </a:prstGeom>
          <a:solidFill xmlns:a="http://schemas.openxmlformats.org/drawingml/2006/main">
            <a:srgbClr val="27425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DA7987A-DDB4-4172-950F-47C249F67D2B}"/>
              </a:ext>
            </a:extLst>
          </p:cNvPr>
          <p:cNvSpPr>
            <a:spLocks xmlns:a="http://schemas.openxmlformats.org/drawingml/2006/main" noGrp="1"/>
          </p:cNvSpPr>
          <p:nvPr/>
        </p:nvSpPr>
        <p:spPr>
          <a:xfrm xmlns:a="http://schemas.openxmlformats.org/drawingml/2006/main">
            <a:off x="628650" y="4248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ROLE OWNERSHIP</a:t>
            </a:r>
          </a:p>
        </p:txBody>
      </p:sp>
      <p:sp>
        <p:nvSpPr>
          <p:cNvPr id="28" name="">
            <a:extLst xmlns:a="http://schemas.openxmlformats.org/drawingml/2006/main">
              <a:ext uri="{FF2B5EF4-FFF2-40B4-BE49-F238E27FC236}">
                <a16:creationId xmlns:a16="http://schemas.microsoft.com/office/drawing/2014/main" id="{FE6F8FC6-ADF4-49EA-8E3D-8A7F47B66BA9}"/>
              </a:ext>
            </a:extLst>
          </p:cNvPr>
          <p:cNvSpPr>
            <a:spLocks xmlns:a="http://schemas.openxmlformats.org/drawingml/2006/main" noGrp="1"/>
          </p:cNvSpPr>
          <p:nvPr/>
        </p:nvSpPr>
        <p:spPr>
          <a:xfrm xmlns:a="http://schemas.openxmlformats.org/drawingml/2006/main">
            <a:off x="628650" y="46863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공통·로그인·통합</a:t>
            </a:r>
          </a:p>
        </p:txBody>
      </p:sp>
      <p:sp>
        <p:nvSpPr>
          <p:cNvPr id="29" name="">
            <a:extLst xmlns:a="http://schemas.openxmlformats.org/drawingml/2006/main">
              <a:ext uri="{FF2B5EF4-FFF2-40B4-BE49-F238E27FC236}">
                <a16:creationId xmlns:a16="http://schemas.microsoft.com/office/drawing/2014/main" id="{D353C9F5-7CC3-4EA0-B7B3-6C1B424C23E1}"/>
              </a:ext>
            </a:extLst>
          </p:cNvPr>
          <p:cNvSpPr>
            <a:spLocks xmlns:a="http://schemas.openxmlformats.org/drawingml/2006/main" noGrp="1"/>
          </p:cNvSpPr>
          <p:nvPr/>
        </p:nvSpPr>
        <p:spPr>
          <a:xfrm xmlns:a="http://schemas.openxmlformats.org/drawingml/2006/main">
            <a:off x="6286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1A5B2"/>
                </a:solidFill>
                <a:latin typeface="맑은 고딕"/>
                <a:ea typeface="맑은 고딕"/>
                <a:cs typeface="맑은 고딕"/>
              </a:defRPr>
            </a:pPr>
            <a:r>
              <a:rPr sz="1050" b="0">
                <a:solidFill>
                  <a:srgbClr val="91A5B2"/>
                </a:solidFill>
                <a:latin typeface="맑은 고딕"/>
                <a:ea typeface="맑은 고딕"/>
                <a:cs typeface="맑은 고딕"/>
              </a:rPr>
              <a:t>팀장명 입력</a:t>
            </a:r>
          </a:p>
        </p:txBody>
      </p:sp>
      <p:sp>
        <p:nvSpPr>
          <p:cNvPr id="30" name="">
            <a:extLst xmlns:a="http://schemas.openxmlformats.org/drawingml/2006/main">
              <a:ext uri="{FF2B5EF4-FFF2-40B4-BE49-F238E27FC236}">
                <a16:creationId xmlns:a16="http://schemas.microsoft.com/office/drawing/2014/main" id="{0F9358D3-24AA-44C9-9754-6F6629C134F4}"/>
              </a:ext>
            </a:extLst>
          </p:cNvPr>
          <p:cNvSpPr>
            <a:spLocks xmlns:a="http://schemas.openxmlformats.org/drawingml/2006/main" noGrp="1"/>
          </p:cNvSpPr>
          <p:nvPr/>
        </p:nvSpPr>
        <p:spPr>
          <a:xfrm xmlns:a="http://schemas.openxmlformats.org/drawingml/2006/main">
            <a:off x="3333750" y="46863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관리자 대시보드·기사관리</a:t>
            </a:r>
          </a:p>
        </p:txBody>
      </p:sp>
      <p:sp>
        <p:nvSpPr>
          <p:cNvPr id="31" name="">
            <a:extLst xmlns:a="http://schemas.openxmlformats.org/drawingml/2006/main">
              <a:ext uri="{FF2B5EF4-FFF2-40B4-BE49-F238E27FC236}">
                <a16:creationId xmlns:a16="http://schemas.microsoft.com/office/drawing/2014/main" id="{4D5F930E-14D5-4BB2-BA57-2DD997608615}"/>
              </a:ext>
            </a:extLst>
          </p:cNvPr>
          <p:cNvSpPr>
            <a:spLocks xmlns:a="http://schemas.openxmlformats.org/drawingml/2006/main" noGrp="1"/>
          </p:cNvSpPr>
          <p:nvPr/>
        </p:nvSpPr>
        <p:spPr>
          <a:xfrm xmlns:a="http://schemas.openxmlformats.org/drawingml/2006/main">
            <a:off x="33337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6B4A"/>
                </a:solidFill>
                <a:latin typeface="맑은 고딕"/>
                <a:ea typeface="맑은 고딕"/>
                <a:cs typeface="맑은 고딕"/>
              </a:defRPr>
            </a:pPr>
            <a:r>
              <a:rPr sz="1050" b="1">
                <a:solidFill>
                  <a:srgbClr val="FF6B4A"/>
                </a:solidFill>
                <a:latin typeface="맑은 고딕"/>
                <a:ea typeface="맑은 고딕"/>
                <a:cs typeface="맑은 고딕"/>
              </a:rPr>
              <a:t>최준영</a:t>
            </a:r>
          </a:p>
        </p:txBody>
      </p:sp>
      <p:sp>
        <p:nvSpPr>
          <p:cNvPr id="32" name="">
            <a:extLst xmlns:a="http://schemas.openxmlformats.org/drawingml/2006/main">
              <a:ext uri="{FF2B5EF4-FFF2-40B4-BE49-F238E27FC236}">
                <a16:creationId xmlns:a16="http://schemas.microsoft.com/office/drawing/2014/main" id="{70060414-208F-4034-AFF9-A8992516AA76}"/>
              </a:ext>
            </a:extLst>
          </p:cNvPr>
          <p:cNvSpPr>
            <a:spLocks xmlns:a="http://schemas.openxmlformats.org/drawingml/2006/main" noGrp="1"/>
          </p:cNvSpPr>
          <p:nvPr/>
        </p:nvSpPr>
        <p:spPr>
          <a:xfrm xmlns:a="http://schemas.openxmlformats.org/drawingml/2006/main">
            <a:off x="6172200" y="46863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관리자 일정관리</a:t>
            </a:r>
          </a:p>
        </p:txBody>
      </p:sp>
      <p:sp>
        <p:nvSpPr>
          <p:cNvPr id="33" name="">
            <a:extLst xmlns:a="http://schemas.openxmlformats.org/drawingml/2006/main">
              <a:ext uri="{FF2B5EF4-FFF2-40B4-BE49-F238E27FC236}">
                <a16:creationId xmlns:a16="http://schemas.microsoft.com/office/drawing/2014/main" id="{374761B0-F1C4-42E1-8239-F2B22B87575E}"/>
              </a:ext>
            </a:extLst>
          </p:cNvPr>
          <p:cNvSpPr>
            <a:spLocks xmlns:a="http://schemas.openxmlformats.org/drawingml/2006/main" noGrp="1"/>
          </p:cNvSpPr>
          <p:nvPr/>
        </p:nvSpPr>
        <p:spPr>
          <a:xfrm xmlns:a="http://schemas.openxmlformats.org/drawingml/2006/main">
            <a:off x="617220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BBDD3C"/>
                </a:solidFill>
                <a:latin typeface="맑은 고딕"/>
                <a:ea typeface="맑은 고딕"/>
                <a:cs typeface="맑은 고딕"/>
              </a:defRPr>
            </a:pPr>
            <a:r>
              <a:rPr sz="1050" b="1">
                <a:solidFill>
                  <a:srgbClr val="BBDD3C"/>
                </a:solidFill>
                <a:latin typeface="맑은 고딕"/>
                <a:ea typeface="맑은 고딕"/>
                <a:cs typeface="맑은 고딕"/>
              </a:rPr>
              <a:t>김성준</a:t>
            </a:r>
          </a:p>
        </p:txBody>
      </p:sp>
      <p:sp>
        <p:nvSpPr>
          <p:cNvPr id="34" name="">
            <a:extLst xmlns:a="http://schemas.openxmlformats.org/drawingml/2006/main">
              <a:ext uri="{FF2B5EF4-FFF2-40B4-BE49-F238E27FC236}">
                <a16:creationId xmlns:a16="http://schemas.microsoft.com/office/drawing/2014/main" id="{A78E18CF-C109-4CED-9110-A50684EEF834}"/>
              </a:ext>
            </a:extLst>
          </p:cNvPr>
          <p:cNvSpPr>
            <a:spLocks xmlns:a="http://schemas.openxmlformats.org/drawingml/2006/main" noGrp="1"/>
          </p:cNvSpPr>
          <p:nvPr/>
        </p:nvSpPr>
        <p:spPr>
          <a:xfrm xmlns:a="http://schemas.openxmlformats.org/drawingml/2006/main">
            <a:off x="8782050" y="46863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맑은 고딕"/>
                <a:ea typeface="맑은 고딕"/>
                <a:cs typeface="맑은 고딕"/>
              </a:defRPr>
            </a:pPr>
            <a:r>
              <a:rPr sz="1350" b="1">
                <a:solidFill>
                  <a:srgbClr val="FFFFFF"/>
                </a:solidFill>
                <a:latin typeface="맑은 고딕"/>
                <a:ea typeface="맑은 고딕"/>
                <a:cs typeface="맑은 고딕"/>
              </a:rPr>
              <a:t>기사·결과·SMS·만족도</a:t>
            </a:r>
          </a:p>
        </p:txBody>
      </p:sp>
      <p:sp>
        <p:nvSpPr>
          <p:cNvPr id="35" name="">
            <a:extLst xmlns:a="http://schemas.openxmlformats.org/drawingml/2006/main">
              <a:ext uri="{FF2B5EF4-FFF2-40B4-BE49-F238E27FC236}">
                <a16:creationId xmlns:a16="http://schemas.microsoft.com/office/drawing/2014/main" id="{168AECD2-4824-4BFD-983C-54247320F44F}"/>
              </a:ext>
            </a:extLst>
          </p:cNvPr>
          <p:cNvSpPr>
            <a:spLocks xmlns:a="http://schemas.openxmlformats.org/drawingml/2006/main" noGrp="1"/>
          </p:cNvSpPr>
          <p:nvPr/>
        </p:nvSpPr>
        <p:spPr>
          <a:xfrm xmlns:a="http://schemas.openxmlformats.org/drawingml/2006/main">
            <a:off x="8782050" y="50482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0D5C4"/>
                </a:solidFill>
                <a:latin typeface="맑은 고딕"/>
                <a:ea typeface="맑은 고딕"/>
                <a:cs typeface="맑은 고딕"/>
              </a:defRPr>
            </a:pPr>
            <a:r>
              <a:rPr sz="1050" b="1">
                <a:solidFill>
                  <a:srgbClr val="20D5C4"/>
                </a:solidFill>
                <a:latin typeface="맑은 고딕"/>
                <a:ea typeface="맑은 고딕"/>
                <a:cs typeface="맑은 고딕"/>
              </a:rPr>
              <a:t>박성인</a:t>
            </a:r>
          </a:p>
        </p:txBody>
      </p:sp>
      <p:sp>
        <p:nvSpPr>
          <p:cNvPr id="36" name="">
            <a:extLst xmlns:a="http://schemas.openxmlformats.org/drawingml/2006/main">
              <a:ext uri="{FF2B5EF4-FFF2-40B4-BE49-F238E27FC236}">
                <a16:creationId xmlns:a16="http://schemas.microsoft.com/office/drawing/2014/main" id="{AB2618C9-2F90-4BDE-934B-7B5F196D10D8}"/>
              </a:ext>
            </a:extLst>
          </p:cNvPr>
          <p:cNvSpPr>
            <a:spLocks xmlns:a="http://schemas.openxmlformats.org/drawingml/2006/main" noGrp="1"/>
          </p:cNvSpPr>
          <p:nvPr/>
        </p:nvSpPr>
        <p:spPr>
          <a:xfrm xmlns:a="http://schemas.openxmlformats.org/drawingml/2006/main">
            <a:off x="628650" y="59436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298A6"/>
                </a:solidFill>
                <a:latin typeface="맑은 고딕"/>
                <a:ea typeface="맑은 고딕"/>
                <a:cs typeface="맑은 고딕"/>
              </a:defRPr>
            </a:pPr>
            <a:r>
              <a:rPr sz="975" b="0">
                <a:solidFill>
                  <a:srgbClr val="8298A6"/>
                </a:solidFill>
                <a:latin typeface="맑은 고딕"/>
                <a:ea typeface="맑은 고딕"/>
                <a:cs typeface="맑은 고딕"/>
              </a:rPr>
              <a:t>멘토 지원 내역은 실제 피드백 내용 입력 필요</a:t>
            </a:r>
          </a:p>
        </p:txBody>
      </p:sp>
    </p:spTree>
    <p:extLst>
      <p:ext uri="{BB962C8B-B14F-4D97-AF65-F5344CB8AC3E}">
        <p14:creationId xmlns:p14="http://schemas.microsoft.com/office/powerpoint/2010/main" val="18108603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4583C4B-ED8C-498F-AC33-87BE1524946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22BB0D-0FBA-4344-8102-8CDB0AE9EF12}"/>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99F01233-3C5F-42B7-9205-4FFC30D32168}"/>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11</a:t>
            </a:r>
          </a:p>
        </p:txBody>
      </p:sp>
      <p:sp>
        <p:nvSpPr>
          <p:cNvPr id="4" name="">
            <a:extLst xmlns:a="http://schemas.openxmlformats.org/drawingml/2006/main">
              <a:ext uri="{FF2B5EF4-FFF2-40B4-BE49-F238E27FC236}">
                <a16:creationId xmlns:a16="http://schemas.microsoft.com/office/drawing/2014/main" id="{7A193E57-A555-4F63-9015-AC3EE581AB0A}"/>
              </a:ext>
            </a:extLst>
          </p:cNvPr>
          <p:cNvSpPr>
            <a:spLocks xmlns:a="http://schemas.openxmlformats.org/drawingml/2006/main" noGrp="1"/>
          </p:cNvSpPr>
          <p:nvPr/>
        </p:nvSpPr>
        <p:spPr>
          <a:xfrm xmlns:a="http://schemas.openxmlformats.org/drawingml/2006/main">
            <a:off x="628650" y="552450"/>
            <a:ext cx="704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ENGINEERING</a:t>
            </a:r>
          </a:p>
        </p:txBody>
      </p:sp>
      <p:sp>
        <p:nvSpPr>
          <p:cNvPr id="5" name="">
            <a:extLst xmlns:a="http://schemas.openxmlformats.org/drawingml/2006/main">
              <a:ext uri="{FF2B5EF4-FFF2-40B4-BE49-F238E27FC236}">
                <a16:creationId xmlns:a16="http://schemas.microsoft.com/office/drawing/2014/main" id="{9768B119-AAA2-4FBB-A0B7-68DD3D70573C}"/>
              </a:ext>
            </a:extLst>
          </p:cNvPr>
          <p:cNvSpPr>
            <a:spLocks xmlns:a="http://schemas.openxmlformats.org/drawingml/2006/main" noGrp="1"/>
          </p:cNvSpPr>
          <p:nvPr/>
        </p:nvSpPr>
        <p:spPr>
          <a:xfrm xmlns:a="http://schemas.openxmlformats.org/drawingml/2006/main">
            <a:off x="628650" y="8763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교육과정의 기술을 실제 서비스 흐름으로 구현</a:t>
            </a:r>
          </a:p>
        </p:txBody>
      </p:sp>
      <p:sp>
        <p:nvSpPr>
          <p:cNvPr id="6" name="">
            <a:extLst xmlns:a="http://schemas.openxmlformats.org/drawingml/2006/main">
              <a:ext uri="{FF2B5EF4-FFF2-40B4-BE49-F238E27FC236}">
                <a16:creationId xmlns:a16="http://schemas.microsoft.com/office/drawing/2014/main" id="{C66C6412-C2A0-491B-B86D-2F2D5A012F20}"/>
              </a:ext>
            </a:extLst>
          </p:cNvPr>
          <p:cNvSpPr>
            <a:spLocks xmlns:a="http://schemas.openxmlformats.org/drawingml/2006/main" noGrp="1"/>
          </p:cNvSpPr>
          <p:nvPr/>
        </p:nvSpPr>
        <p:spPr>
          <a:xfrm xmlns:a="http://schemas.openxmlformats.org/drawingml/2006/main">
            <a:off x="628650" y="15716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295"/>
                </a:solidFill>
                <a:latin typeface="맑은 고딕"/>
                <a:ea typeface="맑은 고딕"/>
                <a:cs typeface="맑은 고딕"/>
              </a:defRPr>
            </a:pPr>
            <a:r>
              <a:rPr sz="1350" b="0">
                <a:solidFill>
                  <a:srgbClr val="718295"/>
                </a:solidFill>
                <a:latin typeface="맑은 고딕"/>
                <a:ea typeface="맑은 고딕"/>
                <a:cs typeface="맑은 고딕"/>
              </a:rPr>
              <a:t>Java 17 · Spring Boot 4.0.8 · Thymeleaf · MyBatis · MariaDB · FullCalendar · Solapi</a:t>
            </a:r>
          </a:p>
        </p:txBody>
      </p:sp>
      <p:sp>
        <p:nvSpPr>
          <p:cNvPr id="7" name="">
            <a:extLst xmlns:a="http://schemas.openxmlformats.org/drawingml/2006/main">
              <a:ext uri="{FF2B5EF4-FFF2-40B4-BE49-F238E27FC236}">
                <a16:creationId xmlns:a16="http://schemas.microsoft.com/office/drawing/2014/main" id="{FFDE0086-80F9-40E5-8F6F-C0B7273BDEF6}"/>
              </a:ext>
            </a:extLst>
          </p:cNvPr>
          <p:cNvSpPr>
            <a:spLocks xmlns:a="http://schemas.openxmlformats.org/drawingml/2006/main" noGrp="1"/>
          </p:cNvSpPr>
          <p:nvPr/>
        </p:nvSpPr>
        <p:spPr>
          <a:xfrm xmlns:a="http://schemas.openxmlformats.org/drawingml/2006/main">
            <a:off x="628650" y="2228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구현 근거</a:t>
            </a:r>
          </a:p>
        </p:txBody>
      </p:sp>
      <p:sp>
        <p:nvSpPr>
          <p:cNvPr id="8" name="">
            <a:extLst xmlns:a="http://schemas.openxmlformats.org/drawingml/2006/main">
              <a:ext uri="{FF2B5EF4-FFF2-40B4-BE49-F238E27FC236}">
                <a16:creationId xmlns:a16="http://schemas.microsoft.com/office/drawing/2014/main" id="{5052DF1A-36CE-404C-9705-D972DE825F8A}"/>
              </a:ext>
            </a:extLst>
          </p:cNvPr>
          <p:cNvSpPr>
            <a:spLocks xmlns:a="http://schemas.openxmlformats.org/drawingml/2006/main" noGrp="1"/>
          </p:cNvSpPr>
          <p:nvPr/>
        </p:nvSpPr>
        <p:spPr>
          <a:xfrm xmlns:a="http://schemas.openxmlformats.org/drawingml/2006/main">
            <a:off x="62865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AFA8"/>
                </a:solidFill>
                <a:latin typeface="맑은 고딕"/>
                <a:ea typeface="맑은 고딕"/>
                <a:cs typeface="맑은 고딕"/>
              </a:defRPr>
            </a:pPr>
            <a:r>
              <a:rPr sz="2850" b="1">
                <a:solidFill>
                  <a:srgbClr val="00AFA8"/>
                </a:solidFill>
                <a:latin typeface="맑은 고딕"/>
                <a:ea typeface="맑은 고딕"/>
                <a:cs typeface="맑은 고딕"/>
              </a:rPr>
              <a:t>6</a:t>
            </a:r>
          </a:p>
        </p:txBody>
      </p:sp>
      <p:sp>
        <p:nvSpPr>
          <p:cNvPr id="9" name="">
            <a:extLst xmlns:a="http://schemas.openxmlformats.org/drawingml/2006/main">
              <a:ext uri="{FF2B5EF4-FFF2-40B4-BE49-F238E27FC236}">
                <a16:creationId xmlns:a16="http://schemas.microsoft.com/office/drawing/2014/main" id="{2D7D71F7-382C-464A-8B7A-631D26850105}"/>
              </a:ext>
            </a:extLst>
          </p:cNvPr>
          <p:cNvSpPr>
            <a:spLocks xmlns:a="http://schemas.openxmlformats.org/drawingml/2006/main" noGrp="1"/>
          </p:cNvSpPr>
          <p:nvPr/>
        </p:nvSpPr>
        <p:spPr>
          <a:xfrm xmlns:a="http://schemas.openxmlformats.org/drawingml/2006/main">
            <a:off x="62865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연결된 DB 테이블</a:t>
            </a:r>
          </a:p>
        </p:txBody>
      </p:sp>
      <p:sp>
        <p:nvSpPr>
          <p:cNvPr id="10" name="">
            <a:extLst xmlns:a="http://schemas.openxmlformats.org/drawingml/2006/main">
              <a:ext uri="{FF2B5EF4-FFF2-40B4-BE49-F238E27FC236}">
                <a16:creationId xmlns:a16="http://schemas.microsoft.com/office/drawing/2014/main" id="{14E0CEEB-2821-475F-A647-A32BED92C49E}"/>
              </a:ext>
            </a:extLst>
          </p:cNvPr>
          <p:cNvSpPr>
            <a:spLocks xmlns:a="http://schemas.openxmlformats.org/drawingml/2006/main" noGrp="1"/>
          </p:cNvSpPr>
          <p:nvPr/>
        </p:nvSpPr>
        <p:spPr>
          <a:xfrm xmlns:a="http://schemas.openxmlformats.org/drawingml/2006/main">
            <a:off x="285750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B4A"/>
                </a:solidFill>
                <a:latin typeface="맑은 고딕"/>
                <a:ea typeface="맑은 고딕"/>
                <a:cs typeface="맑은 고딕"/>
              </a:defRPr>
            </a:pPr>
            <a:r>
              <a:rPr sz="2850" b="1">
                <a:solidFill>
                  <a:srgbClr val="FF6B4A"/>
                </a:solidFill>
                <a:latin typeface="맑은 고딕"/>
                <a:ea typeface="맑은 고딕"/>
                <a:cs typeface="맑은 고딕"/>
              </a:rPr>
              <a:t>4</a:t>
            </a:r>
          </a:p>
        </p:txBody>
      </p:sp>
      <p:sp>
        <p:nvSpPr>
          <p:cNvPr id="11" name="">
            <a:extLst xmlns:a="http://schemas.openxmlformats.org/drawingml/2006/main">
              <a:ext uri="{FF2B5EF4-FFF2-40B4-BE49-F238E27FC236}">
                <a16:creationId xmlns:a16="http://schemas.microsoft.com/office/drawing/2014/main" id="{6341C52B-4D8C-4A1A-8D9B-26938932822A}"/>
              </a:ext>
            </a:extLst>
          </p:cNvPr>
          <p:cNvSpPr>
            <a:spLocks xmlns:a="http://schemas.openxmlformats.org/drawingml/2006/main" noGrp="1"/>
          </p:cNvSpPr>
          <p:nvPr/>
        </p:nvSpPr>
        <p:spPr>
          <a:xfrm xmlns:a="http://schemas.openxmlformats.org/drawingml/2006/main">
            <a:off x="285750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자동 테스트 통과</a:t>
            </a:r>
          </a:p>
        </p:txBody>
      </p:sp>
      <p:sp>
        <p:nvSpPr>
          <p:cNvPr id="12" name="">
            <a:extLst xmlns:a="http://schemas.openxmlformats.org/drawingml/2006/main">
              <a:ext uri="{FF2B5EF4-FFF2-40B4-BE49-F238E27FC236}">
                <a16:creationId xmlns:a16="http://schemas.microsoft.com/office/drawing/2014/main" id="{0DB37BA3-34EB-4025-AB67-A6480C6B2E44}"/>
              </a:ext>
            </a:extLst>
          </p:cNvPr>
          <p:cNvSpPr>
            <a:spLocks xmlns:a="http://schemas.openxmlformats.org/drawingml/2006/main" noGrp="1"/>
          </p:cNvSpPr>
          <p:nvPr/>
        </p:nvSpPr>
        <p:spPr>
          <a:xfrm xmlns:a="http://schemas.openxmlformats.org/drawingml/2006/main">
            <a:off x="5086350" y="26479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BDD3C"/>
                </a:solidFill>
                <a:latin typeface="맑은 고딕"/>
                <a:ea typeface="맑은 고딕"/>
                <a:cs typeface="맑은 고딕"/>
              </a:defRPr>
            </a:pPr>
            <a:r>
              <a:rPr sz="2850" b="1">
                <a:solidFill>
                  <a:srgbClr val="BBDD3C"/>
                </a:solidFill>
                <a:latin typeface="맑은 고딕"/>
                <a:ea typeface="맑은 고딕"/>
                <a:cs typeface="맑은 고딕"/>
              </a:rPr>
              <a:t>2</a:t>
            </a:r>
          </a:p>
        </p:txBody>
      </p:sp>
      <p:sp>
        <p:nvSpPr>
          <p:cNvPr id="13" name="">
            <a:extLst xmlns:a="http://schemas.openxmlformats.org/drawingml/2006/main">
              <a:ext uri="{FF2B5EF4-FFF2-40B4-BE49-F238E27FC236}">
                <a16:creationId xmlns:a16="http://schemas.microsoft.com/office/drawing/2014/main" id="{536D38D1-0B53-489F-A828-D3377B742C02}"/>
              </a:ext>
            </a:extLst>
          </p:cNvPr>
          <p:cNvSpPr>
            <a:spLocks xmlns:a="http://schemas.openxmlformats.org/drawingml/2006/main" noGrp="1"/>
          </p:cNvSpPr>
          <p:nvPr/>
        </p:nvSpPr>
        <p:spPr>
          <a:xfrm xmlns:a="http://schemas.openxmlformats.org/drawingml/2006/main">
            <a:off x="5086350" y="3181350"/>
            <a:ext cx="195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295"/>
                </a:solidFill>
                <a:latin typeface="맑은 고딕"/>
                <a:ea typeface="맑은 고딕"/>
                <a:cs typeface="맑은 고딕"/>
              </a:defRPr>
            </a:pPr>
            <a:r>
              <a:rPr sz="1125" b="0">
                <a:solidFill>
                  <a:srgbClr val="718295"/>
                </a:solidFill>
                <a:latin typeface="맑은 고딕"/>
                <a:ea typeface="맑은 고딕"/>
                <a:cs typeface="맑은 고딕"/>
              </a:rPr>
              <a:t>결과 사진 최대 첨부</a:t>
            </a:r>
          </a:p>
        </p:txBody>
      </p:sp>
      <p:sp>
        <p:nvSpPr>
          <p:cNvPr id="14" name="">
            <a:extLst xmlns:a="http://schemas.openxmlformats.org/drawingml/2006/main">
              <a:ext uri="{FF2B5EF4-FFF2-40B4-BE49-F238E27FC236}">
                <a16:creationId xmlns:a16="http://schemas.microsoft.com/office/drawing/2014/main" id="{70792965-C9B0-4966-BE6B-5D1656CAD29D}"/>
              </a:ext>
            </a:extLst>
          </p:cNvPr>
          <p:cNvSpPr>
            <a:spLocks xmlns:a="http://schemas.openxmlformats.org/drawingml/2006/main" noGrp="1"/>
          </p:cNvSpPr>
          <p:nvPr/>
        </p:nvSpPr>
        <p:spPr>
          <a:xfrm xmlns:a="http://schemas.openxmlformats.org/drawingml/2006/main">
            <a:off x="628650" y="3943350"/>
            <a:ext cx="6429375"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15B5AB-01AA-4E0E-A1D4-0E05082F3847}"/>
              </a:ext>
            </a:extLst>
          </p:cNvPr>
          <p:cNvSpPr>
            <a:spLocks xmlns:a="http://schemas.openxmlformats.org/drawingml/2006/main" noGrp="1"/>
          </p:cNvSpPr>
          <p:nvPr/>
        </p:nvSpPr>
        <p:spPr>
          <a:xfrm xmlns:a="http://schemas.openxmlformats.org/drawingml/2006/main">
            <a:off x="628650" y="42481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AFA8"/>
                </a:solidFill>
                <a:latin typeface="맑은 고딕"/>
                <a:ea typeface="맑은 고딕"/>
                <a:cs typeface="맑은 고딕"/>
              </a:defRPr>
            </a:pPr>
            <a:r>
              <a:rPr sz="1200" b="1">
                <a:solidFill>
                  <a:srgbClr val="00AFA8"/>
                </a:solidFill>
                <a:latin typeface="맑은 고딕"/>
                <a:ea typeface="맑은 고딕"/>
                <a:cs typeface="맑은 고딕"/>
              </a:rPr>
              <a:t>피드백을 반영한 개선</a:t>
            </a:r>
          </a:p>
        </p:txBody>
      </p:sp>
      <p:sp>
        <p:nvSpPr>
          <p:cNvPr id="16" name="">
            <a:extLst xmlns:a="http://schemas.openxmlformats.org/drawingml/2006/main">
              <a:ext uri="{FF2B5EF4-FFF2-40B4-BE49-F238E27FC236}">
                <a16:creationId xmlns:a16="http://schemas.microsoft.com/office/drawing/2014/main" id="{ECFE62FA-8907-476D-885B-0FC383A3F635}"/>
              </a:ext>
            </a:extLst>
          </p:cNvPr>
          <p:cNvSpPr>
            <a:spLocks xmlns:a="http://schemas.openxmlformats.org/drawingml/2006/main" noGrp="1"/>
          </p:cNvSpPr>
          <p:nvPr/>
        </p:nvSpPr>
        <p:spPr>
          <a:xfrm xmlns:a="http://schemas.openxmlformats.org/drawingml/2006/main">
            <a:off x="628650" y="4705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기사번호 혼동</a:t>
            </a:r>
          </a:p>
        </p:txBody>
      </p:sp>
      <p:sp>
        <p:nvSpPr>
          <p:cNvPr id="17" name="">
            <a:extLst xmlns:a="http://schemas.openxmlformats.org/drawingml/2006/main">
              <a:ext uri="{FF2B5EF4-FFF2-40B4-BE49-F238E27FC236}">
                <a16:creationId xmlns:a16="http://schemas.microsoft.com/office/drawing/2014/main" id="{7CE11EE4-D6F5-4990-8B53-924F7FBB4107}"/>
              </a:ext>
            </a:extLst>
          </p:cNvPr>
          <p:cNvSpPr>
            <a:spLocks xmlns:a="http://schemas.openxmlformats.org/drawingml/2006/main" noGrp="1"/>
          </p:cNvSpPr>
          <p:nvPr/>
        </p:nvSpPr>
        <p:spPr>
          <a:xfrm xmlns:a="http://schemas.openxmlformats.org/drawingml/2006/main">
            <a:off x="2590800" y="47053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MEMBER 번호와 ENGINEER 번호를 분리 조회</a:t>
            </a:r>
          </a:p>
        </p:txBody>
      </p:sp>
      <p:sp>
        <p:nvSpPr>
          <p:cNvPr id="18" name="">
            <a:extLst xmlns:a="http://schemas.openxmlformats.org/drawingml/2006/main">
              <a:ext uri="{FF2B5EF4-FFF2-40B4-BE49-F238E27FC236}">
                <a16:creationId xmlns:a16="http://schemas.microsoft.com/office/drawing/2014/main" id="{5C7D1638-386C-4096-8463-900FED338647}"/>
              </a:ext>
            </a:extLst>
          </p:cNvPr>
          <p:cNvSpPr>
            <a:spLocks xmlns:a="http://schemas.openxmlformats.org/drawingml/2006/main" noGrp="1"/>
          </p:cNvSpPr>
          <p:nvPr/>
        </p:nvSpPr>
        <p:spPr>
          <a:xfrm xmlns:a="http://schemas.openxmlformats.org/drawingml/2006/main">
            <a:off x="628650" y="52197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외부 설문 한계</a:t>
            </a:r>
          </a:p>
        </p:txBody>
      </p:sp>
      <p:sp>
        <p:nvSpPr>
          <p:cNvPr id="19" name="">
            <a:extLst xmlns:a="http://schemas.openxmlformats.org/drawingml/2006/main">
              <a:ext uri="{FF2B5EF4-FFF2-40B4-BE49-F238E27FC236}">
                <a16:creationId xmlns:a16="http://schemas.microsoft.com/office/drawing/2014/main" id="{5EECFE05-1AF5-46F3-9AA2-3C00FBBDA51B}"/>
              </a:ext>
            </a:extLst>
          </p:cNvPr>
          <p:cNvSpPr>
            <a:spLocks xmlns:a="http://schemas.openxmlformats.org/drawingml/2006/main" noGrp="1"/>
          </p:cNvSpPr>
          <p:nvPr/>
        </p:nvSpPr>
        <p:spPr>
          <a:xfrm xmlns:a="http://schemas.openxmlformats.org/drawingml/2006/main">
            <a:off x="2590800" y="52197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자체 설문으로 전환해 DB 통계까지 연결</a:t>
            </a:r>
          </a:p>
        </p:txBody>
      </p:sp>
      <p:sp>
        <p:nvSpPr>
          <p:cNvPr id="20" name="">
            <a:extLst xmlns:a="http://schemas.openxmlformats.org/drawingml/2006/main">
              <a:ext uri="{FF2B5EF4-FFF2-40B4-BE49-F238E27FC236}">
                <a16:creationId xmlns:a16="http://schemas.microsoft.com/office/drawing/2014/main" id="{32435625-4716-4771-90EB-5BACE26E6C14}"/>
              </a:ext>
            </a:extLst>
          </p:cNvPr>
          <p:cNvSpPr>
            <a:spLocks xmlns:a="http://schemas.openxmlformats.org/drawingml/2006/main" noGrp="1"/>
          </p:cNvSpPr>
          <p:nvPr/>
        </p:nvSpPr>
        <p:spPr>
          <a:xfrm xmlns:a="http://schemas.openxmlformats.org/drawingml/2006/main">
            <a:off x="7600950" y="2228850"/>
            <a:ext cx="3962400" cy="3333750"/>
          </a:xfrm>
          <a:prstGeom xmlns:a="http://schemas.openxmlformats.org/drawingml/2006/main" prst="roundRect">
            <a:avLst>
              <a:gd name="adj" fmla="val 2286"/>
            </a:avLst>
          </a:prstGeom>
          <a:solidFill xmlns:a="http://schemas.openxmlformats.org/drawingml/2006/main">
            <a:srgbClr val="0713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52ED8B-B6DC-4ABA-BEAF-F8D0309412F0}"/>
              </a:ext>
            </a:extLst>
          </p:cNvPr>
          <p:cNvSpPr>
            <a:spLocks xmlns:a="http://schemas.openxmlformats.org/drawingml/2006/main" noGrp="1"/>
          </p:cNvSpPr>
          <p:nvPr/>
        </p:nvSpPr>
        <p:spPr>
          <a:xfrm xmlns:a="http://schemas.openxmlformats.org/drawingml/2006/main">
            <a:off x="7924800" y="25527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F6B4A"/>
                </a:solidFill>
                <a:latin typeface="맑은 고딕"/>
                <a:ea typeface="맑은 고딕"/>
                <a:cs typeface="맑은 고딕"/>
              </a:defRPr>
            </a:pPr>
            <a:r>
              <a:rPr sz="1200" b="1">
                <a:solidFill>
                  <a:srgbClr val="FF6B4A"/>
                </a:solidFill>
                <a:latin typeface="맑은 고딕"/>
                <a:ea typeface="맑은 고딕"/>
                <a:cs typeface="맑은 고딕"/>
              </a:rPr>
              <a:t>운영 전 보완</a:t>
            </a:r>
          </a:p>
        </p:txBody>
      </p:sp>
      <p:sp>
        <p:nvSpPr>
          <p:cNvPr id="22" name="">
            <a:extLst xmlns:a="http://schemas.openxmlformats.org/drawingml/2006/main">
              <a:ext uri="{FF2B5EF4-FFF2-40B4-BE49-F238E27FC236}">
                <a16:creationId xmlns:a16="http://schemas.microsoft.com/office/drawing/2014/main" id="{7E26C144-04F3-45E0-A575-EBEB72112870}"/>
              </a:ext>
            </a:extLst>
          </p:cNvPr>
          <p:cNvSpPr>
            <a:spLocks xmlns:a="http://schemas.openxmlformats.org/drawingml/2006/main" noGrp="1"/>
          </p:cNvSpPr>
          <p:nvPr/>
        </p:nvSpPr>
        <p:spPr>
          <a:xfrm xmlns:a="http://schemas.openxmlformats.org/drawingml/2006/main">
            <a:off x="7924800" y="30670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비밀번호 해시 저장</a:t>
            </a:r>
          </a:p>
        </p:txBody>
      </p:sp>
      <p:sp>
        <p:nvSpPr>
          <p:cNvPr id="23" name="">
            <a:extLst xmlns:a="http://schemas.openxmlformats.org/drawingml/2006/main">
              <a:ext uri="{FF2B5EF4-FFF2-40B4-BE49-F238E27FC236}">
                <a16:creationId xmlns:a16="http://schemas.microsoft.com/office/drawing/2014/main" id="{BA0F7C0F-B131-48CA-B7DD-95939F0036D3}"/>
              </a:ext>
            </a:extLst>
          </p:cNvPr>
          <p:cNvSpPr>
            <a:spLocks xmlns:a="http://schemas.openxmlformats.org/drawingml/2006/main" noGrp="1"/>
          </p:cNvSpPr>
          <p:nvPr/>
        </p:nvSpPr>
        <p:spPr>
          <a:xfrm xmlns:a="http://schemas.openxmlformats.org/drawingml/2006/main">
            <a:off x="7924800" y="3562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SMS 인증정보 환경변수화</a:t>
            </a:r>
          </a:p>
        </p:txBody>
      </p:sp>
      <p:sp>
        <p:nvSpPr>
          <p:cNvPr id="24" name="">
            <a:extLst xmlns:a="http://schemas.openxmlformats.org/drawingml/2006/main">
              <a:ext uri="{FF2B5EF4-FFF2-40B4-BE49-F238E27FC236}">
                <a16:creationId xmlns:a16="http://schemas.microsoft.com/office/drawing/2014/main" id="{3F06E206-F3FB-41CB-8DFB-729565D44C9A}"/>
              </a:ext>
            </a:extLst>
          </p:cNvPr>
          <p:cNvSpPr>
            <a:spLocks xmlns:a="http://schemas.openxmlformats.org/drawingml/2006/main" noGrp="1"/>
          </p:cNvSpPr>
          <p:nvPr/>
        </p:nvSpPr>
        <p:spPr>
          <a:xfrm xmlns:a="http://schemas.openxmlformats.org/drawingml/2006/main">
            <a:off x="7924800" y="40576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배정 트랜잭션·충돌 검증</a:t>
            </a:r>
          </a:p>
        </p:txBody>
      </p:sp>
      <p:sp>
        <p:nvSpPr>
          <p:cNvPr id="25" name="">
            <a:extLst xmlns:a="http://schemas.openxmlformats.org/drawingml/2006/main">
              <a:ext uri="{FF2B5EF4-FFF2-40B4-BE49-F238E27FC236}">
                <a16:creationId xmlns:a16="http://schemas.microsoft.com/office/drawing/2014/main" id="{2FFAFDA9-863E-47A6-A059-8CDF54B95B4F}"/>
              </a:ext>
            </a:extLst>
          </p:cNvPr>
          <p:cNvSpPr>
            <a:spLocks xmlns:a="http://schemas.openxmlformats.org/drawingml/2006/main" noGrp="1"/>
          </p:cNvSpPr>
          <p:nvPr/>
        </p:nvSpPr>
        <p:spPr>
          <a:xfrm xmlns:a="http://schemas.openxmlformats.org/drawingml/2006/main">
            <a:off x="7924800" y="45529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맑은 고딕"/>
                <a:ea typeface="맑은 고딕"/>
                <a:cs typeface="맑은 고딕"/>
              </a:defRPr>
            </a:pPr>
            <a:r>
              <a:rPr sz="1500" b="1">
                <a:solidFill>
                  <a:srgbClr val="FFFFFF"/>
                </a:solidFill>
                <a:latin typeface="맑은 고딕"/>
                <a:ea typeface="맑은 고딕"/>
                <a:cs typeface="맑은 고딕"/>
              </a:rPr>
              <a:t>상태값 Enum·운영 로그</a:t>
            </a:r>
          </a:p>
        </p:txBody>
      </p:sp>
      <p:sp>
        <p:nvSpPr>
          <p:cNvPr id="26" name="">
            <a:extLst xmlns:a="http://schemas.openxmlformats.org/drawingml/2006/main">
              <a:ext uri="{FF2B5EF4-FFF2-40B4-BE49-F238E27FC236}">
                <a16:creationId xmlns:a16="http://schemas.microsoft.com/office/drawing/2014/main" id="{5DD7ECBC-765B-42CB-B650-4351EAC7FBF6}"/>
              </a:ext>
            </a:extLst>
          </p:cNvPr>
          <p:cNvSpPr>
            <a:spLocks xmlns:a="http://schemas.openxmlformats.org/drawingml/2006/main" noGrp="1"/>
          </p:cNvSpPr>
          <p:nvPr/>
        </p:nvSpPr>
        <p:spPr>
          <a:xfrm xmlns:a="http://schemas.openxmlformats.org/drawingml/2006/main">
            <a:off x="7924800" y="5105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93A8B5"/>
                </a:solidFill>
                <a:latin typeface="맑은 고딕"/>
                <a:ea typeface="맑은 고딕"/>
                <a:cs typeface="맑은 고딕"/>
              </a:defRPr>
            </a:pPr>
            <a:r>
              <a:rPr sz="975" b="0">
                <a:solidFill>
                  <a:srgbClr val="93A8B5"/>
                </a:solidFill>
                <a:latin typeface="맑은 고딕"/>
                <a:ea typeface="맑은 고딕"/>
                <a:cs typeface="맑은 고딕"/>
              </a:rPr>
              <a:t>현재 단계: 기능 검증 완료, 운영 보안 강화 필요</a:t>
            </a:r>
          </a:p>
        </p:txBody>
      </p:sp>
    </p:spTree>
    <p:extLst>
      <p:ext uri="{BB962C8B-B14F-4D97-AF65-F5344CB8AC3E}">
        <p14:creationId xmlns:p14="http://schemas.microsoft.com/office/powerpoint/2010/main" val="1756189817"/>
      </p:ext>
    </p:extLst>
  </p:cSld>
</p:sld>
</file>

<file path=ppt/slides/slide1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4F13588-040E-43E2-8D89-796AFA607AF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FF6B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4E9CFE-4E5E-499C-AB70-0DC0C1C025DE}"/>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E7D74489-254F-46B6-B565-02D957DC0F51}"/>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7790A2"/>
                </a:solidFill>
                <a:latin typeface="맑은 고딕"/>
                <a:ea typeface="맑은 고딕"/>
                <a:cs typeface="맑은 고딕"/>
              </a:defRPr>
            </a:pPr>
            <a:r>
              <a:rPr sz="825" b="1">
                <a:solidFill>
                  <a:srgbClr val="7790A2"/>
                </a:solidFill>
                <a:latin typeface="맑은 고딕"/>
                <a:ea typeface="맑은 고딕"/>
                <a:cs typeface="맑은 고딕"/>
              </a:rPr>
              <a:t>12</a:t>
            </a:r>
          </a:p>
        </p:txBody>
      </p:sp>
      <p:sp>
        <p:nvSpPr>
          <p:cNvPr id="4" name="">
            <a:extLst xmlns:a="http://schemas.openxmlformats.org/drawingml/2006/main">
              <a:ext uri="{FF2B5EF4-FFF2-40B4-BE49-F238E27FC236}">
                <a16:creationId xmlns:a16="http://schemas.microsoft.com/office/drawing/2014/main" id="{D66ED3D1-6A51-4407-A88B-8562E80777E2}"/>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20D5C4"/>
                </a:solidFill>
                <a:latin typeface="맑은 고딕"/>
                <a:ea typeface="맑은 고딕"/>
                <a:cs typeface="맑은 고딕"/>
              </a:defRPr>
            </a:pPr>
            <a:r>
              <a:rPr sz="900" b="1">
                <a:solidFill>
                  <a:srgbClr val="20D5C4"/>
                </a:solidFill>
                <a:latin typeface="맑은 고딕"/>
                <a:ea typeface="맑은 고딕"/>
                <a:cs typeface="맑은 고딕"/>
              </a:rPr>
              <a:t>BUSINESS VALUE</a:t>
            </a:r>
          </a:p>
        </p:txBody>
      </p:sp>
      <p:sp>
        <p:nvSpPr>
          <p:cNvPr id="5" name="">
            <a:extLst xmlns:a="http://schemas.openxmlformats.org/drawingml/2006/main">
              <a:ext uri="{FF2B5EF4-FFF2-40B4-BE49-F238E27FC236}">
                <a16:creationId xmlns:a16="http://schemas.microsoft.com/office/drawing/2014/main" id="{FC2C733C-A07B-48FE-A7A1-04AAAF542338}"/>
              </a:ext>
            </a:extLst>
          </p:cNvPr>
          <p:cNvSpPr>
            <a:spLocks xmlns:a="http://schemas.openxmlformats.org/drawingml/2006/main" noGrp="1"/>
          </p:cNvSpPr>
          <p:nvPr/>
        </p:nvSpPr>
        <p:spPr>
          <a:xfrm xmlns:a="http://schemas.openxmlformats.org/drawingml/2006/main">
            <a:off x="628650" y="876300"/>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맑은 고딕"/>
                <a:ea typeface="맑은 고딕"/>
                <a:cs typeface="맑은 고딕"/>
              </a:defRPr>
            </a:pPr>
            <a:r>
              <a:rPr sz="2550" b="1">
                <a:solidFill>
                  <a:srgbClr val="FFFFFF"/>
                </a:solidFill>
                <a:latin typeface="맑은 고딕"/>
                <a:ea typeface="맑은 고딕"/>
                <a:cs typeface="맑은 고딕"/>
              </a:rPr>
              <a:t>소규모 AS센터가 바로 이해할 수 있는 운영 기반</a:t>
            </a:r>
          </a:p>
        </p:txBody>
      </p:sp>
      <p:sp>
        <p:nvSpPr>
          <p:cNvPr id="6" name="">
            <a:extLst xmlns:a="http://schemas.openxmlformats.org/drawingml/2006/main">
              <a:ext uri="{FF2B5EF4-FFF2-40B4-BE49-F238E27FC236}">
                <a16:creationId xmlns:a16="http://schemas.microsoft.com/office/drawing/2014/main" id="{6D9D9BEB-660F-4E43-8EC2-AC200A976CE2}"/>
              </a:ext>
            </a:extLst>
          </p:cNvPr>
          <p:cNvSpPr>
            <a:spLocks xmlns:a="http://schemas.openxmlformats.org/drawingml/2006/main" noGrp="1"/>
          </p:cNvSpPr>
          <p:nvPr/>
        </p:nvSpPr>
        <p:spPr>
          <a:xfrm xmlns:a="http://schemas.openxmlformats.org/drawingml/2006/main">
            <a:off x="628650" y="20955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0D5C4"/>
                </a:solidFill>
                <a:latin typeface="맑은 고딕"/>
                <a:ea typeface="맑은 고딕"/>
                <a:cs typeface="맑은 고딕"/>
              </a:defRPr>
            </a:pPr>
            <a:r>
              <a:rPr sz="1125" b="1">
                <a:solidFill>
                  <a:srgbClr val="20D5C4"/>
                </a:solidFill>
                <a:latin typeface="맑은 고딕"/>
                <a:ea typeface="맑은 고딕"/>
                <a:cs typeface="맑은 고딕"/>
              </a:rPr>
              <a:t>01</a:t>
            </a:r>
          </a:p>
        </p:txBody>
      </p:sp>
      <p:sp>
        <p:nvSpPr>
          <p:cNvPr id="7" name="">
            <a:extLst xmlns:a="http://schemas.openxmlformats.org/drawingml/2006/main">
              <a:ext uri="{FF2B5EF4-FFF2-40B4-BE49-F238E27FC236}">
                <a16:creationId xmlns:a16="http://schemas.microsoft.com/office/drawing/2014/main" id="{A3691B4B-B3E4-4D66-BE9D-FED6CAA664B0}"/>
              </a:ext>
            </a:extLst>
          </p:cNvPr>
          <p:cNvSpPr>
            <a:spLocks xmlns:a="http://schemas.openxmlformats.org/drawingml/2006/main" noGrp="1"/>
          </p:cNvSpPr>
          <p:nvPr/>
        </p:nvSpPr>
        <p:spPr>
          <a:xfrm xmlns:a="http://schemas.openxmlformats.org/drawingml/2006/main">
            <a:off x="1314450" y="20574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운영 가시성</a:t>
            </a:r>
          </a:p>
        </p:txBody>
      </p:sp>
      <p:sp>
        <p:nvSpPr>
          <p:cNvPr id="8" name="">
            <a:extLst xmlns:a="http://schemas.openxmlformats.org/drawingml/2006/main">
              <a:ext uri="{FF2B5EF4-FFF2-40B4-BE49-F238E27FC236}">
                <a16:creationId xmlns:a16="http://schemas.microsoft.com/office/drawing/2014/main" id="{CE5F4FE0-8C5F-4A4F-82D8-E4AA99B2E4DD}"/>
              </a:ext>
            </a:extLst>
          </p:cNvPr>
          <p:cNvSpPr>
            <a:spLocks xmlns:a="http://schemas.openxmlformats.org/drawingml/2006/main" noGrp="1"/>
          </p:cNvSpPr>
          <p:nvPr/>
        </p:nvSpPr>
        <p:spPr>
          <a:xfrm xmlns:a="http://schemas.openxmlformats.org/drawingml/2006/main">
            <a:off x="3676650" y="20764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관리자와 기사가 같은 배정 정보를 확인해 전달 누락 가능성을 줄입니다.</a:t>
            </a:r>
          </a:p>
        </p:txBody>
      </p:sp>
      <p:sp>
        <p:nvSpPr>
          <p:cNvPr id="9" name="">
            <a:extLst xmlns:a="http://schemas.openxmlformats.org/drawingml/2006/main">
              <a:ext uri="{FF2B5EF4-FFF2-40B4-BE49-F238E27FC236}">
                <a16:creationId xmlns:a16="http://schemas.microsoft.com/office/drawing/2014/main" id="{E3DAE7E7-91E8-4939-8FBE-1A640A509B80}"/>
              </a:ext>
            </a:extLst>
          </p:cNvPr>
          <p:cNvSpPr>
            <a:spLocks xmlns:a="http://schemas.openxmlformats.org/drawingml/2006/main" noGrp="1"/>
          </p:cNvSpPr>
          <p:nvPr/>
        </p:nvSpPr>
        <p:spPr>
          <a:xfrm xmlns:a="http://schemas.openxmlformats.org/drawingml/2006/main">
            <a:off x="628650" y="31432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0D5C4"/>
                </a:solidFill>
                <a:latin typeface="맑은 고딕"/>
                <a:ea typeface="맑은 고딕"/>
                <a:cs typeface="맑은 고딕"/>
              </a:defRPr>
            </a:pPr>
            <a:r>
              <a:rPr sz="1125" b="1">
                <a:solidFill>
                  <a:srgbClr val="20D5C4"/>
                </a:solidFill>
                <a:latin typeface="맑은 고딕"/>
                <a:ea typeface="맑은 고딕"/>
                <a:cs typeface="맑은 고딕"/>
              </a:rPr>
              <a:t>02</a:t>
            </a:r>
          </a:p>
        </p:txBody>
      </p:sp>
      <p:sp>
        <p:nvSpPr>
          <p:cNvPr id="10" name="">
            <a:extLst xmlns:a="http://schemas.openxmlformats.org/drawingml/2006/main">
              <a:ext uri="{FF2B5EF4-FFF2-40B4-BE49-F238E27FC236}">
                <a16:creationId xmlns:a16="http://schemas.microsoft.com/office/drawing/2014/main" id="{55FA0520-268E-4644-901A-F85407401CF8}"/>
              </a:ext>
            </a:extLst>
          </p:cNvPr>
          <p:cNvSpPr>
            <a:spLocks xmlns:a="http://schemas.openxmlformats.org/drawingml/2006/main" noGrp="1"/>
          </p:cNvSpPr>
          <p:nvPr/>
        </p:nvSpPr>
        <p:spPr>
          <a:xfrm xmlns:a="http://schemas.openxmlformats.org/drawingml/2006/main">
            <a:off x="1314450" y="3105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처리 이력</a:t>
            </a:r>
          </a:p>
        </p:txBody>
      </p:sp>
      <p:sp>
        <p:nvSpPr>
          <p:cNvPr id="11" name="">
            <a:extLst xmlns:a="http://schemas.openxmlformats.org/drawingml/2006/main">
              <a:ext uri="{FF2B5EF4-FFF2-40B4-BE49-F238E27FC236}">
                <a16:creationId xmlns:a16="http://schemas.microsoft.com/office/drawing/2014/main" id="{EFCDE14A-DED4-45DE-B830-DD83EB4681E8}"/>
              </a:ext>
            </a:extLst>
          </p:cNvPr>
          <p:cNvSpPr>
            <a:spLocks xmlns:a="http://schemas.openxmlformats.org/drawingml/2006/main" noGrp="1"/>
          </p:cNvSpPr>
          <p:nvPr/>
        </p:nvSpPr>
        <p:spPr>
          <a:xfrm xmlns:a="http://schemas.openxmlformats.org/drawingml/2006/main">
            <a:off x="3676650" y="31242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접수부터 결과와 평가까지 한 고객 건의 기록이 이어집니다.</a:t>
            </a:r>
          </a:p>
        </p:txBody>
      </p:sp>
      <p:sp>
        <p:nvSpPr>
          <p:cNvPr id="12" name="">
            <a:extLst xmlns:a="http://schemas.openxmlformats.org/drawingml/2006/main">
              <a:ext uri="{FF2B5EF4-FFF2-40B4-BE49-F238E27FC236}">
                <a16:creationId xmlns:a16="http://schemas.microsoft.com/office/drawing/2014/main" id="{4DF7BD2A-EDA9-459D-894E-AA7CB9AE91B1}"/>
              </a:ext>
            </a:extLst>
          </p:cNvPr>
          <p:cNvSpPr>
            <a:spLocks xmlns:a="http://schemas.openxmlformats.org/drawingml/2006/main" noGrp="1"/>
          </p:cNvSpPr>
          <p:nvPr/>
        </p:nvSpPr>
        <p:spPr>
          <a:xfrm xmlns:a="http://schemas.openxmlformats.org/drawingml/2006/main">
            <a:off x="628650" y="4191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FF6B4A"/>
                </a:solidFill>
                <a:latin typeface="맑은 고딕"/>
                <a:ea typeface="맑은 고딕"/>
                <a:cs typeface="맑은 고딕"/>
              </a:defRPr>
            </a:pPr>
            <a:r>
              <a:rPr sz="1125" b="1">
                <a:solidFill>
                  <a:srgbClr val="FF6B4A"/>
                </a:solidFill>
                <a:latin typeface="맑은 고딕"/>
                <a:ea typeface="맑은 고딕"/>
                <a:cs typeface="맑은 고딕"/>
              </a:rPr>
              <a:t>03</a:t>
            </a:r>
          </a:p>
        </p:txBody>
      </p:sp>
      <p:sp>
        <p:nvSpPr>
          <p:cNvPr id="13" name="">
            <a:extLst xmlns:a="http://schemas.openxmlformats.org/drawingml/2006/main">
              <a:ext uri="{FF2B5EF4-FFF2-40B4-BE49-F238E27FC236}">
                <a16:creationId xmlns:a16="http://schemas.microsoft.com/office/drawing/2014/main" id="{36CA5AA1-486C-4170-9638-A032C83A61D0}"/>
              </a:ext>
            </a:extLst>
          </p:cNvPr>
          <p:cNvSpPr>
            <a:spLocks xmlns:a="http://schemas.openxmlformats.org/drawingml/2006/main" noGrp="1"/>
          </p:cNvSpPr>
          <p:nvPr/>
        </p:nvSpPr>
        <p:spPr>
          <a:xfrm xmlns:a="http://schemas.openxmlformats.org/drawingml/2006/main">
            <a:off x="1314450" y="4152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고객 피드백</a:t>
            </a:r>
          </a:p>
        </p:txBody>
      </p:sp>
      <p:sp>
        <p:nvSpPr>
          <p:cNvPr id="14" name="">
            <a:extLst xmlns:a="http://schemas.openxmlformats.org/drawingml/2006/main">
              <a:ext uri="{FF2B5EF4-FFF2-40B4-BE49-F238E27FC236}">
                <a16:creationId xmlns:a16="http://schemas.microsoft.com/office/drawing/2014/main" id="{BD743561-C158-43F7-8BB1-6B1C094E1BFD}"/>
              </a:ext>
            </a:extLst>
          </p:cNvPr>
          <p:cNvSpPr>
            <a:spLocks xmlns:a="http://schemas.openxmlformats.org/drawingml/2006/main" noGrp="1"/>
          </p:cNvSpPr>
          <p:nvPr/>
        </p:nvSpPr>
        <p:spPr>
          <a:xfrm xmlns:a="http://schemas.openxmlformats.org/drawingml/2006/main">
            <a:off x="3676650" y="41719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FC0CA"/>
                </a:solidFill>
                <a:latin typeface="맑은 고딕"/>
                <a:ea typeface="맑은 고딕"/>
                <a:cs typeface="맑은 고딕"/>
              </a:defRPr>
            </a:pPr>
            <a:r>
              <a:rPr sz="1200" b="0">
                <a:solidFill>
                  <a:srgbClr val="AFC0CA"/>
                </a:solidFill>
                <a:latin typeface="맑은 고딕"/>
                <a:ea typeface="맑은 고딕"/>
                <a:cs typeface="맑은 고딕"/>
              </a:rPr>
              <a:t>결과 등록 뒤 설문을 발송해 별도 입력 없이 만족도를 축적합니다.</a:t>
            </a:r>
          </a:p>
        </p:txBody>
      </p:sp>
      <p:sp>
        <p:nvSpPr>
          <p:cNvPr id="15" name="">
            <a:extLst xmlns:a="http://schemas.openxmlformats.org/drawingml/2006/main">
              <a:ext uri="{FF2B5EF4-FFF2-40B4-BE49-F238E27FC236}">
                <a16:creationId xmlns:a16="http://schemas.microsoft.com/office/drawing/2014/main" id="{B2F828A1-3CC9-46EE-B7D1-148C2231E1F6}"/>
              </a:ext>
            </a:extLst>
          </p:cNvPr>
          <p:cNvSpPr>
            <a:spLocks xmlns:a="http://schemas.openxmlformats.org/drawingml/2006/main" noGrp="1"/>
          </p:cNvSpPr>
          <p:nvPr/>
        </p:nvSpPr>
        <p:spPr>
          <a:xfrm xmlns:a="http://schemas.openxmlformats.org/drawingml/2006/main">
            <a:off x="9144000" y="1943100"/>
            <a:ext cx="2419350" cy="3162300"/>
          </a:xfrm>
          <a:prstGeom xmlns:a="http://schemas.openxmlformats.org/drawingml/2006/main" prst="roundRect">
            <a:avLst>
              <a:gd name="adj" fmla="val 3150"/>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9CDA19-3145-4DEC-97C0-ECCA3228D715}"/>
              </a:ext>
            </a:extLst>
          </p:cNvPr>
          <p:cNvSpPr>
            <a:spLocks xmlns:a="http://schemas.openxmlformats.org/drawingml/2006/main" noGrp="1"/>
          </p:cNvSpPr>
          <p:nvPr/>
        </p:nvSpPr>
        <p:spPr>
          <a:xfrm xmlns:a="http://schemas.openxmlformats.org/drawingml/2006/main">
            <a:off x="9448800" y="22669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FF6B4A"/>
                </a:solidFill>
                <a:latin typeface="맑은 고딕"/>
                <a:ea typeface="맑은 고딕"/>
                <a:cs typeface="맑은 고딕"/>
              </a:defRPr>
            </a:pPr>
            <a:r>
              <a:rPr sz="900" b="1">
                <a:solidFill>
                  <a:srgbClr val="FF6B4A"/>
                </a:solidFill>
                <a:latin typeface="맑은 고딕"/>
                <a:ea typeface="맑은 고딕"/>
                <a:cs typeface="맑은 고딕"/>
              </a:rPr>
              <a:t>NEXT</a:t>
            </a:r>
          </a:p>
        </p:txBody>
      </p:sp>
      <p:sp>
        <p:nvSpPr>
          <p:cNvPr id="17" name="">
            <a:extLst xmlns:a="http://schemas.openxmlformats.org/drawingml/2006/main">
              <a:ext uri="{FF2B5EF4-FFF2-40B4-BE49-F238E27FC236}">
                <a16:creationId xmlns:a16="http://schemas.microsoft.com/office/drawing/2014/main" id="{299E481E-E817-4E17-B3AD-0CEF7CA8F1F8}"/>
              </a:ext>
            </a:extLst>
          </p:cNvPr>
          <p:cNvSpPr>
            <a:spLocks xmlns:a="http://schemas.openxmlformats.org/drawingml/2006/main" noGrp="1"/>
          </p:cNvSpPr>
          <p:nvPr/>
        </p:nvSpPr>
        <p:spPr>
          <a:xfrm xmlns:a="http://schemas.openxmlformats.org/drawingml/2006/main">
            <a:off x="9448800" y="26860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1</a:t>
            </a:r>
          </a:p>
        </p:txBody>
      </p:sp>
      <p:sp>
        <p:nvSpPr>
          <p:cNvPr id="18" name="">
            <a:extLst xmlns:a="http://schemas.openxmlformats.org/drawingml/2006/main">
              <a:ext uri="{FF2B5EF4-FFF2-40B4-BE49-F238E27FC236}">
                <a16:creationId xmlns:a16="http://schemas.microsoft.com/office/drawing/2014/main" id="{C5B89A97-BD5E-4C0C-8A49-BF6C0B1B91D0}"/>
              </a:ext>
            </a:extLst>
          </p:cNvPr>
          <p:cNvSpPr>
            <a:spLocks xmlns:a="http://schemas.openxmlformats.org/drawingml/2006/main" noGrp="1"/>
          </p:cNvSpPr>
          <p:nvPr/>
        </p:nvSpPr>
        <p:spPr>
          <a:xfrm xmlns:a="http://schemas.openxmlformats.org/drawingml/2006/main">
            <a:off x="9925050" y="27241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일정 충돌 검증</a:t>
            </a:r>
          </a:p>
        </p:txBody>
      </p:sp>
      <p:sp>
        <p:nvSpPr>
          <p:cNvPr id="19" name="">
            <a:extLst xmlns:a="http://schemas.openxmlformats.org/drawingml/2006/main">
              <a:ext uri="{FF2B5EF4-FFF2-40B4-BE49-F238E27FC236}">
                <a16:creationId xmlns:a16="http://schemas.microsoft.com/office/drawing/2014/main" id="{E6FFDB39-5250-40F7-8C8D-29ED2D9B86BC}"/>
              </a:ext>
            </a:extLst>
          </p:cNvPr>
          <p:cNvSpPr>
            <a:spLocks xmlns:a="http://schemas.openxmlformats.org/drawingml/2006/main" noGrp="1"/>
          </p:cNvSpPr>
          <p:nvPr/>
        </p:nvSpPr>
        <p:spPr>
          <a:xfrm xmlns:a="http://schemas.openxmlformats.org/drawingml/2006/main">
            <a:off x="9448800" y="3371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2</a:t>
            </a:r>
          </a:p>
        </p:txBody>
      </p:sp>
      <p:sp>
        <p:nvSpPr>
          <p:cNvPr id="20" name="">
            <a:extLst xmlns:a="http://schemas.openxmlformats.org/drawingml/2006/main">
              <a:ext uri="{FF2B5EF4-FFF2-40B4-BE49-F238E27FC236}">
                <a16:creationId xmlns:a16="http://schemas.microsoft.com/office/drawing/2014/main" id="{5AB21FF0-25EE-4F4F-A11D-1C90E09DDE39}"/>
              </a:ext>
            </a:extLst>
          </p:cNvPr>
          <p:cNvSpPr>
            <a:spLocks xmlns:a="http://schemas.openxmlformats.org/drawingml/2006/main" noGrp="1"/>
          </p:cNvSpPr>
          <p:nvPr/>
        </p:nvSpPr>
        <p:spPr>
          <a:xfrm xmlns:a="http://schemas.openxmlformats.org/drawingml/2006/main">
            <a:off x="9925050" y="34099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보안·배포 강화</a:t>
            </a:r>
          </a:p>
        </p:txBody>
      </p:sp>
      <p:sp>
        <p:nvSpPr>
          <p:cNvPr id="21" name="">
            <a:extLst xmlns:a="http://schemas.openxmlformats.org/drawingml/2006/main">
              <a:ext uri="{FF2B5EF4-FFF2-40B4-BE49-F238E27FC236}">
                <a16:creationId xmlns:a16="http://schemas.microsoft.com/office/drawing/2014/main" id="{E85BFA2C-4715-49E8-BB4F-DCBFF428E7F7}"/>
              </a:ext>
            </a:extLst>
          </p:cNvPr>
          <p:cNvSpPr>
            <a:spLocks xmlns:a="http://schemas.openxmlformats.org/drawingml/2006/main" noGrp="1"/>
          </p:cNvSpPr>
          <p:nvPr/>
        </p:nvSpPr>
        <p:spPr>
          <a:xfrm xmlns:a="http://schemas.openxmlformats.org/drawingml/2006/main">
            <a:off x="9448800" y="40576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131F"/>
                </a:solidFill>
                <a:latin typeface="맑은 고딕"/>
                <a:ea typeface="맑은 고딕"/>
                <a:cs typeface="맑은 고딕"/>
              </a:defRPr>
            </a:pPr>
            <a:r>
              <a:rPr sz="2100" b="1">
                <a:solidFill>
                  <a:srgbClr val="07131F"/>
                </a:solidFill>
                <a:latin typeface="맑은 고딕"/>
                <a:ea typeface="맑은 고딕"/>
                <a:cs typeface="맑은 고딕"/>
              </a:rPr>
              <a:t>3</a:t>
            </a:r>
          </a:p>
        </p:txBody>
      </p:sp>
      <p:sp>
        <p:nvSpPr>
          <p:cNvPr id="22" name="">
            <a:extLst xmlns:a="http://schemas.openxmlformats.org/drawingml/2006/main">
              <a:ext uri="{FF2B5EF4-FFF2-40B4-BE49-F238E27FC236}">
                <a16:creationId xmlns:a16="http://schemas.microsoft.com/office/drawing/2014/main" id="{4FA9D0BA-D897-4433-AD21-B5D29D889587}"/>
              </a:ext>
            </a:extLst>
          </p:cNvPr>
          <p:cNvSpPr>
            <a:spLocks xmlns:a="http://schemas.openxmlformats.org/drawingml/2006/main" noGrp="1"/>
          </p:cNvSpPr>
          <p:nvPr/>
        </p:nvSpPr>
        <p:spPr>
          <a:xfrm xmlns:a="http://schemas.openxmlformats.org/drawingml/2006/main">
            <a:off x="9925050" y="40957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7131F"/>
                </a:solidFill>
                <a:latin typeface="맑은 고딕"/>
                <a:ea typeface="맑은 고딕"/>
                <a:cs typeface="맑은 고딕"/>
              </a:defRPr>
            </a:pPr>
            <a:r>
              <a:rPr sz="1200" b="1">
                <a:solidFill>
                  <a:srgbClr val="07131F"/>
                </a:solidFill>
                <a:latin typeface="맑은 고딕"/>
                <a:ea typeface="맑은 고딕"/>
                <a:cs typeface="맑은 고딕"/>
              </a:rPr>
              <a:t>모바일·알림 개선</a:t>
            </a:r>
          </a:p>
        </p:txBody>
      </p:sp>
      <p:sp>
        <p:nvSpPr>
          <p:cNvPr id="23" name="">
            <a:extLst xmlns:a="http://schemas.openxmlformats.org/drawingml/2006/main">
              <a:ext uri="{FF2B5EF4-FFF2-40B4-BE49-F238E27FC236}">
                <a16:creationId xmlns:a16="http://schemas.microsoft.com/office/drawing/2014/main" id="{47A76FAB-21DD-4FD7-9495-C44991DAA66F}"/>
              </a:ext>
            </a:extLst>
          </p:cNvPr>
          <p:cNvSpPr>
            <a:spLocks xmlns:a="http://schemas.openxmlformats.org/drawingml/2006/main" noGrp="1"/>
          </p:cNvSpPr>
          <p:nvPr/>
        </p:nvSpPr>
        <p:spPr>
          <a:xfrm xmlns:a="http://schemas.openxmlformats.org/drawingml/2006/main">
            <a:off x="628650" y="59245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197A5"/>
                </a:solidFill>
                <a:latin typeface="맑은 고딕"/>
                <a:ea typeface="맑은 고딕"/>
                <a:cs typeface="맑은 고딕"/>
              </a:defRPr>
            </a:pPr>
            <a:r>
              <a:rPr sz="975" b="0">
                <a:solidFill>
                  <a:srgbClr val="8197A5"/>
                </a:solidFill>
                <a:latin typeface="맑은 고딕"/>
                <a:ea typeface="맑은 고딕"/>
                <a:cs typeface="맑은 고딕"/>
              </a:rPr>
              <a:t>효과는 실제 운영 수치가 아닌 기대 효과로 제시</a:t>
            </a:r>
          </a:p>
        </p:txBody>
      </p:sp>
    </p:spTree>
    <p:extLst>
      <p:ext uri="{BB962C8B-B14F-4D97-AF65-F5344CB8AC3E}">
        <p14:creationId xmlns:p14="http://schemas.microsoft.com/office/powerpoint/2010/main" val="7123676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3A1776E-AF13-49D1-B7F7-576E3DEFF8F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0D5C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75936E-1C52-4F1D-BC27-FD20022DB7D5}"/>
              </a:ext>
            </a:extLst>
          </p:cNvPr>
          <p:cNvSpPr>
            <a:spLocks xmlns:a="http://schemas.openxmlformats.org/drawingml/2006/main" noGrp="1"/>
          </p:cNvSpPr>
          <p:nvPr/>
        </p:nvSpPr>
        <p:spPr>
          <a:xfrm xmlns:a="http://schemas.openxmlformats.org/drawingml/2006/main">
            <a:off x="628650" y="2667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SCHEDULE</a:t>
            </a:r>
          </a:p>
        </p:txBody>
      </p:sp>
      <p:sp>
        <p:nvSpPr>
          <p:cNvPr id="3" name="">
            <a:extLst xmlns:a="http://schemas.openxmlformats.org/drawingml/2006/main">
              <a:ext uri="{FF2B5EF4-FFF2-40B4-BE49-F238E27FC236}">
                <a16:creationId xmlns:a16="http://schemas.microsoft.com/office/drawing/2014/main" id="{1EB74E4C-2401-4226-A97C-E4212CD979C3}"/>
              </a:ext>
            </a:extLst>
          </p:cNvPr>
          <p:cNvSpPr>
            <a:spLocks xmlns:a="http://schemas.openxmlformats.org/drawingml/2006/main" noGrp="1"/>
          </p:cNvSpPr>
          <p:nvPr/>
        </p:nvSpPr>
        <p:spPr>
          <a:xfrm xmlns:a="http://schemas.openxmlformats.org/drawingml/2006/main">
            <a:off x="11334750" y="63627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1">
                <a:solidFill>
                  <a:srgbClr val="9BACB7"/>
                </a:solidFill>
                <a:latin typeface="맑은 고딕"/>
                <a:ea typeface="맑은 고딕"/>
                <a:cs typeface="맑은 고딕"/>
              </a:defRPr>
            </a:pPr>
            <a:r>
              <a:rPr sz="825" b="1">
                <a:solidFill>
                  <a:srgbClr val="9BACB7"/>
                </a:solidFill>
                <a:latin typeface="맑은 고딕"/>
                <a:ea typeface="맑은 고딕"/>
                <a:cs typeface="맑은 고딕"/>
              </a:rPr>
              <a:t>13</a:t>
            </a:r>
          </a:p>
        </p:txBody>
      </p:sp>
      <p:sp>
        <p:nvSpPr>
          <p:cNvPr id="4" name="">
            <a:extLst xmlns:a="http://schemas.openxmlformats.org/drawingml/2006/main">
              <a:ext uri="{FF2B5EF4-FFF2-40B4-BE49-F238E27FC236}">
                <a16:creationId xmlns:a16="http://schemas.microsoft.com/office/drawing/2014/main" id="{E8AE006C-84A9-4D3E-AC66-6D9E2FEF47D8}"/>
              </a:ext>
            </a:extLst>
          </p:cNvPr>
          <p:cNvSpPr>
            <a:spLocks xmlns:a="http://schemas.openxmlformats.org/drawingml/2006/main" noGrp="1"/>
          </p:cNvSpPr>
          <p:nvPr/>
        </p:nvSpPr>
        <p:spPr>
          <a:xfrm xmlns:a="http://schemas.openxmlformats.org/drawingml/2006/main">
            <a:off x="628650" y="5524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0AFA8"/>
                </a:solidFill>
                <a:latin typeface="맑은 고딕"/>
                <a:ea typeface="맑은 고딕"/>
                <a:cs typeface="맑은 고딕"/>
              </a:defRPr>
            </a:pPr>
            <a:r>
              <a:rPr sz="900" b="1">
                <a:solidFill>
                  <a:srgbClr val="00AFA8"/>
                </a:solidFill>
                <a:latin typeface="맑은 고딕"/>
                <a:ea typeface="맑은 고딕"/>
                <a:cs typeface="맑은 고딕"/>
              </a:rPr>
              <a:t>SELF ASSESSMENT</a:t>
            </a:r>
          </a:p>
        </p:txBody>
      </p:sp>
      <p:sp>
        <p:nvSpPr>
          <p:cNvPr id="5" name="">
            <a:extLst xmlns:a="http://schemas.openxmlformats.org/drawingml/2006/main">
              <a:ext uri="{FF2B5EF4-FFF2-40B4-BE49-F238E27FC236}">
                <a16:creationId xmlns:a16="http://schemas.microsoft.com/office/drawing/2014/main" id="{67D21C05-E0E0-4E96-8DF2-D2CF95194932}"/>
              </a:ext>
            </a:extLst>
          </p:cNvPr>
          <p:cNvSpPr>
            <a:spLocks xmlns:a="http://schemas.openxmlformats.org/drawingml/2006/main" noGrp="1"/>
          </p:cNvSpPr>
          <p:nvPr/>
        </p:nvSpPr>
        <p:spPr>
          <a:xfrm xmlns:a="http://schemas.openxmlformats.org/drawingml/2006/main">
            <a:off x="628650" y="87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7131F"/>
                </a:solidFill>
                <a:latin typeface="맑은 고딕"/>
                <a:ea typeface="맑은 고딕"/>
                <a:cs typeface="맑은 고딕"/>
              </a:defRPr>
            </a:pPr>
            <a:r>
              <a:rPr sz="2550" b="1">
                <a:solidFill>
                  <a:srgbClr val="07131F"/>
                </a:solidFill>
                <a:latin typeface="맑은 고딕"/>
                <a:ea typeface="맑은 고딕"/>
                <a:cs typeface="맑은 고딕"/>
              </a:rPr>
              <a:t>핵심 업무 흐름은 완성, 운영 수준까지는 한 단계 남았습니다</a:t>
            </a:r>
          </a:p>
        </p:txBody>
      </p:sp>
      <p:sp>
        <p:nvSpPr>
          <p:cNvPr id="6" name="">
            <a:extLst xmlns:a="http://schemas.openxmlformats.org/drawingml/2006/main">
              <a:ext uri="{FF2B5EF4-FFF2-40B4-BE49-F238E27FC236}">
                <a16:creationId xmlns:a16="http://schemas.microsoft.com/office/drawing/2014/main" id="{FE92B905-ACFF-4B78-BE96-5232846FCDAC}"/>
              </a:ext>
            </a:extLst>
          </p:cNvPr>
          <p:cNvSpPr>
            <a:spLocks xmlns:a="http://schemas.openxmlformats.org/drawingml/2006/main" noGrp="1"/>
          </p:cNvSpPr>
          <p:nvPr/>
        </p:nvSpPr>
        <p:spPr>
          <a:xfrm xmlns:a="http://schemas.openxmlformats.org/drawingml/2006/main">
            <a:off x="628650" y="1924050"/>
            <a:ext cx="2000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6B4A"/>
                </a:solidFill>
                <a:latin typeface="맑은 고딕"/>
                <a:ea typeface="맑은 고딕"/>
                <a:cs typeface="맑은 고딕"/>
              </a:defRPr>
            </a:pPr>
            <a:r>
              <a:rPr sz="4950" b="1">
                <a:solidFill>
                  <a:srgbClr val="FF6B4A"/>
                </a:solidFill>
                <a:latin typeface="맑은 고딕"/>
                <a:ea typeface="맑은 고딕"/>
                <a:cs typeface="맑은 고딕"/>
              </a:rPr>
              <a:t>8.0</a:t>
            </a:r>
          </a:p>
        </p:txBody>
      </p:sp>
      <p:sp>
        <p:nvSpPr>
          <p:cNvPr id="7" name="">
            <a:extLst xmlns:a="http://schemas.openxmlformats.org/drawingml/2006/main">
              <a:ext uri="{FF2B5EF4-FFF2-40B4-BE49-F238E27FC236}">
                <a16:creationId xmlns:a16="http://schemas.microsoft.com/office/drawing/2014/main" id="{C60E64ED-6270-4EB2-A4B0-2058FD6EB098}"/>
              </a:ext>
            </a:extLst>
          </p:cNvPr>
          <p:cNvSpPr>
            <a:spLocks xmlns:a="http://schemas.openxmlformats.org/drawingml/2006/main" noGrp="1"/>
          </p:cNvSpPr>
          <p:nvPr/>
        </p:nvSpPr>
        <p:spPr>
          <a:xfrm xmlns:a="http://schemas.openxmlformats.org/drawingml/2006/main">
            <a:off x="2114550" y="23812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718295"/>
                </a:solidFill>
                <a:latin typeface="맑은 고딕"/>
                <a:ea typeface="맑은 고딕"/>
                <a:cs typeface="맑은 고딕"/>
              </a:defRPr>
            </a:pPr>
            <a:r>
              <a:rPr sz="1650" b="1">
                <a:solidFill>
                  <a:srgbClr val="718295"/>
                </a:solidFill>
                <a:latin typeface="맑은 고딕"/>
                <a:ea typeface="맑은 고딕"/>
                <a:cs typeface="맑은 고딕"/>
              </a:rPr>
              <a:t>/ 10</a:t>
            </a:r>
          </a:p>
        </p:txBody>
      </p:sp>
      <p:sp>
        <p:nvSpPr>
          <p:cNvPr id="8" name="">
            <a:extLst xmlns:a="http://schemas.openxmlformats.org/drawingml/2006/main">
              <a:ext uri="{FF2B5EF4-FFF2-40B4-BE49-F238E27FC236}">
                <a16:creationId xmlns:a16="http://schemas.microsoft.com/office/drawing/2014/main" id="{E4B1CA59-C8AC-45E9-B17F-2C162C5FD717}"/>
              </a:ext>
            </a:extLst>
          </p:cNvPr>
          <p:cNvSpPr>
            <a:spLocks xmlns:a="http://schemas.openxmlformats.org/drawingml/2006/main" noGrp="1"/>
          </p:cNvSpPr>
          <p:nvPr/>
        </p:nvSpPr>
        <p:spPr>
          <a:xfrm xmlns:a="http://schemas.openxmlformats.org/drawingml/2006/main">
            <a:off x="628650" y="2876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7131F"/>
                </a:solidFill>
                <a:latin typeface="맑은 고딕"/>
                <a:ea typeface="맑은 고딕"/>
                <a:cs typeface="맑은 고딕"/>
              </a:defRPr>
            </a:pPr>
            <a:r>
              <a:rPr sz="1275" b="1">
                <a:solidFill>
                  <a:srgbClr val="07131F"/>
                </a:solidFill>
                <a:latin typeface="맑은 고딕"/>
                <a:ea typeface="맑은 고딕"/>
                <a:cs typeface="맑은 고딕"/>
              </a:rPr>
              <a:t>기능 완성도</a:t>
            </a:r>
          </a:p>
        </p:txBody>
      </p:sp>
      <p:sp>
        <p:nvSpPr>
          <p:cNvPr id="9" name="">
            <a:extLst xmlns:a="http://schemas.openxmlformats.org/drawingml/2006/main">
              <a:ext uri="{FF2B5EF4-FFF2-40B4-BE49-F238E27FC236}">
                <a16:creationId xmlns:a16="http://schemas.microsoft.com/office/drawing/2014/main" id="{02274082-D0AA-4D9C-B126-CC054485D132}"/>
              </a:ext>
            </a:extLst>
          </p:cNvPr>
          <p:cNvSpPr>
            <a:spLocks xmlns:a="http://schemas.openxmlformats.org/drawingml/2006/main" noGrp="1"/>
          </p:cNvSpPr>
          <p:nvPr/>
        </p:nvSpPr>
        <p:spPr>
          <a:xfrm xmlns:a="http://schemas.openxmlformats.org/drawingml/2006/main">
            <a:off x="628650" y="3352800"/>
            <a:ext cx="4953000" cy="95250"/>
          </a:xfrm>
          <a:prstGeom xmlns:a="http://schemas.openxmlformats.org/drawingml/2006/main" prst="roundRect">
            <a:avLst>
              <a:gd name="adj" fmla="val 50000"/>
            </a:avLst>
          </a:prstGeom>
          <a:solidFill xmlns:a="http://schemas.openxmlformats.org/drawingml/2006/main">
            <a:srgbClr val="E7ECE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0BE009-E61E-4229-A66A-132941BDA7E4}"/>
              </a:ext>
            </a:extLst>
          </p:cNvPr>
          <p:cNvSpPr>
            <a:spLocks xmlns:a="http://schemas.openxmlformats.org/drawingml/2006/main" noGrp="1"/>
          </p:cNvSpPr>
          <p:nvPr/>
        </p:nvSpPr>
        <p:spPr>
          <a:xfrm xmlns:a="http://schemas.openxmlformats.org/drawingml/2006/main">
            <a:off x="628650" y="3352800"/>
            <a:ext cx="3962400" cy="952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175C33-25F0-4E0D-BB4F-B65FDB47AFB2}"/>
              </a:ext>
            </a:extLst>
          </p:cNvPr>
          <p:cNvSpPr>
            <a:spLocks xmlns:a="http://schemas.openxmlformats.org/drawingml/2006/main" noGrp="1"/>
          </p:cNvSpPr>
          <p:nvPr/>
        </p:nvSpPr>
        <p:spPr>
          <a:xfrm xmlns:a="http://schemas.openxmlformats.org/drawingml/2006/main">
            <a:off x="6191250" y="19240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0AFA8"/>
                </a:solidFill>
                <a:latin typeface="맑은 고딕"/>
                <a:ea typeface="맑은 고딕"/>
                <a:cs typeface="맑은 고딕"/>
              </a:defRPr>
            </a:pPr>
            <a:r>
              <a:rPr sz="1125" b="1">
                <a:solidFill>
                  <a:srgbClr val="00AFA8"/>
                </a:solidFill>
                <a:latin typeface="맑은 고딕"/>
                <a:ea typeface="맑은 고딕"/>
                <a:cs typeface="맑은 고딕"/>
              </a:rPr>
              <a:t>평가 근거</a:t>
            </a:r>
          </a:p>
        </p:txBody>
      </p:sp>
      <p:sp>
        <p:nvSpPr>
          <p:cNvPr id="12" name="">
            <a:extLst xmlns:a="http://schemas.openxmlformats.org/drawingml/2006/main">
              <a:ext uri="{FF2B5EF4-FFF2-40B4-BE49-F238E27FC236}">
                <a16:creationId xmlns:a16="http://schemas.microsoft.com/office/drawing/2014/main" id="{65D4A692-4127-4775-B17D-80BFFF839159}"/>
              </a:ext>
            </a:extLst>
          </p:cNvPr>
          <p:cNvSpPr>
            <a:spLocks xmlns:a="http://schemas.openxmlformats.org/drawingml/2006/main" noGrp="1"/>
          </p:cNvSpPr>
          <p:nvPr/>
        </p:nvSpPr>
        <p:spPr>
          <a:xfrm xmlns:a="http://schemas.openxmlformats.org/drawingml/2006/main">
            <a:off x="6191250" y="23622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고객 접수부터 만족도까지 실제 화면으로 연결</a:t>
            </a:r>
          </a:p>
        </p:txBody>
      </p:sp>
      <p:sp>
        <p:nvSpPr>
          <p:cNvPr id="13" name="">
            <a:extLst xmlns:a="http://schemas.openxmlformats.org/drawingml/2006/main">
              <a:ext uri="{FF2B5EF4-FFF2-40B4-BE49-F238E27FC236}">
                <a16:creationId xmlns:a16="http://schemas.microsoft.com/office/drawing/2014/main" id="{CEB92612-624E-4FBD-A232-8633BA18EC3E}"/>
              </a:ext>
            </a:extLst>
          </p:cNvPr>
          <p:cNvSpPr>
            <a:spLocks xmlns:a="http://schemas.openxmlformats.org/drawingml/2006/main" noGrp="1"/>
          </p:cNvSpPr>
          <p:nvPr/>
        </p:nvSpPr>
        <p:spPr>
          <a:xfrm xmlns:a="http://schemas.openxmlformats.org/drawingml/2006/main">
            <a:off x="6191250" y="28384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역할별 접근 제어와 기사 일정 소유권 확인</a:t>
            </a:r>
          </a:p>
        </p:txBody>
      </p:sp>
      <p:sp>
        <p:nvSpPr>
          <p:cNvPr id="14" name="">
            <a:extLst xmlns:a="http://schemas.openxmlformats.org/drawingml/2006/main">
              <a:ext uri="{FF2B5EF4-FFF2-40B4-BE49-F238E27FC236}">
                <a16:creationId xmlns:a16="http://schemas.microsoft.com/office/drawing/2014/main" id="{ACB62946-CD51-4792-9D28-35E705DEFFEE}"/>
              </a:ext>
            </a:extLst>
          </p:cNvPr>
          <p:cNvSpPr>
            <a:spLocks xmlns:a="http://schemas.openxmlformats.org/drawingml/2006/main" noGrp="1"/>
          </p:cNvSpPr>
          <p:nvPr/>
        </p:nvSpPr>
        <p:spPr>
          <a:xfrm xmlns:a="http://schemas.openxmlformats.org/drawingml/2006/main">
            <a:off x="6191250" y="33147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7131F"/>
                </a:solidFill>
                <a:latin typeface="맑은 고딕"/>
                <a:ea typeface="맑은 고딕"/>
                <a:cs typeface="맑은 고딕"/>
              </a:defRPr>
            </a:pPr>
            <a:r>
              <a:rPr sz="1425" b="1">
                <a:solidFill>
                  <a:srgbClr val="07131F"/>
                </a:solidFill>
                <a:latin typeface="맑은 고딕"/>
                <a:ea typeface="맑은 고딕"/>
                <a:cs typeface="맑은 고딕"/>
              </a:rPr>
              <a:t>현재 빌드와 자동 테스트 4개 통과</a:t>
            </a:r>
          </a:p>
        </p:txBody>
      </p:sp>
      <p:sp>
        <p:nvSpPr>
          <p:cNvPr id="15" name="">
            <a:extLst xmlns:a="http://schemas.openxmlformats.org/drawingml/2006/main">
              <a:ext uri="{FF2B5EF4-FFF2-40B4-BE49-F238E27FC236}">
                <a16:creationId xmlns:a16="http://schemas.microsoft.com/office/drawing/2014/main" id="{9D25F01D-63FB-4AA7-918A-D583F29CA931}"/>
              </a:ext>
            </a:extLst>
          </p:cNvPr>
          <p:cNvSpPr>
            <a:spLocks xmlns:a="http://schemas.openxmlformats.org/drawingml/2006/main" noGrp="1"/>
          </p:cNvSpPr>
          <p:nvPr/>
        </p:nvSpPr>
        <p:spPr>
          <a:xfrm xmlns:a="http://schemas.openxmlformats.org/drawingml/2006/main">
            <a:off x="628650" y="4095750"/>
            <a:ext cx="10934700" cy="9525"/>
          </a:xfrm>
          <a:prstGeom xmlns:a="http://schemas.openxmlformats.org/drawingml/2006/main" prst="rect">
            <a:avLst/>
          </a:prstGeom>
          <a:solidFill xmlns:a="http://schemas.openxmlformats.org/drawingml/2006/main">
            <a:srgbClr val="DCE5E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A46EDCE-ABCC-4245-B822-14F789997839}"/>
              </a:ext>
            </a:extLst>
          </p:cNvPr>
          <p:cNvSpPr>
            <a:spLocks xmlns:a="http://schemas.openxmlformats.org/drawingml/2006/main" noGrp="1"/>
          </p:cNvSpPr>
          <p:nvPr/>
        </p:nvSpPr>
        <p:spPr>
          <a:xfrm xmlns:a="http://schemas.openxmlformats.org/drawingml/2006/main">
            <a:off x="628650" y="44386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0AFA8"/>
                </a:solidFill>
                <a:latin typeface="맑은 고딕"/>
                <a:ea typeface="맑은 고딕"/>
                <a:cs typeface="맑은 고딕"/>
              </a:defRPr>
            </a:pPr>
            <a:r>
              <a:rPr sz="1125" b="1">
                <a:solidFill>
                  <a:srgbClr val="00AFA8"/>
                </a:solidFill>
                <a:latin typeface="맑은 고딕"/>
                <a:ea typeface="맑은 고딕"/>
                <a:cs typeface="맑은 고딕"/>
              </a:rPr>
              <a:t>배운 점</a:t>
            </a:r>
          </a:p>
        </p:txBody>
      </p:sp>
      <p:sp>
        <p:nvSpPr>
          <p:cNvPr id="17" name="">
            <a:extLst xmlns:a="http://schemas.openxmlformats.org/drawingml/2006/main">
              <a:ext uri="{FF2B5EF4-FFF2-40B4-BE49-F238E27FC236}">
                <a16:creationId xmlns:a16="http://schemas.microsoft.com/office/drawing/2014/main" id="{81253F22-C410-4F95-8E8A-3C11FE64D2E5}"/>
              </a:ext>
            </a:extLst>
          </p:cNvPr>
          <p:cNvSpPr>
            <a:spLocks xmlns:a="http://schemas.openxmlformats.org/drawingml/2006/main" noGrp="1"/>
          </p:cNvSpPr>
          <p:nvPr/>
        </p:nvSpPr>
        <p:spPr>
          <a:xfrm xmlns:a="http://schemas.openxmlformats.org/drawingml/2006/main">
            <a:off x="628650" y="48387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테이블별 PK를 명확히 구분해야 서비스 로직이 안정됩니다</a:t>
            </a:r>
          </a:p>
        </p:txBody>
      </p:sp>
      <p:sp>
        <p:nvSpPr>
          <p:cNvPr id="18" name="">
            <a:extLst xmlns:a="http://schemas.openxmlformats.org/drawingml/2006/main">
              <a:ext uri="{FF2B5EF4-FFF2-40B4-BE49-F238E27FC236}">
                <a16:creationId xmlns:a16="http://schemas.microsoft.com/office/drawing/2014/main" id="{23164CB8-8BAE-440C-8D63-3F7F2E549D2B}"/>
              </a:ext>
            </a:extLst>
          </p:cNvPr>
          <p:cNvSpPr>
            <a:spLocks xmlns:a="http://schemas.openxmlformats.org/drawingml/2006/main" noGrp="1"/>
          </p:cNvSpPr>
          <p:nvPr/>
        </p:nvSpPr>
        <p:spPr>
          <a:xfrm xmlns:a="http://schemas.openxmlformats.org/drawingml/2006/main">
            <a:off x="628650" y="53149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131F"/>
                </a:solidFill>
                <a:latin typeface="맑은 고딕"/>
                <a:ea typeface="맑은 고딕"/>
                <a:cs typeface="맑은 고딕"/>
              </a:defRPr>
            </a:pPr>
            <a:r>
              <a:rPr sz="1350" b="1">
                <a:solidFill>
                  <a:srgbClr val="07131F"/>
                </a:solidFill>
                <a:latin typeface="맑은 고딕"/>
                <a:ea typeface="맑은 고딕"/>
                <a:cs typeface="맑은 고딕"/>
              </a:rPr>
              <a:t>처리시각과 권한 검증은 화면보다 서버가 책임져야 합니다</a:t>
            </a:r>
          </a:p>
        </p:txBody>
      </p:sp>
      <p:sp>
        <p:nvSpPr>
          <p:cNvPr id="19" name="">
            <a:extLst xmlns:a="http://schemas.openxmlformats.org/drawingml/2006/main">
              <a:ext uri="{FF2B5EF4-FFF2-40B4-BE49-F238E27FC236}">
                <a16:creationId xmlns:a16="http://schemas.microsoft.com/office/drawing/2014/main" id="{5EC2CF0E-0F52-46DA-83D4-DC29571DE54B}"/>
              </a:ext>
            </a:extLst>
          </p:cNvPr>
          <p:cNvSpPr>
            <a:spLocks xmlns:a="http://schemas.openxmlformats.org/drawingml/2006/main" noGrp="1"/>
          </p:cNvSpPr>
          <p:nvPr/>
        </p:nvSpPr>
        <p:spPr>
          <a:xfrm xmlns:a="http://schemas.openxmlformats.org/drawingml/2006/main">
            <a:off x="8572500" y="466725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6B4A"/>
                </a:solidFill>
                <a:latin typeface="맑은 고딕"/>
                <a:ea typeface="맑은 고딕"/>
                <a:cs typeface="맑은 고딕"/>
              </a:defRPr>
            </a:pPr>
            <a:r>
              <a:rPr sz="3000" b="1">
                <a:solidFill>
                  <a:srgbClr val="FF6B4A"/>
                </a:solidFill>
                <a:latin typeface="맑은 고딕"/>
                <a:ea typeface="맑은 고딕"/>
                <a:cs typeface="맑은 고딕"/>
              </a:rPr>
              <a:t>Q&amp;A</a:t>
            </a:r>
          </a:p>
        </p:txBody>
      </p:sp>
      <p:sp>
        <p:nvSpPr>
          <p:cNvPr id="20" name="">
            <a:extLst xmlns:a="http://schemas.openxmlformats.org/drawingml/2006/main">
              <a:ext uri="{FF2B5EF4-FFF2-40B4-BE49-F238E27FC236}">
                <a16:creationId xmlns:a16="http://schemas.microsoft.com/office/drawing/2014/main" id="{944DBCBB-EB0C-4BB9-835F-047360E5AF9D}"/>
              </a:ext>
            </a:extLst>
          </p:cNvPr>
          <p:cNvSpPr>
            <a:spLocks xmlns:a="http://schemas.openxmlformats.org/drawingml/2006/main" noGrp="1"/>
          </p:cNvSpPr>
          <p:nvPr/>
        </p:nvSpPr>
        <p:spPr>
          <a:xfrm xmlns:a="http://schemas.openxmlformats.org/drawingml/2006/main">
            <a:off x="7429500" y="52768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18295"/>
                </a:solidFill>
                <a:latin typeface="맑은 고딕"/>
                <a:ea typeface="맑은 고딕"/>
                <a:cs typeface="맑은 고딕"/>
              </a:defRPr>
            </a:pPr>
            <a:r>
              <a:rPr sz="1200" b="0">
                <a:solidFill>
                  <a:srgbClr val="718295"/>
                </a:solidFill>
                <a:latin typeface="맑은 고딕"/>
                <a:ea typeface="맑은 고딕"/>
                <a:cs typeface="맑은 고딕"/>
              </a:rPr>
              <a:t>실제 화면과 코드 흐름을 기준으로 답변드리겠습니다</a:t>
            </a:r>
          </a:p>
        </p:txBody>
      </p:sp>
      <p:sp>
        <p:nvSpPr>
          <p:cNvPr id="21" name="">
            <a:extLst xmlns:a="http://schemas.openxmlformats.org/drawingml/2006/main">
              <a:ext uri="{FF2B5EF4-FFF2-40B4-BE49-F238E27FC236}">
                <a16:creationId xmlns:a16="http://schemas.microsoft.com/office/drawing/2014/main" id="{03CFC0DD-08DD-4A03-BA47-877D9AC4E1CF}"/>
              </a:ext>
            </a:extLst>
          </p:cNvPr>
          <p:cNvSpPr>
            <a:spLocks xmlns:a="http://schemas.openxmlformats.org/drawingml/2006/main" noGrp="1"/>
          </p:cNvSpPr>
          <p:nvPr/>
        </p:nvSpPr>
        <p:spPr>
          <a:xfrm xmlns:a="http://schemas.openxmlformats.org/drawingml/2006/main">
            <a:off x="628650" y="6153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5A5AF"/>
                </a:solidFill>
                <a:latin typeface="맑은 고딕"/>
                <a:ea typeface="맑은 고딕"/>
                <a:cs typeface="맑은 고딕"/>
              </a:defRPr>
            </a:pPr>
            <a:r>
              <a:rPr sz="900" b="0">
                <a:solidFill>
                  <a:srgbClr val="95A5AF"/>
                </a:solidFill>
                <a:latin typeface="맑은 고딕"/>
                <a:ea typeface="맑은 고딕"/>
                <a:cs typeface="맑은 고딕"/>
              </a:rPr>
              <a:t>팀명 · 발표자 · 멘토 정보 입력 필요</a:t>
            </a:r>
          </a:p>
        </p:txBody>
      </p:sp>
    </p:spTree>
    <p:extLst>
      <p:ext uri="{BB962C8B-B14F-4D97-AF65-F5344CB8AC3E}">
        <p14:creationId xmlns:p14="http://schemas.microsoft.com/office/powerpoint/2010/main" val="211080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2026-09-15T06:54:35.4080000Z</dcterms:created>
  <dcterms:modified xsi:type="dcterms:W3CDTF">2026-09-15T06:54:35.4080000Z</dcterms:modified>
</coreProperties>
</file>