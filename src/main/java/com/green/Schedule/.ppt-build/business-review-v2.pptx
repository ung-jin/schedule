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a20177681b49b7" /><Relationship Type="http://schemas.openxmlformats.org/officeDocument/2006/relationships/extended-properties" Target="/docProps/app.xml" Id="Rfe2a71f29d334f48" /><Relationship Type="http://schemas.openxmlformats.org/officeDocument/2006/relationships/officeDocument" Target="/ppt/presentation.xml" Id="R16165efbb57f4fb3" /></Relationships>
</file>

<file path=ppt/presentation.xml><?xml version="1.0" encoding="utf-8"?>
<p:presentation xmlns:p="http://schemas.openxmlformats.org/presentationml/2006/main">
  <p:sldMasterIdLst>
    <p:sldMasterId xmlns:r="http://schemas.openxmlformats.org/officeDocument/2006/relationships" id="2147483648" r:id="R66e181dec8e64210"/>
  </p:sldMasterIdLst>
  <p:notesMasterIdLst>
    <p:notesMasterId xmlns:r="http://schemas.openxmlformats.org/officeDocument/2006/relationships" r:id="R35dfd24a4add403c"/>
  </p:notesMasterIdLst>
  <p:sldIdLst>
    <p:sldId xmlns:r="http://schemas.openxmlformats.org/officeDocument/2006/relationships" id="256" r:id="R5c5f3b27e56a472f"/>
    <p:sldId xmlns:r="http://schemas.openxmlformats.org/officeDocument/2006/relationships" id="257" r:id="R79c2582cd6714b58"/>
    <p:sldId xmlns:r="http://schemas.openxmlformats.org/officeDocument/2006/relationships" id="258" r:id="R6cbb38e292a54b37"/>
    <p:sldId xmlns:r="http://schemas.openxmlformats.org/officeDocument/2006/relationships" id="259" r:id="R79f474a4b0f74a31"/>
    <p:sldId xmlns:r="http://schemas.openxmlformats.org/officeDocument/2006/relationships" id="260" r:id="R273265948fc24520"/>
    <p:sldId xmlns:r="http://schemas.openxmlformats.org/officeDocument/2006/relationships" id="261" r:id="R813ae518f39545c4"/>
    <p:sldId xmlns:r="http://schemas.openxmlformats.org/officeDocument/2006/relationships" id="262" r:id="R50e01af86fb64d67"/>
    <p:sldId xmlns:r="http://schemas.openxmlformats.org/officeDocument/2006/relationships" id="263" r:id="R12f49704c8b04660"/>
    <p:sldId xmlns:r="http://schemas.openxmlformats.org/officeDocument/2006/relationships" id="264" r:id="R7d8f4d359a3942d9"/>
    <p:sldId xmlns:r="http://schemas.openxmlformats.org/officeDocument/2006/relationships" id="265" r:id="R856f382840d34192"/>
    <p:sldId xmlns:r="http://schemas.openxmlformats.org/officeDocument/2006/relationships" id="266" r:id="R03123f7b29fe49f8"/>
    <p:sldId xmlns:r="http://schemas.openxmlformats.org/officeDocument/2006/relationships" id="267" r:id="R0ec3a373bb524cd7"/>
    <p:sldId xmlns:r="http://schemas.openxmlformats.org/officeDocument/2006/relationships" id="268" r:id="R290ef4a12b26456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d8e75362094a37" /><Relationship Type="http://schemas.openxmlformats.org/officeDocument/2006/relationships/slideMaster" Target="/ppt/slideMasters/slideMaster1.xml" Id="R66e181dec8e64210" /><Relationship Type="http://schemas.openxmlformats.org/officeDocument/2006/relationships/notesMaster" Target="/ppt/notesMasters/notesMaster1.xml" Id="R35dfd24a4add403c" /><Relationship Type="http://schemas.openxmlformats.org/officeDocument/2006/relationships/presProps" Target="/ppt/presProps.xml" Id="R6a586f9f3b4e4a8a" /><Relationship Type="http://schemas.openxmlformats.org/officeDocument/2006/relationships/tableStyles" Target="/ppt/tableStyles.xml" Id="R933d7504d0224530" /><Relationship Type="http://schemas.openxmlformats.org/officeDocument/2006/relationships/slide" Target="/ppt/slides/slide1.xml" Id="R5c5f3b27e56a472f" /><Relationship Type="http://schemas.openxmlformats.org/officeDocument/2006/relationships/slide" Target="/ppt/slides/slide2.xml" Id="R79c2582cd6714b58" /><Relationship Type="http://schemas.openxmlformats.org/officeDocument/2006/relationships/slide" Target="/ppt/slides/slide3.xml" Id="R6cbb38e292a54b37" /><Relationship Type="http://schemas.openxmlformats.org/officeDocument/2006/relationships/slide" Target="/ppt/slides/slide4.xml" Id="R79f474a4b0f74a31" /><Relationship Type="http://schemas.openxmlformats.org/officeDocument/2006/relationships/slide" Target="/ppt/slides/slide5.xml" Id="R273265948fc24520" /><Relationship Type="http://schemas.openxmlformats.org/officeDocument/2006/relationships/slide" Target="/ppt/slides/slide6.xml" Id="R813ae518f39545c4" /><Relationship Type="http://schemas.openxmlformats.org/officeDocument/2006/relationships/slide" Target="/ppt/slides/slide7.xml" Id="R50e01af86fb64d67" /><Relationship Type="http://schemas.openxmlformats.org/officeDocument/2006/relationships/slide" Target="/ppt/slides/slide8.xml" Id="R12f49704c8b04660" /><Relationship Type="http://schemas.openxmlformats.org/officeDocument/2006/relationships/slide" Target="/ppt/slides/slide9.xml" Id="R7d8f4d359a3942d9" /><Relationship Type="http://schemas.openxmlformats.org/officeDocument/2006/relationships/slide" Target="/ppt/slides/slide10.xml" Id="R856f382840d34192" /><Relationship Type="http://schemas.openxmlformats.org/officeDocument/2006/relationships/slide" Target="/ppt/slides/slide11.xml" Id="R03123f7b29fe49f8" /><Relationship Type="http://schemas.openxmlformats.org/officeDocument/2006/relationships/slide" Target="/ppt/slides/slide12.xml" Id="R0ec3a373bb524cd7" /><Relationship Type="http://schemas.openxmlformats.org/officeDocument/2006/relationships/slide" Target="/ppt/slides/slide13.xml" Id="R290ef4a12b2645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2ae8b007604c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0bfbfcf5bf4a3f" /><Relationship Type="http://schemas.openxmlformats.org/officeDocument/2006/relationships/notesMaster" Target="/ppt/notesMasters/notesMaster1.xml" Id="Re0429be04c6d4e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75e08eee6341b5" /><Relationship Type="http://schemas.openxmlformats.org/officeDocument/2006/relationships/notesMaster" Target="/ppt/notesMasters/notesMaster1.xml" Id="R1563dd915b894c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9fd64880824cf0" /><Relationship Type="http://schemas.openxmlformats.org/officeDocument/2006/relationships/notesMaster" Target="/ppt/notesMasters/notesMaster1.xml" Id="Rbf99ca710e1f4d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af38a450f94018" /><Relationship Type="http://schemas.openxmlformats.org/officeDocument/2006/relationships/notesMaster" Target="/ppt/notesMasters/notesMaster1.xml" Id="Rb856810eb8c84c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c1d7e079c34e6d" /><Relationship Type="http://schemas.openxmlformats.org/officeDocument/2006/relationships/notesMaster" Target="/ppt/notesMasters/notesMaster1.xml" Id="R8f4cbee0c22247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9aeb58ad894faa" /><Relationship Type="http://schemas.openxmlformats.org/officeDocument/2006/relationships/notesMaster" Target="/ppt/notesMasters/notesMaster1.xml" Id="R6ff01a33c53c4b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84925c981c4a34" /><Relationship Type="http://schemas.openxmlformats.org/officeDocument/2006/relationships/notesMaster" Target="/ppt/notesMasters/notesMaster1.xml" Id="R2b3a3af6d9284e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11bbfc49eb47a3" /><Relationship Type="http://schemas.openxmlformats.org/officeDocument/2006/relationships/notesMaster" Target="/ppt/notesMasters/notesMaster1.xml" Id="R46210a3e1ec6484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85f2f7ef254175" /><Relationship Type="http://schemas.openxmlformats.org/officeDocument/2006/relationships/notesMaster" Target="/ppt/notesMasters/notesMaster1.xml" Id="R3d37fea1a4bf4fb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a99741141949bd" /><Relationship Type="http://schemas.openxmlformats.org/officeDocument/2006/relationships/notesMaster" Target="/ppt/notesMasters/notesMaster1.xml" Id="R4205a365599443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039a40a777845b2" /><Relationship Type="http://schemas.openxmlformats.org/officeDocument/2006/relationships/notesMaster" Target="/ppt/notesMasters/notesMaster1.xml" Id="R69564957554b41a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54f9b78e6d94510" /><Relationship Type="http://schemas.openxmlformats.org/officeDocument/2006/relationships/notesMaster" Target="/ppt/notesMasters/notesMaster1.xml" Id="Rf4796c48b5c145f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d7df2aac3e44e2c" /><Relationship Type="http://schemas.openxmlformats.org/officeDocument/2006/relationships/notesMaster" Target="/ppt/notesMasters/notesMaster1.xml" Id="R31101ce2f7984b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안녕하세요. 저희가 개발한 Schedule은 냉난방기기 AS 운영을 하나의 흐름으로 관리하는 웹 서비스입니다. 고객 접수, 관리자 배정, 기사 방문과 결과보고, 고객 만족도 수집까지 실제 업무 순서대로 연결했습니다. 오늘은 기능 나열보다 어떤 운영 문제를 해결했고 실제로 어떻게 동작하는지 중심으로 말씀드리겠습니다.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[0:35~1:20] 프로젝트의 핵심은 네 단계입니다. 고객이 신청하면 관리자가 기사를 배정하고, 기사가 현장에서 결과를 등록하면 고객에게 설문 링크가 발송됩니다. 각 역할은 서로 다른 화면을 사용하지만 같은 접수번호와 일정 데이터를 공유합니다. 현재 구현은 사용자 역할 3종, 핵심 테이블 6개이며 자동 테스트 4개가 통과했습니다. 이 숫자는 성공률이 아니라 저장소에서 확인한 테스트 개수입니다.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[1:20~2:25] 선정 배경은 현장 서비스 업무의 정보 단절입니다. 접수 내용이 전화나 메모로 들어오면 상태를 다시 확인해야 하고, 관리자는 미배정 요청과 기사 일정을 따로 봐야 합니다. 기사는 일정을 전달받은 뒤 다시 결과를 남겨야 하며, 고객 평가는 운영 데이터로 축적되기 어렵습니다. Schedule은 이 세 가지 단절을 하나의 접수 상태와 일정 데이터로 연결하는 데서 출발했습니다.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[2:25~3:25] 서비스 구조는 고객, 관리자, 기사 세 역할로 나뉩니다. 고객은 신청과 자신의 내역, 만족도 설문을 사용합니다. 관리자는 접수 현황과 기사 관리, 일정 배정을 담당합니다. 기사는 본인 일정과 결과보고만 확인합니다. 화면과 권한은 분리했지만 접수 상태, 기사 일정, 처리 결과와 만족도 데이터는 순차적으로 이어집니다. 역할별 접근 제어와 본인 소유 데이터 확인도 적용했습니다.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[3:25~4:25] 고객 화면은 접수 데이터의 시작점입니다. 고객은 제품 종류, 증상, 주소와 희망일을 입력합니다. 같은 조건의 중복 신청을 확인하고, 로그인한 고객은 자신의 신청내역과 상세만 조회할 수 있습니다. 이 화면에서 만들어진 REQUEST 데이터가 관리자 배정과 기사 일정으로 이어집니다.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[4:25~5:30] 관리자는 로그인 직후 대시보드에서 전체 운영 상태를 확인합니다. 상태별 건수와 최근 접수 목록을 함께 보고, 상세 화면에서 고객 정보와 증상을 확인합니다. 운영자가 여러 메뉴를 오가며 숫자를 맞추지 않아도 현재 요청이 어느 단계에 있는지 파악할 수 있도록 구성했습니다.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[5:30~6:35] 일정관리 화면에서는 미배정 요청을 선택하고 담당 기사와 방문 시간을 입력합니다. 저장하면 AS_SCHEDULE에 일정이 생성되고 REQUEST 상태가 ASSIGNED로 변경됩니다. 월간 캘린더에서 기사별 배정 결과를 색상으로 확인할 수 있습니다. 현재 핵심 배정 흐름은 구현됐고, 같은 기사에게 겹치는 시간을 배정하지 않도록 하는 충돌 검증은 다음 보완 과제로 남았습니다.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[6:35~8:05] 기사 화면은 현장 업무 순서에 맞췄습니다. 대시보드에서 오늘 배정과 월간 일정을 확인하고, 방문이 끝나면 결과보고 화면에서 처리 내용과 사진을 최대 두 장까지 등록합니다. 다른 기사의 scheduleNo를 직접 입력해 접근하지 못하도록 소유권을 확인하며, 처리 시각은 브라우저가 아니라 서버가 기록합니다. 신규 결과 등록이 완료되면 해당 접수 상태도 COMPLETED로 변경됩니다.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[8:05~9:20] 결과보고가 끝나면 Solapi를 통해 고객에게 만족도 설문 링크를 발송합니다. 초기에는 Google Form을 검토했지만 응답을 시스템 통계로 연결하기 어려워 자체 설문으로 변경했습니다. 고객은 세 항목을 평가하고, 응답은 만족도 테이블에 저장됩니다. 기사 대시보드는 월간 평균, 전년 동월 비교와 월별 추이를 보여줍니다. 결과 등록에서 고객 피드백까지 이어지는 흐름이 Schedule의 가장 큰 차별점입니다.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[9:20~10:40] 개발은 9월 8일부터 15일까지 6개 작업일 동안 진행했습니다. 팀은 화면 단위로 오너십을 나눴습니다. 팀장은 공통 화면과 로그인, 통합을 맡았고 최준영은 관리자 대시보드와 기사관리, 김성준은 관리자 일정관리, 박성인은 기사 대시보드와 결과보고, SMS와 만족도를 담당했습니다. 각 담당자가 Controller, Service, Mapper, HTML과 JavaScript까지 하나의 기능 흐름을 완결했습니다. 저장소에 없는 팀장명과 실제 멘토 지원 내용은 제출 전에 입력해야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[10:40~12:05] 기술 구성은 Java 17, Spring Boot 4.0.8, Thymeleaf, MyBatis와 MariaDB입니다. FullCalendar로 일정을 표시하고 Solapi SMS와 Cloudflare Tunnel을 연동했습니다. 교육에서 배운 MVC 구조, 데이터베이스 조인, 파일 업로드와 비동기 처리를 하나의 서비스 흐름에 적용했습니다. 개발 중 MEMBER 번호와 ENGINEER 번호를 혼동한 오류는 기사번호를 별도로 조회하도록 수정했고, 외부 설문은 자체 설문으로 바꿨습니다. 현재 빌드와 자동 테스트는 통과했지만 비밀번호 해시, 비밀정보 외부화와 배정 충돌 검증은 운영 전에 보완해야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[12:05~13:25] 활용 대상은 소규모 AS센터입니다. 관리자는 접수와 배정 현황을 한눈에 보고, 기사는 자신에게 배정된 일정과 처리 이력에 집중할 수 있습니다. 고객 평가까지 같은 DB에 쌓이기 때문에 기사별 서비스 품질을 월간 단위로 확인할 기반도 생깁니다. 다음 단계는 일정 충돌 검증, 보안과 배포 환경 강화, 모바일 화면과 알림 개선입니다. 아직 실제 사업장에서 측정한 운영 수치는 없으므로 이 슬라이드의 내용은 검증된 성과가 아니라 기대 효과입니다.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[13:25~15:00] 자체 완성도는 10점 만점에 8점으로 평가했습니다. 고객 접수에서 관리자 배정, 기사 처리와 만족도까지 핵심 흐름이 실제 화면에서 동작하고, 현재 빌드와 자동 테스트도 통과했습니다. 반면 비밀번호 해시 저장, SMS 인증정보 환경변수화, 일정 배정 충돌 검증은 운영 전에 반드시 보완해야 합니다. 프로젝트를 통해 테이블마다 다른 기본키를 정확히 구분하는 중요성, 처리 시각과 권한은 서버가 책임져야 한다는 점을 배웠습니다. 이상으로 발표를 마치겠습니다. 질문 주시면 실제 화면과 코드 흐름을 기준으로 답변드리겠습니다.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374d25406246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bbc77a2b9b417a" /><Relationship Type="http://schemas.openxmlformats.org/officeDocument/2006/relationships/slideLayout" Target="/ppt/slideLayouts/slideLayout1.xml" Id="R44c7fc258a734d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c7fc258a734d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5705570f61b4b38" /><Relationship Type="http://schemas.openxmlformats.org/officeDocument/2006/relationships/image" Target="/ppt/media/image.jpeg" Id="R2a16cf0970674c2d" /><Relationship Type="http://schemas.openxmlformats.org/officeDocument/2006/relationships/notesSlide" Target="/ppt/notesSlides/notesSlide1.xml" Id="R97fa20fd0ba940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ca1b4a1bf2c4182" /><Relationship Type="http://schemas.openxmlformats.org/officeDocument/2006/relationships/notesSlide" Target="/ppt/notesSlides/notesSlide2.xml" Id="R507f014789e947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97cd107bff64c99" /><Relationship Type="http://schemas.openxmlformats.org/officeDocument/2006/relationships/image" Target="/ppt/media/image2.jpeg" Id="Rb56e381da96f44ff" /><Relationship Type="http://schemas.openxmlformats.org/officeDocument/2006/relationships/notesSlide" Target="/ppt/notesSlides/notesSlide3.xml" Id="R30982077ef8d45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b31861a36594abe" /><Relationship Type="http://schemas.openxmlformats.org/officeDocument/2006/relationships/notesSlide" Target="/ppt/notesSlides/notesSlide4.xml" Id="R1fb89194739342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da76d98dbd14a06" /><Relationship Type="http://schemas.openxmlformats.org/officeDocument/2006/relationships/image" Target="/ppt/media/image3.jpeg" Id="R523edb8acdb94233" /><Relationship Type="http://schemas.openxmlformats.org/officeDocument/2006/relationships/notesSlide" Target="/ppt/notesSlides/notesSlide5.xml" Id="R924c18d34d8446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ec42ccdb1d47e1" /><Relationship Type="http://schemas.openxmlformats.org/officeDocument/2006/relationships/image" Target="/ppt/media/image4.jpeg" Id="R5762bbced0444509" /><Relationship Type="http://schemas.openxmlformats.org/officeDocument/2006/relationships/notesSlide" Target="/ppt/notesSlides/notesSlide6.xml" Id="R3ce2ff7e694947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cfb22f79e6245b4" /><Relationship Type="http://schemas.openxmlformats.org/officeDocument/2006/relationships/image" Target="/ppt/media/image5.jpeg" Id="R096af19ca3c14461" /><Relationship Type="http://schemas.openxmlformats.org/officeDocument/2006/relationships/notesSlide" Target="/ppt/notesSlides/notesSlide7.xml" Id="R87f936d7067046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609153226c74584" /><Relationship Type="http://schemas.openxmlformats.org/officeDocument/2006/relationships/image" Target="/ppt/media/image6.jpeg" Id="Rf8c6da1a72d243cc" /><Relationship Type="http://schemas.openxmlformats.org/officeDocument/2006/relationships/image" Target="/ppt/media/image7.jpeg" Id="R6c220fcc77fb48b0" /><Relationship Type="http://schemas.openxmlformats.org/officeDocument/2006/relationships/notesSlide" Target="/ppt/notesSlides/notesSlide8.xml" Id="Rb49889f9d6d840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8ddefd68cf94bac" /><Relationship Type="http://schemas.openxmlformats.org/officeDocument/2006/relationships/image" Target="/ppt/media/image8.jpeg" Id="R48207607558c4aa5" /><Relationship Type="http://schemas.openxmlformats.org/officeDocument/2006/relationships/notesSlide" Target="/ppt/notesSlides/notesSlide9.xml" Id="R1a3f1a04a4bd4d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869bfcc1f104454" /><Relationship Type="http://schemas.openxmlformats.org/officeDocument/2006/relationships/notesSlide" Target="/ppt/notesSlides/notesSlide10.xml" Id="R290250ff295847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4cddce7a92d4eda" /><Relationship Type="http://schemas.openxmlformats.org/officeDocument/2006/relationships/notesSlide" Target="/ppt/notesSlides/notesSlide11.xml" Id="R619536b74994493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f650db4d8ef4373" /><Relationship Type="http://schemas.openxmlformats.org/officeDocument/2006/relationships/notesSlide" Target="/ppt/notesSlides/notesSlide12.xml" Id="Rea466faf7af7403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3a24e6710cf472f" /><Relationship Type="http://schemas.openxmlformats.org/officeDocument/2006/relationships/notesSlide" Target="/ppt/notesSlides/notesSlide13.xml" Id="R3f3796b75e144927" /></Relationships>
</file>

<file path=ppt/slides/slide1.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a16cf0970674c2d"/>
          <a:srcRect xmlns:a="http://schemas.openxmlformats.org/drawingml/2006/main" l="29675" t="0" r="29675"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75F70C4-5D47-4BC9-BB89-E660008C2BEE}"/>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0713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A9023A4-FBDF-419E-81CC-F9F9B62E2E45}"/>
              </a:ext>
            </a:extLst>
          </p:cNvPr>
          <p:cNvSpPr>
            <a:spLocks xmlns:a="http://schemas.openxmlformats.org/drawingml/2006/main" noGrp="1"/>
          </p:cNvSpPr>
          <p:nvPr/>
        </p:nvSpPr>
        <p:spPr>
          <a:xfrm xmlns:a="http://schemas.openxmlformats.org/drawingml/2006/main">
            <a:off x="628650" y="990600"/>
            <a:ext cx="685800" cy="666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68716B-2C12-4040-AB83-A39CB98FAE8D}"/>
              </a:ext>
            </a:extLst>
          </p:cNvPr>
          <p:cNvSpPr>
            <a:spLocks xmlns:a="http://schemas.openxmlformats.org/drawingml/2006/main" noGrp="1"/>
          </p:cNvSpPr>
          <p:nvPr/>
        </p:nvSpPr>
        <p:spPr>
          <a:xfrm xmlns:a="http://schemas.openxmlformats.org/drawingml/2006/main">
            <a:off x="628650" y="1428750"/>
            <a:ext cx="6191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FFFFF"/>
                </a:solidFill>
                <a:latin typeface="맑은 고딕"/>
                <a:ea typeface="맑은 고딕"/>
                <a:cs typeface="맑은 고딕"/>
              </a:defRPr>
            </a:pPr>
            <a:r>
              <a:rPr sz="4350" b="1">
                <a:solidFill>
                  <a:srgbClr val="FFFFFF"/>
                </a:solidFill>
                <a:latin typeface="맑은 고딕"/>
                <a:ea typeface="맑은 고딕"/>
                <a:cs typeface="맑은 고딕"/>
              </a:rPr>
              <a:t>Schedule</a:t>
            </a:r>
          </a:p>
        </p:txBody>
      </p:sp>
      <p:sp>
        <p:nvSpPr>
          <p:cNvPr id="5" name="">
            <a:extLst xmlns:a="http://schemas.openxmlformats.org/drawingml/2006/main">
              <a:ext uri="{FF2B5EF4-FFF2-40B4-BE49-F238E27FC236}">
                <a16:creationId xmlns:a16="http://schemas.microsoft.com/office/drawing/2014/main" id="{A62B1A3D-16B3-4506-B43B-42D968442FBE}"/>
              </a:ext>
            </a:extLst>
          </p:cNvPr>
          <p:cNvSpPr>
            <a:spLocks xmlns:a="http://schemas.openxmlformats.org/drawingml/2006/main" noGrp="1"/>
          </p:cNvSpPr>
          <p:nvPr/>
        </p:nvSpPr>
        <p:spPr>
          <a:xfrm xmlns:a="http://schemas.openxmlformats.org/drawingml/2006/main">
            <a:off x="647700" y="234315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7E1E7"/>
                </a:solidFill>
                <a:latin typeface="맑은 고딕"/>
                <a:ea typeface="맑은 고딕"/>
                <a:cs typeface="맑은 고딕"/>
              </a:defRPr>
            </a:pPr>
            <a:r>
              <a:rPr sz="1800" b="0">
                <a:solidFill>
                  <a:srgbClr val="D7E1E7"/>
                </a:solidFill>
                <a:latin typeface="맑은 고딕"/>
                <a:ea typeface="맑은 고딕"/>
                <a:cs typeface="맑은 고딕"/>
              </a:rPr>
              <a:t>냉난방기기 AS 운영관리 시스템</a:t>
            </a:r>
          </a:p>
        </p:txBody>
      </p:sp>
      <p:sp>
        <p:nvSpPr>
          <p:cNvPr id="6" name="">
            <a:extLst xmlns:a="http://schemas.openxmlformats.org/drawingml/2006/main">
              <a:ext uri="{FF2B5EF4-FFF2-40B4-BE49-F238E27FC236}">
                <a16:creationId xmlns:a16="http://schemas.microsoft.com/office/drawing/2014/main" id="{DE15626F-FFE4-40F1-846C-A23B1DC15010}"/>
              </a:ext>
            </a:extLst>
          </p:cNvPr>
          <p:cNvSpPr>
            <a:spLocks xmlns:a="http://schemas.openxmlformats.org/drawingml/2006/main" noGrp="1"/>
          </p:cNvSpPr>
          <p:nvPr/>
        </p:nvSpPr>
        <p:spPr>
          <a:xfrm xmlns:a="http://schemas.openxmlformats.org/drawingml/2006/main">
            <a:off x="647700" y="3028950"/>
            <a:ext cx="5667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0D5C4"/>
                </a:solidFill>
                <a:latin typeface="맑은 고딕"/>
                <a:ea typeface="맑은 고딕"/>
                <a:cs typeface="맑은 고딕"/>
              </a:defRPr>
            </a:pPr>
            <a:r>
              <a:rPr sz="2025" b="1">
                <a:solidFill>
                  <a:srgbClr val="20D5C4"/>
                </a:solidFill>
                <a:latin typeface="맑은 고딕"/>
                <a:ea typeface="맑은 고딕"/>
                <a:cs typeface="맑은 고딕"/>
              </a:rPr>
              <a:t>접수부터 고객 평가까지 이어지는 현장 서비스 운영</a:t>
            </a:r>
          </a:p>
        </p:txBody>
      </p:sp>
      <p:sp>
        <p:nvSpPr>
          <p:cNvPr id="7" name="">
            <a:extLst xmlns:a="http://schemas.openxmlformats.org/drawingml/2006/main">
              <a:ext uri="{FF2B5EF4-FFF2-40B4-BE49-F238E27FC236}">
                <a16:creationId xmlns:a16="http://schemas.microsoft.com/office/drawing/2014/main" id="{B97E09F4-1CC1-4885-90AC-4A9EBF7B6BA4}"/>
              </a:ext>
            </a:extLst>
          </p:cNvPr>
          <p:cNvSpPr>
            <a:spLocks xmlns:a="http://schemas.openxmlformats.org/drawingml/2006/main" noGrp="1"/>
          </p:cNvSpPr>
          <p:nvPr/>
        </p:nvSpPr>
        <p:spPr>
          <a:xfrm xmlns:a="http://schemas.openxmlformats.org/drawingml/2006/main">
            <a:off x="647700" y="5524500"/>
            <a:ext cx="457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8EA2B1"/>
                </a:solidFill>
                <a:latin typeface="맑은 고딕"/>
                <a:ea typeface="맑은 고딕"/>
                <a:cs typeface="맑은 고딕"/>
              </a:defRPr>
            </a:pPr>
            <a:r>
              <a:rPr sz="975" b="1">
                <a:solidFill>
                  <a:srgbClr val="8EA2B1"/>
                </a:solidFill>
                <a:latin typeface="맑은 고딕"/>
                <a:ea typeface="맑은 고딕"/>
                <a:cs typeface="맑은 고딕"/>
              </a:rPr>
              <a:t>TEAM PROJECT  ·  2026.09.08–09.15</a:t>
            </a:r>
          </a:p>
        </p:txBody>
      </p:sp>
      <p:sp>
        <p:nvSpPr>
          <p:cNvPr id="8" name="">
            <a:extLst xmlns:a="http://schemas.openxmlformats.org/drawingml/2006/main">
              <a:ext uri="{FF2B5EF4-FFF2-40B4-BE49-F238E27FC236}">
                <a16:creationId xmlns:a16="http://schemas.microsoft.com/office/drawing/2014/main" id="{EF9A95AC-F5A6-4A6F-B81A-5D6C4CEF9202}"/>
              </a:ext>
            </a:extLst>
          </p:cNvPr>
          <p:cNvSpPr>
            <a:spLocks xmlns:a="http://schemas.openxmlformats.org/drawingml/2006/main" noGrp="1"/>
          </p:cNvSpPr>
          <p:nvPr/>
        </p:nvSpPr>
        <p:spPr>
          <a:xfrm xmlns:a="http://schemas.openxmlformats.org/drawingml/2006/main">
            <a:off x="647700" y="59055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맑은 고딕"/>
                <a:ea typeface="맑은 고딕"/>
                <a:cs typeface="맑은 고딕"/>
              </a:defRPr>
            </a:pPr>
            <a:r>
              <a:rPr sz="1200" b="0">
                <a:solidFill>
                  <a:srgbClr val="FFFFFF"/>
                </a:solidFill>
                <a:latin typeface="맑은 고딕"/>
                <a:ea typeface="맑은 고딕"/>
                <a:cs typeface="맑은 고딕"/>
              </a:rPr>
              <a:t>팀명·발표자 입력</a:t>
            </a:r>
          </a:p>
        </p:txBody>
      </p:sp>
    </p:spTree>
    <p:extLst>
      <p:ext uri="{BB962C8B-B14F-4D97-AF65-F5344CB8AC3E}">
        <p14:creationId xmlns:p14="http://schemas.microsoft.com/office/powerpoint/2010/main" val="4492487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8007402-AC3F-4834-8B22-693AFF8D2D61}"/>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FF6B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03E2A0-DDBC-47F2-AEDD-9633FE67C3F1}"/>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A278B72D-8CD2-4CA3-BF65-E09E19D1F849}"/>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9BACB7"/>
                </a:solidFill>
                <a:latin typeface="맑은 고딕"/>
                <a:ea typeface="맑은 고딕"/>
                <a:cs typeface="맑은 고딕"/>
              </a:defRPr>
            </a:pPr>
            <a:r>
              <a:rPr sz="825" b="1">
                <a:solidFill>
                  <a:srgbClr val="9BACB7"/>
                </a:solidFill>
                <a:latin typeface="맑은 고딕"/>
                <a:ea typeface="맑은 고딕"/>
                <a:cs typeface="맑은 고딕"/>
              </a:rPr>
              <a:t>02</a:t>
            </a:r>
          </a:p>
        </p:txBody>
      </p:sp>
      <p:sp>
        <p:nvSpPr>
          <p:cNvPr id="4" name="">
            <a:extLst xmlns:a="http://schemas.openxmlformats.org/drawingml/2006/main">
              <a:ext uri="{FF2B5EF4-FFF2-40B4-BE49-F238E27FC236}">
                <a16:creationId xmlns:a16="http://schemas.microsoft.com/office/drawing/2014/main" id="{429E21FD-991B-4FA5-BD98-A4C07EFC3560}"/>
              </a:ext>
            </a:extLst>
          </p:cNvPr>
          <p:cNvSpPr>
            <a:spLocks xmlns:a="http://schemas.openxmlformats.org/drawingml/2006/main" noGrp="1"/>
          </p:cNvSpPr>
          <p:nvPr/>
        </p:nvSpPr>
        <p:spPr>
          <a:xfrm xmlns:a="http://schemas.openxmlformats.org/drawingml/2006/main">
            <a:off x="628650" y="552450"/>
            <a:ext cx="704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PROJECT OVERVIEW</a:t>
            </a:r>
          </a:p>
        </p:txBody>
      </p:sp>
      <p:sp>
        <p:nvSpPr>
          <p:cNvPr id="5" name="">
            <a:extLst xmlns:a="http://schemas.openxmlformats.org/drawingml/2006/main">
              <a:ext uri="{FF2B5EF4-FFF2-40B4-BE49-F238E27FC236}">
                <a16:creationId xmlns:a16="http://schemas.microsoft.com/office/drawing/2014/main" id="{A4773592-169F-453C-A8F3-9ADD8D354DA5}"/>
              </a:ext>
            </a:extLst>
          </p:cNvPr>
          <p:cNvSpPr>
            <a:spLocks xmlns:a="http://schemas.openxmlformats.org/drawingml/2006/main" noGrp="1"/>
          </p:cNvSpPr>
          <p:nvPr/>
        </p:nvSpPr>
        <p:spPr>
          <a:xfrm xmlns:a="http://schemas.openxmlformats.org/drawingml/2006/main">
            <a:off x="628650" y="8763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7131F"/>
                </a:solidFill>
                <a:latin typeface="맑은 고딕"/>
                <a:ea typeface="맑은 고딕"/>
                <a:cs typeface="맑은 고딕"/>
              </a:defRPr>
            </a:pPr>
            <a:r>
              <a:rPr sz="2550" b="1">
                <a:solidFill>
                  <a:srgbClr val="07131F"/>
                </a:solidFill>
                <a:latin typeface="맑은 고딕"/>
                <a:ea typeface="맑은 고딕"/>
                <a:cs typeface="맑은 고딕"/>
              </a:rPr>
              <a:t>AS 업무 전체를 하나의 데이터 흐름으로 연결</a:t>
            </a:r>
          </a:p>
        </p:txBody>
      </p:sp>
      <p:sp>
        <p:nvSpPr>
          <p:cNvPr id="6" name="">
            <a:extLst xmlns:a="http://schemas.openxmlformats.org/drawingml/2006/main">
              <a:ext uri="{FF2B5EF4-FFF2-40B4-BE49-F238E27FC236}">
                <a16:creationId xmlns:a16="http://schemas.microsoft.com/office/drawing/2014/main" id="{74B64E23-6A7D-47D9-8020-743E6A1FE247}"/>
              </a:ext>
            </a:extLst>
          </p:cNvPr>
          <p:cNvSpPr>
            <a:spLocks xmlns:a="http://schemas.openxmlformats.org/drawingml/2006/main" noGrp="1"/>
          </p:cNvSpPr>
          <p:nvPr/>
        </p:nvSpPr>
        <p:spPr>
          <a:xfrm xmlns:a="http://schemas.openxmlformats.org/drawingml/2006/main">
            <a:off x="628650" y="1600200"/>
            <a:ext cx="971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18295"/>
                </a:solidFill>
                <a:latin typeface="맑은 고딕"/>
                <a:ea typeface="맑은 고딕"/>
                <a:cs typeface="맑은 고딕"/>
              </a:defRPr>
            </a:pPr>
            <a:r>
              <a:rPr sz="1500" b="0">
                <a:solidFill>
                  <a:srgbClr val="718295"/>
                </a:solidFill>
                <a:latin typeface="맑은 고딕"/>
                <a:ea typeface="맑은 고딕"/>
                <a:cs typeface="맑은 고딕"/>
              </a:rPr>
              <a:t>전화·메모 중심의 분절된 업무를 역할별 화면과 공통 상태 데이터로 통합했습니다.</a:t>
            </a:r>
          </a:p>
        </p:txBody>
      </p:sp>
      <p:sp>
        <p:nvSpPr>
          <p:cNvPr id="7" name="">
            <a:extLst xmlns:a="http://schemas.openxmlformats.org/drawingml/2006/main">
              <a:ext uri="{FF2B5EF4-FFF2-40B4-BE49-F238E27FC236}">
                <a16:creationId xmlns:a16="http://schemas.microsoft.com/office/drawing/2014/main" id="{02330716-8F48-43FE-BFD2-7FBDA00FF7CF}"/>
              </a:ext>
            </a:extLst>
          </p:cNvPr>
          <p:cNvSpPr>
            <a:spLocks xmlns:a="http://schemas.openxmlformats.org/drawingml/2006/main" noGrp="1"/>
          </p:cNvSpPr>
          <p:nvPr/>
        </p:nvSpPr>
        <p:spPr>
          <a:xfrm xmlns:a="http://schemas.openxmlformats.org/drawingml/2006/main">
            <a:off x="628650" y="2428875"/>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AFA8"/>
                </a:solidFill>
                <a:latin typeface="맑은 고딕"/>
                <a:ea typeface="맑은 고딕"/>
                <a:cs typeface="맑은 고딕"/>
              </a:defRPr>
            </a:pPr>
            <a:r>
              <a:rPr sz="1200" b="1">
                <a:solidFill>
                  <a:srgbClr val="00AFA8"/>
                </a:solidFill>
                <a:latin typeface="맑은 고딕"/>
                <a:ea typeface="맑은 고딕"/>
                <a:cs typeface="맑은 고딕"/>
              </a:rPr>
              <a:t>01</a:t>
            </a:r>
          </a:p>
        </p:txBody>
      </p:sp>
      <p:sp>
        <p:nvSpPr>
          <p:cNvPr id="8" name="">
            <a:extLst xmlns:a="http://schemas.openxmlformats.org/drawingml/2006/main">
              <a:ext uri="{FF2B5EF4-FFF2-40B4-BE49-F238E27FC236}">
                <a16:creationId xmlns:a16="http://schemas.microsoft.com/office/drawing/2014/main" id="{D435F585-9043-4AEB-B06B-49552A557800}"/>
              </a:ext>
            </a:extLst>
          </p:cNvPr>
          <p:cNvSpPr>
            <a:spLocks xmlns:a="http://schemas.openxmlformats.org/drawingml/2006/main" noGrp="1"/>
          </p:cNvSpPr>
          <p:nvPr/>
        </p:nvSpPr>
        <p:spPr>
          <a:xfrm xmlns:a="http://schemas.openxmlformats.org/drawingml/2006/main">
            <a:off x="628650" y="28384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7131F"/>
                </a:solidFill>
                <a:latin typeface="맑은 고딕"/>
                <a:ea typeface="맑은 고딕"/>
                <a:cs typeface="맑은 고딕"/>
              </a:defRPr>
            </a:pPr>
            <a:r>
              <a:rPr sz="1875" b="1">
                <a:solidFill>
                  <a:srgbClr val="07131F"/>
                </a:solidFill>
                <a:latin typeface="맑은 고딕"/>
                <a:ea typeface="맑은 고딕"/>
                <a:cs typeface="맑은 고딕"/>
              </a:rPr>
              <a:t>고객 접수</a:t>
            </a:r>
          </a:p>
        </p:txBody>
      </p:sp>
      <p:sp>
        <p:nvSpPr>
          <p:cNvPr id="9" name="">
            <a:extLst xmlns:a="http://schemas.openxmlformats.org/drawingml/2006/main">
              <a:ext uri="{FF2B5EF4-FFF2-40B4-BE49-F238E27FC236}">
                <a16:creationId xmlns:a16="http://schemas.microsoft.com/office/drawing/2014/main" id="{B7518914-20E9-49D5-8C0D-0AA0584E431E}"/>
              </a:ext>
            </a:extLst>
          </p:cNvPr>
          <p:cNvSpPr>
            <a:spLocks xmlns:a="http://schemas.openxmlformats.org/drawingml/2006/main" noGrp="1"/>
          </p:cNvSpPr>
          <p:nvPr/>
        </p:nvSpPr>
        <p:spPr>
          <a:xfrm xmlns:a="http://schemas.openxmlformats.org/drawingml/2006/main">
            <a:off x="628650" y="33337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제품·증상·희망일 입력</a:t>
            </a:r>
          </a:p>
        </p:txBody>
      </p:sp>
      <p:sp>
        <p:nvSpPr>
          <p:cNvPr id="10" name="">
            <a:extLst xmlns:a="http://schemas.openxmlformats.org/drawingml/2006/main">
              <a:ext uri="{FF2B5EF4-FFF2-40B4-BE49-F238E27FC236}">
                <a16:creationId xmlns:a16="http://schemas.microsoft.com/office/drawing/2014/main" id="{E2466358-3286-44EF-97B7-C6E23CB7F372}"/>
              </a:ext>
            </a:extLst>
          </p:cNvPr>
          <p:cNvSpPr>
            <a:spLocks xmlns:a="http://schemas.openxmlformats.org/drawingml/2006/main" noGrp="1"/>
          </p:cNvSpPr>
          <p:nvPr/>
        </p:nvSpPr>
        <p:spPr>
          <a:xfrm xmlns:a="http://schemas.openxmlformats.org/drawingml/2006/main">
            <a:off x="3009900" y="2857500"/>
            <a:ext cx="28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5C4CC"/>
                </a:solidFill>
                <a:latin typeface="맑은 고딕"/>
                <a:ea typeface="맑은 고딕"/>
                <a:cs typeface="맑은 고딕"/>
              </a:defRPr>
            </a:pPr>
            <a:r>
              <a:rPr sz="2100" b="0">
                <a:solidFill>
                  <a:srgbClr val="B5C4CC"/>
                </a:solidFill>
                <a:latin typeface="맑은 고딕"/>
                <a:ea typeface="맑은 고딕"/>
                <a:cs typeface="맑은 고딕"/>
              </a:rPr>
              <a:t>›</a:t>
            </a:r>
          </a:p>
        </p:txBody>
      </p:sp>
      <p:sp>
        <p:nvSpPr>
          <p:cNvPr id="11" name="">
            <a:extLst xmlns:a="http://schemas.openxmlformats.org/drawingml/2006/main">
              <a:ext uri="{FF2B5EF4-FFF2-40B4-BE49-F238E27FC236}">
                <a16:creationId xmlns:a16="http://schemas.microsoft.com/office/drawing/2014/main" id="{69E408E0-B6A6-46CF-999E-2C6F1F1F5BF9}"/>
              </a:ext>
            </a:extLst>
          </p:cNvPr>
          <p:cNvSpPr>
            <a:spLocks xmlns:a="http://schemas.openxmlformats.org/drawingml/2006/main" noGrp="1"/>
          </p:cNvSpPr>
          <p:nvPr/>
        </p:nvSpPr>
        <p:spPr>
          <a:xfrm xmlns:a="http://schemas.openxmlformats.org/drawingml/2006/main">
            <a:off x="3429000" y="2428875"/>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AFA8"/>
                </a:solidFill>
                <a:latin typeface="맑은 고딕"/>
                <a:ea typeface="맑은 고딕"/>
                <a:cs typeface="맑은 고딕"/>
              </a:defRPr>
            </a:pPr>
            <a:r>
              <a:rPr sz="1200" b="1">
                <a:solidFill>
                  <a:srgbClr val="00AFA8"/>
                </a:solidFill>
                <a:latin typeface="맑은 고딕"/>
                <a:ea typeface="맑은 고딕"/>
                <a:cs typeface="맑은 고딕"/>
              </a:rPr>
              <a:t>02</a:t>
            </a:r>
          </a:p>
        </p:txBody>
      </p:sp>
      <p:sp>
        <p:nvSpPr>
          <p:cNvPr id="12" name="">
            <a:extLst xmlns:a="http://schemas.openxmlformats.org/drawingml/2006/main">
              <a:ext uri="{FF2B5EF4-FFF2-40B4-BE49-F238E27FC236}">
                <a16:creationId xmlns:a16="http://schemas.microsoft.com/office/drawing/2014/main" id="{E8F4C480-7EFA-40A5-BCBA-D24D58E180D8}"/>
              </a:ext>
            </a:extLst>
          </p:cNvPr>
          <p:cNvSpPr>
            <a:spLocks xmlns:a="http://schemas.openxmlformats.org/drawingml/2006/main" noGrp="1"/>
          </p:cNvSpPr>
          <p:nvPr/>
        </p:nvSpPr>
        <p:spPr>
          <a:xfrm xmlns:a="http://schemas.openxmlformats.org/drawingml/2006/main">
            <a:off x="3429000" y="28384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7131F"/>
                </a:solidFill>
                <a:latin typeface="맑은 고딕"/>
                <a:ea typeface="맑은 고딕"/>
                <a:cs typeface="맑은 고딕"/>
              </a:defRPr>
            </a:pPr>
            <a:r>
              <a:rPr sz="1875" b="1">
                <a:solidFill>
                  <a:srgbClr val="07131F"/>
                </a:solidFill>
                <a:latin typeface="맑은 고딕"/>
                <a:ea typeface="맑은 고딕"/>
                <a:cs typeface="맑은 고딕"/>
              </a:rPr>
              <a:t>기사 배정</a:t>
            </a:r>
          </a:p>
        </p:txBody>
      </p:sp>
      <p:sp>
        <p:nvSpPr>
          <p:cNvPr id="13" name="">
            <a:extLst xmlns:a="http://schemas.openxmlformats.org/drawingml/2006/main">
              <a:ext uri="{FF2B5EF4-FFF2-40B4-BE49-F238E27FC236}">
                <a16:creationId xmlns:a16="http://schemas.microsoft.com/office/drawing/2014/main" id="{381ED608-E184-4E3E-972F-21FC179BA51F}"/>
              </a:ext>
            </a:extLst>
          </p:cNvPr>
          <p:cNvSpPr>
            <a:spLocks xmlns:a="http://schemas.openxmlformats.org/drawingml/2006/main" noGrp="1"/>
          </p:cNvSpPr>
          <p:nvPr/>
        </p:nvSpPr>
        <p:spPr>
          <a:xfrm xmlns:a="http://schemas.openxmlformats.org/drawingml/2006/main">
            <a:off x="3429000" y="33337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담당 기사와 방문시간 확정</a:t>
            </a:r>
          </a:p>
        </p:txBody>
      </p:sp>
      <p:sp>
        <p:nvSpPr>
          <p:cNvPr id="14" name="">
            <a:extLst xmlns:a="http://schemas.openxmlformats.org/drawingml/2006/main">
              <a:ext uri="{FF2B5EF4-FFF2-40B4-BE49-F238E27FC236}">
                <a16:creationId xmlns:a16="http://schemas.microsoft.com/office/drawing/2014/main" id="{ACD975F8-711E-4590-B746-B6128F34D261}"/>
              </a:ext>
            </a:extLst>
          </p:cNvPr>
          <p:cNvSpPr>
            <a:spLocks xmlns:a="http://schemas.openxmlformats.org/drawingml/2006/main" noGrp="1"/>
          </p:cNvSpPr>
          <p:nvPr/>
        </p:nvSpPr>
        <p:spPr>
          <a:xfrm xmlns:a="http://schemas.openxmlformats.org/drawingml/2006/main">
            <a:off x="5810250" y="2857500"/>
            <a:ext cx="28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5C4CC"/>
                </a:solidFill>
                <a:latin typeface="맑은 고딕"/>
                <a:ea typeface="맑은 고딕"/>
                <a:cs typeface="맑은 고딕"/>
              </a:defRPr>
            </a:pPr>
            <a:r>
              <a:rPr sz="2100" b="0">
                <a:solidFill>
                  <a:srgbClr val="B5C4CC"/>
                </a:solidFill>
                <a:latin typeface="맑은 고딕"/>
                <a:ea typeface="맑은 고딕"/>
                <a:cs typeface="맑은 고딕"/>
              </a:rPr>
              <a:t>›</a:t>
            </a:r>
          </a:p>
        </p:txBody>
      </p:sp>
      <p:sp>
        <p:nvSpPr>
          <p:cNvPr id="15" name="">
            <a:extLst xmlns:a="http://schemas.openxmlformats.org/drawingml/2006/main">
              <a:ext uri="{FF2B5EF4-FFF2-40B4-BE49-F238E27FC236}">
                <a16:creationId xmlns:a16="http://schemas.microsoft.com/office/drawing/2014/main" id="{55C6CC15-EC68-41A9-AC59-C341B48F3D3F}"/>
              </a:ext>
            </a:extLst>
          </p:cNvPr>
          <p:cNvSpPr>
            <a:spLocks xmlns:a="http://schemas.openxmlformats.org/drawingml/2006/main" noGrp="1"/>
          </p:cNvSpPr>
          <p:nvPr/>
        </p:nvSpPr>
        <p:spPr>
          <a:xfrm xmlns:a="http://schemas.openxmlformats.org/drawingml/2006/main">
            <a:off x="6229350" y="2428875"/>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AFA8"/>
                </a:solidFill>
                <a:latin typeface="맑은 고딕"/>
                <a:ea typeface="맑은 고딕"/>
                <a:cs typeface="맑은 고딕"/>
              </a:defRPr>
            </a:pPr>
            <a:r>
              <a:rPr sz="1200" b="1">
                <a:solidFill>
                  <a:srgbClr val="00AFA8"/>
                </a:solidFill>
                <a:latin typeface="맑은 고딕"/>
                <a:ea typeface="맑은 고딕"/>
                <a:cs typeface="맑은 고딕"/>
              </a:rPr>
              <a:t>03</a:t>
            </a:r>
          </a:p>
        </p:txBody>
      </p:sp>
      <p:sp>
        <p:nvSpPr>
          <p:cNvPr id="16" name="">
            <a:extLst xmlns:a="http://schemas.openxmlformats.org/drawingml/2006/main">
              <a:ext uri="{FF2B5EF4-FFF2-40B4-BE49-F238E27FC236}">
                <a16:creationId xmlns:a16="http://schemas.microsoft.com/office/drawing/2014/main" id="{D0A63DD4-AEA7-4587-85C3-13B441A53062}"/>
              </a:ext>
            </a:extLst>
          </p:cNvPr>
          <p:cNvSpPr>
            <a:spLocks xmlns:a="http://schemas.openxmlformats.org/drawingml/2006/main" noGrp="1"/>
          </p:cNvSpPr>
          <p:nvPr/>
        </p:nvSpPr>
        <p:spPr>
          <a:xfrm xmlns:a="http://schemas.openxmlformats.org/drawingml/2006/main">
            <a:off x="6229350" y="28384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7131F"/>
                </a:solidFill>
                <a:latin typeface="맑은 고딕"/>
                <a:ea typeface="맑은 고딕"/>
                <a:cs typeface="맑은 고딕"/>
              </a:defRPr>
            </a:pPr>
            <a:r>
              <a:rPr sz="1875" b="1">
                <a:solidFill>
                  <a:srgbClr val="07131F"/>
                </a:solidFill>
                <a:latin typeface="맑은 고딕"/>
                <a:ea typeface="맑은 고딕"/>
                <a:cs typeface="맑은 고딕"/>
              </a:rPr>
              <a:t>현장 처리</a:t>
            </a:r>
          </a:p>
        </p:txBody>
      </p:sp>
      <p:sp>
        <p:nvSpPr>
          <p:cNvPr id="17" name="">
            <a:extLst xmlns:a="http://schemas.openxmlformats.org/drawingml/2006/main">
              <a:ext uri="{FF2B5EF4-FFF2-40B4-BE49-F238E27FC236}">
                <a16:creationId xmlns:a16="http://schemas.microsoft.com/office/drawing/2014/main" id="{53B77AE6-5EBE-4BD9-8E22-73FF0E18BECA}"/>
              </a:ext>
            </a:extLst>
          </p:cNvPr>
          <p:cNvSpPr>
            <a:spLocks xmlns:a="http://schemas.openxmlformats.org/drawingml/2006/main" noGrp="1"/>
          </p:cNvSpPr>
          <p:nvPr/>
        </p:nvSpPr>
        <p:spPr>
          <a:xfrm xmlns:a="http://schemas.openxmlformats.org/drawingml/2006/main">
            <a:off x="6229350" y="33337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작업 결과와 사진 기록</a:t>
            </a:r>
          </a:p>
        </p:txBody>
      </p:sp>
      <p:sp>
        <p:nvSpPr>
          <p:cNvPr id="18" name="">
            <a:extLst xmlns:a="http://schemas.openxmlformats.org/drawingml/2006/main">
              <a:ext uri="{FF2B5EF4-FFF2-40B4-BE49-F238E27FC236}">
                <a16:creationId xmlns:a16="http://schemas.microsoft.com/office/drawing/2014/main" id="{6764DC0D-879D-459E-996E-95BE5F64B2D2}"/>
              </a:ext>
            </a:extLst>
          </p:cNvPr>
          <p:cNvSpPr>
            <a:spLocks xmlns:a="http://schemas.openxmlformats.org/drawingml/2006/main" noGrp="1"/>
          </p:cNvSpPr>
          <p:nvPr/>
        </p:nvSpPr>
        <p:spPr>
          <a:xfrm xmlns:a="http://schemas.openxmlformats.org/drawingml/2006/main">
            <a:off x="8610600" y="2857500"/>
            <a:ext cx="28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5C4CC"/>
                </a:solidFill>
                <a:latin typeface="맑은 고딕"/>
                <a:ea typeface="맑은 고딕"/>
                <a:cs typeface="맑은 고딕"/>
              </a:defRPr>
            </a:pPr>
            <a:r>
              <a:rPr sz="2100" b="0">
                <a:solidFill>
                  <a:srgbClr val="B5C4CC"/>
                </a:solidFill>
                <a:latin typeface="맑은 고딕"/>
                <a:ea typeface="맑은 고딕"/>
                <a:cs typeface="맑은 고딕"/>
              </a:rPr>
              <a:t>›</a:t>
            </a:r>
          </a:p>
        </p:txBody>
      </p:sp>
      <p:sp>
        <p:nvSpPr>
          <p:cNvPr id="19" name="">
            <a:extLst xmlns:a="http://schemas.openxmlformats.org/drawingml/2006/main">
              <a:ext uri="{FF2B5EF4-FFF2-40B4-BE49-F238E27FC236}">
                <a16:creationId xmlns:a16="http://schemas.microsoft.com/office/drawing/2014/main" id="{C5176F8E-3217-4610-8257-F6FEEA4AE88D}"/>
              </a:ext>
            </a:extLst>
          </p:cNvPr>
          <p:cNvSpPr>
            <a:spLocks xmlns:a="http://schemas.openxmlformats.org/drawingml/2006/main" noGrp="1"/>
          </p:cNvSpPr>
          <p:nvPr/>
        </p:nvSpPr>
        <p:spPr>
          <a:xfrm xmlns:a="http://schemas.openxmlformats.org/drawingml/2006/main">
            <a:off x="9029700" y="2428875"/>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F6B4A"/>
                </a:solidFill>
                <a:latin typeface="맑은 고딕"/>
                <a:ea typeface="맑은 고딕"/>
                <a:cs typeface="맑은 고딕"/>
              </a:defRPr>
            </a:pPr>
            <a:r>
              <a:rPr sz="1200" b="1">
                <a:solidFill>
                  <a:srgbClr val="FF6B4A"/>
                </a:solidFill>
                <a:latin typeface="맑은 고딕"/>
                <a:ea typeface="맑은 고딕"/>
                <a:cs typeface="맑은 고딕"/>
              </a:rPr>
              <a:t>04</a:t>
            </a:r>
          </a:p>
        </p:txBody>
      </p:sp>
      <p:sp>
        <p:nvSpPr>
          <p:cNvPr id="20" name="">
            <a:extLst xmlns:a="http://schemas.openxmlformats.org/drawingml/2006/main">
              <a:ext uri="{FF2B5EF4-FFF2-40B4-BE49-F238E27FC236}">
                <a16:creationId xmlns:a16="http://schemas.microsoft.com/office/drawing/2014/main" id="{32DAE302-4430-40CD-B010-CA4A39DF00EC}"/>
              </a:ext>
            </a:extLst>
          </p:cNvPr>
          <p:cNvSpPr>
            <a:spLocks xmlns:a="http://schemas.openxmlformats.org/drawingml/2006/main" noGrp="1"/>
          </p:cNvSpPr>
          <p:nvPr/>
        </p:nvSpPr>
        <p:spPr>
          <a:xfrm xmlns:a="http://schemas.openxmlformats.org/drawingml/2006/main">
            <a:off x="9029700" y="28384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7131F"/>
                </a:solidFill>
                <a:latin typeface="맑은 고딕"/>
                <a:ea typeface="맑은 고딕"/>
                <a:cs typeface="맑은 고딕"/>
              </a:defRPr>
            </a:pPr>
            <a:r>
              <a:rPr sz="1875" b="1">
                <a:solidFill>
                  <a:srgbClr val="07131F"/>
                </a:solidFill>
                <a:latin typeface="맑은 고딕"/>
                <a:ea typeface="맑은 고딕"/>
                <a:cs typeface="맑은 고딕"/>
              </a:rPr>
              <a:t>고객 평가</a:t>
            </a:r>
          </a:p>
        </p:txBody>
      </p:sp>
      <p:sp>
        <p:nvSpPr>
          <p:cNvPr id="21" name="">
            <a:extLst xmlns:a="http://schemas.openxmlformats.org/drawingml/2006/main">
              <a:ext uri="{FF2B5EF4-FFF2-40B4-BE49-F238E27FC236}">
                <a16:creationId xmlns:a16="http://schemas.microsoft.com/office/drawing/2014/main" id="{BCF59158-9E29-4CCC-BE29-D319E42FBAC7}"/>
              </a:ext>
            </a:extLst>
          </p:cNvPr>
          <p:cNvSpPr>
            <a:spLocks xmlns:a="http://schemas.openxmlformats.org/drawingml/2006/main" noGrp="1"/>
          </p:cNvSpPr>
          <p:nvPr/>
        </p:nvSpPr>
        <p:spPr>
          <a:xfrm xmlns:a="http://schemas.openxmlformats.org/drawingml/2006/main">
            <a:off x="9029700" y="33337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SMS 설문과 월간 통계</a:t>
            </a:r>
          </a:p>
        </p:txBody>
      </p:sp>
      <p:sp>
        <p:nvSpPr>
          <p:cNvPr id="22" name="">
            <a:extLst xmlns:a="http://schemas.openxmlformats.org/drawingml/2006/main">
              <a:ext uri="{FF2B5EF4-FFF2-40B4-BE49-F238E27FC236}">
                <a16:creationId xmlns:a16="http://schemas.microsoft.com/office/drawing/2014/main" id="{6BFCB055-91EE-4C36-8CE4-72B5A24831FE}"/>
              </a:ext>
            </a:extLst>
          </p:cNvPr>
          <p:cNvSpPr>
            <a:spLocks xmlns:a="http://schemas.openxmlformats.org/drawingml/2006/main" noGrp="1"/>
          </p:cNvSpPr>
          <p:nvPr/>
        </p:nvSpPr>
        <p:spPr>
          <a:xfrm xmlns:a="http://schemas.openxmlformats.org/drawingml/2006/main">
            <a:off x="628650" y="4343400"/>
            <a:ext cx="10934700" cy="9525"/>
          </a:xfrm>
          <a:prstGeom xmlns:a="http://schemas.openxmlformats.org/drawingml/2006/main" prst="rect">
            <a:avLst/>
          </a:prstGeom>
          <a:solidFill xmlns:a="http://schemas.openxmlformats.org/drawingml/2006/main">
            <a:srgbClr val="DCE5E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C6057C4-8B3E-4A92-95CF-49C4B48E21E5}"/>
              </a:ext>
            </a:extLst>
          </p:cNvPr>
          <p:cNvSpPr>
            <a:spLocks xmlns:a="http://schemas.openxmlformats.org/drawingml/2006/main" noGrp="1"/>
          </p:cNvSpPr>
          <p:nvPr/>
        </p:nvSpPr>
        <p:spPr>
          <a:xfrm xmlns:a="http://schemas.openxmlformats.org/drawingml/2006/main">
            <a:off x="628650" y="468630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AFA8"/>
                </a:solidFill>
                <a:latin typeface="맑은 고딕"/>
                <a:ea typeface="맑은 고딕"/>
                <a:cs typeface="맑은 고딕"/>
              </a:defRPr>
            </a:pPr>
            <a:r>
              <a:rPr sz="2850" b="1">
                <a:solidFill>
                  <a:srgbClr val="00AFA8"/>
                </a:solidFill>
                <a:latin typeface="맑은 고딕"/>
                <a:ea typeface="맑은 고딕"/>
                <a:cs typeface="맑은 고딕"/>
              </a:rPr>
              <a:t>3</a:t>
            </a:r>
          </a:p>
        </p:txBody>
      </p:sp>
      <p:sp>
        <p:nvSpPr>
          <p:cNvPr id="24" name="">
            <a:extLst xmlns:a="http://schemas.openxmlformats.org/drawingml/2006/main">
              <a:ext uri="{FF2B5EF4-FFF2-40B4-BE49-F238E27FC236}">
                <a16:creationId xmlns:a16="http://schemas.microsoft.com/office/drawing/2014/main" id="{9DFFA8B8-392D-46A8-9D48-FCB02D970FF5}"/>
              </a:ext>
            </a:extLst>
          </p:cNvPr>
          <p:cNvSpPr>
            <a:spLocks xmlns:a="http://schemas.openxmlformats.org/drawingml/2006/main" noGrp="1"/>
          </p:cNvSpPr>
          <p:nvPr/>
        </p:nvSpPr>
        <p:spPr>
          <a:xfrm xmlns:a="http://schemas.openxmlformats.org/drawingml/2006/main">
            <a:off x="628650" y="5219700"/>
            <a:ext cx="1952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사용자 역할</a:t>
            </a:r>
          </a:p>
        </p:txBody>
      </p:sp>
      <p:sp>
        <p:nvSpPr>
          <p:cNvPr id="25" name="">
            <a:extLst xmlns:a="http://schemas.openxmlformats.org/drawingml/2006/main">
              <a:ext uri="{FF2B5EF4-FFF2-40B4-BE49-F238E27FC236}">
                <a16:creationId xmlns:a16="http://schemas.microsoft.com/office/drawing/2014/main" id="{C8B09424-4D8C-4CD0-9495-9E7F19429435}"/>
              </a:ext>
            </a:extLst>
          </p:cNvPr>
          <p:cNvSpPr>
            <a:spLocks xmlns:a="http://schemas.openxmlformats.org/drawingml/2006/main" noGrp="1"/>
          </p:cNvSpPr>
          <p:nvPr/>
        </p:nvSpPr>
        <p:spPr>
          <a:xfrm xmlns:a="http://schemas.openxmlformats.org/drawingml/2006/main">
            <a:off x="3333750" y="468630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6B4A"/>
                </a:solidFill>
                <a:latin typeface="맑은 고딕"/>
                <a:ea typeface="맑은 고딕"/>
                <a:cs typeface="맑은 고딕"/>
              </a:defRPr>
            </a:pPr>
            <a:r>
              <a:rPr sz="2850" b="1">
                <a:solidFill>
                  <a:srgbClr val="FF6B4A"/>
                </a:solidFill>
                <a:latin typeface="맑은 고딕"/>
                <a:ea typeface="맑은 고딕"/>
                <a:cs typeface="맑은 고딕"/>
              </a:rPr>
              <a:t>6</a:t>
            </a:r>
          </a:p>
        </p:txBody>
      </p:sp>
      <p:sp>
        <p:nvSpPr>
          <p:cNvPr id="26" name="">
            <a:extLst xmlns:a="http://schemas.openxmlformats.org/drawingml/2006/main">
              <a:ext uri="{FF2B5EF4-FFF2-40B4-BE49-F238E27FC236}">
                <a16:creationId xmlns:a16="http://schemas.microsoft.com/office/drawing/2014/main" id="{7CB40A65-818B-41F8-9FC5-42799A1BD0BD}"/>
              </a:ext>
            </a:extLst>
          </p:cNvPr>
          <p:cNvSpPr>
            <a:spLocks xmlns:a="http://schemas.openxmlformats.org/drawingml/2006/main" noGrp="1"/>
          </p:cNvSpPr>
          <p:nvPr/>
        </p:nvSpPr>
        <p:spPr>
          <a:xfrm xmlns:a="http://schemas.openxmlformats.org/drawingml/2006/main">
            <a:off x="3333750" y="5219700"/>
            <a:ext cx="1952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핵심 DB 테이블</a:t>
            </a:r>
          </a:p>
        </p:txBody>
      </p:sp>
      <p:sp>
        <p:nvSpPr>
          <p:cNvPr id="27" name="">
            <a:extLst xmlns:a="http://schemas.openxmlformats.org/drawingml/2006/main">
              <a:ext uri="{FF2B5EF4-FFF2-40B4-BE49-F238E27FC236}">
                <a16:creationId xmlns:a16="http://schemas.microsoft.com/office/drawing/2014/main" id="{F439C532-0490-4563-9E3E-FF35ED1A08EF}"/>
              </a:ext>
            </a:extLst>
          </p:cNvPr>
          <p:cNvSpPr>
            <a:spLocks xmlns:a="http://schemas.openxmlformats.org/drawingml/2006/main" noGrp="1"/>
          </p:cNvSpPr>
          <p:nvPr/>
        </p:nvSpPr>
        <p:spPr>
          <a:xfrm xmlns:a="http://schemas.openxmlformats.org/drawingml/2006/main">
            <a:off x="6191250" y="468630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BBDD3C"/>
                </a:solidFill>
                <a:latin typeface="맑은 고딕"/>
                <a:ea typeface="맑은 고딕"/>
                <a:cs typeface="맑은 고딕"/>
              </a:defRPr>
            </a:pPr>
            <a:r>
              <a:rPr sz="2850" b="1">
                <a:solidFill>
                  <a:srgbClr val="BBDD3C"/>
                </a:solidFill>
                <a:latin typeface="맑은 고딕"/>
                <a:ea typeface="맑은 고딕"/>
                <a:cs typeface="맑은 고딕"/>
              </a:rPr>
              <a:t>4</a:t>
            </a:r>
          </a:p>
        </p:txBody>
      </p:sp>
      <p:sp>
        <p:nvSpPr>
          <p:cNvPr id="28" name="">
            <a:extLst xmlns:a="http://schemas.openxmlformats.org/drawingml/2006/main">
              <a:ext uri="{FF2B5EF4-FFF2-40B4-BE49-F238E27FC236}">
                <a16:creationId xmlns:a16="http://schemas.microsoft.com/office/drawing/2014/main" id="{0A2F9008-4EB4-41B6-92CF-62283BD2CC7F}"/>
              </a:ext>
            </a:extLst>
          </p:cNvPr>
          <p:cNvSpPr>
            <a:spLocks xmlns:a="http://schemas.openxmlformats.org/drawingml/2006/main" noGrp="1"/>
          </p:cNvSpPr>
          <p:nvPr/>
        </p:nvSpPr>
        <p:spPr>
          <a:xfrm xmlns:a="http://schemas.openxmlformats.org/drawingml/2006/main">
            <a:off x="6191250" y="5219700"/>
            <a:ext cx="1952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자동 테스트 통과</a:t>
            </a:r>
          </a:p>
        </p:txBody>
      </p:sp>
      <p:sp>
        <p:nvSpPr>
          <p:cNvPr id="29" name="">
            <a:extLst xmlns:a="http://schemas.openxmlformats.org/drawingml/2006/main">
              <a:ext uri="{FF2B5EF4-FFF2-40B4-BE49-F238E27FC236}">
                <a16:creationId xmlns:a16="http://schemas.microsoft.com/office/drawing/2014/main" id="{5B1BF52E-149B-48AE-9534-7BFD15566C8A}"/>
              </a:ext>
            </a:extLst>
          </p:cNvPr>
          <p:cNvSpPr>
            <a:spLocks xmlns:a="http://schemas.openxmlformats.org/drawingml/2006/main" noGrp="1"/>
          </p:cNvSpPr>
          <p:nvPr/>
        </p:nvSpPr>
        <p:spPr>
          <a:xfrm xmlns:a="http://schemas.openxmlformats.org/drawingml/2006/main">
            <a:off x="9048750" y="468630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6CC8FF"/>
                </a:solidFill>
                <a:latin typeface="맑은 고딕"/>
                <a:ea typeface="맑은 고딕"/>
                <a:cs typeface="맑은 고딕"/>
              </a:defRPr>
            </a:pPr>
            <a:r>
              <a:rPr sz="2850" b="1">
                <a:solidFill>
                  <a:srgbClr val="6CC8FF"/>
                </a:solidFill>
                <a:latin typeface="맑은 고딕"/>
                <a:ea typeface="맑은 고딕"/>
                <a:cs typeface="맑은 고딕"/>
              </a:rPr>
              <a:t>1</a:t>
            </a:r>
          </a:p>
        </p:txBody>
      </p:sp>
      <p:sp>
        <p:nvSpPr>
          <p:cNvPr id="30" name="">
            <a:extLst xmlns:a="http://schemas.openxmlformats.org/drawingml/2006/main">
              <a:ext uri="{FF2B5EF4-FFF2-40B4-BE49-F238E27FC236}">
                <a16:creationId xmlns:a16="http://schemas.microsoft.com/office/drawing/2014/main" id="{D036C025-11BD-4E97-A44D-8566595D6EB3}"/>
              </a:ext>
            </a:extLst>
          </p:cNvPr>
          <p:cNvSpPr>
            <a:spLocks xmlns:a="http://schemas.openxmlformats.org/drawingml/2006/main" noGrp="1"/>
          </p:cNvSpPr>
          <p:nvPr/>
        </p:nvSpPr>
        <p:spPr>
          <a:xfrm xmlns:a="http://schemas.openxmlformats.org/drawingml/2006/main">
            <a:off x="9048750" y="5219700"/>
            <a:ext cx="1952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통합 처리 흐름</a:t>
            </a:r>
          </a:p>
        </p:txBody>
      </p:sp>
      <p:sp>
        <p:nvSpPr>
          <p:cNvPr id="31" name="">
            <a:extLst xmlns:a="http://schemas.openxmlformats.org/drawingml/2006/main">
              <a:ext uri="{FF2B5EF4-FFF2-40B4-BE49-F238E27FC236}">
                <a16:creationId xmlns:a16="http://schemas.microsoft.com/office/drawing/2014/main" id="{67017F82-0DD0-4458-BC25-806B44E7F0E2}"/>
              </a:ext>
            </a:extLst>
          </p:cNvPr>
          <p:cNvSpPr>
            <a:spLocks xmlns:a="http://schemas.openxmlformats.org/drawingml/2006/main" noGrp="1"/>
          </p:cNvSpPr>
          <p:nvPr/>
        </p:nvSpPr>
        <p:spPr>
          <a:xfrm xmlns:a="http://schemas.openxmlformats.org/drawingml/2006/main">
            <a:off x="628650" y="61531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5A5AF"/>
                </a:solidFill>
                <a:latin typeface="맑은 고딕"/>
                <a:ea typeface="맑은 고딕"/>
                <a:cs typeface="맑은 고딕"/>
              </a:defRPr>
            </a:pPr>
            <a:r>
              <a:rPr sz="900" b="0">
                <a:solidFill>
                  <a:srgbClr val="95A5AF"/>
                </a:solidFill>
                <a:latin typeface="맑은 고딕"/>
                <a:ea typeface="맑은 고딕"/>
                <a:cs typeface="맑은 고딕"/>
              </a:rPr>
              <a:t>개발 근거  ·  실제 저장소, 작업일지, localhost 구동 화면 기준</a:t>
            </a:r>
          </a:p>
        </p:txBody>
      </p:sp>
    </p:spTree>
    <p:extLst>
      <p:ext uri="{BB962C8B-B14F-4D97-AF65-F5344CB8AC3E}">
        <p14:creationId xmlns:p14="http://schemas.microsoft.com/office/powerpoint/2010/main" val="1892040170"/>
      </p:ext>
    </p:extLst>
  </p:cSld>
</p:sld>
</file>

<file path=ppt/slides/slide3.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81321C7-CB72-47F8-AA68-90B77F8E7D16}"/>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D6F812-254A-436D-8FB9-960A2B037011}"/>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F5B9124A-5267-4B22-8331-79961DA9393E}"/>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7790A2"/>
                </a:solidFill>
                <a:latin typeface="맑은 고딕"/>
                <a:ea typeface="맑은 고딕"/>
                <a:cs typeface="맑은 고딕"/>
              </a:defRPr>
            </a:pPr>
            <a:r>
              <a:rPr sz="825" b="1">
                <a:solidFill>
                  <a:srgbClr val="7790A2"/>
                </a:solidFill>
                <a:latin typeface="맑은 고딕"/>
                <a:ea typeface="맑은 고딕"/>
                <a:cs typeface="맑은 고딕"/>
              </a:rPr>
              <a:t>03</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56e381da96f44ff"/>
          <a:srcRect xmlns:a="http://schemas.openxmlformats.org/drawingml/2006/main" l="24038" t="0" r="24038" b="0"/>
          <a:stretch xmlns:a="http://schemas.openxmlformats.org/drawingml/2006/main">
            <a:fillRect l="0" t="0" r="0" b="0"/>
          </a:stretch>
        </p:blipFill>
        <p:spPr>
          <a:xfrm xmlns:a="http://schemas.openxmlformats.org/drawingml/2006/main">
            <a:off x="6572250" y="819150"/>
            <a:ext cx="4991100" cy="5410200"/>
          </a:xfrm>
          <a:prstGeom xmlns:a="http://schemas.openxmlformats.org/drawingml/2006/main" prst="roundRect">
            <a:avLst>
              <a:gd name="adj" fmla="val 3053"/>
            </a:avLst>
          </a:prstGeom>
        </p:spPr>
      </p:pic>
      <p:sp>
        <p:nvSpPr>
          <p:cNvPr id="5" name="">
            <a:extLst xmlns:a="http://schemas.openxmlformats.org/drawingml/2006/main">
              <a:ext uri="{FF2B5EF4-FFF2-40B4-BE49-F238E27FC236}">
                <a16:creationId xmlns:a16="http://schemas.microsoft.com/office/drawing/2014/main" id="{94E0C80A-270F-4B5C-A13D-005F3ED04B15}"/>
              </a:ext>
            </a:extLst>
          </p:cNvPr>
          <p:cNvSpPr>
            <a:spLocks xmlns:a="http://schemas.openxmlformats.org/drawingml/2006/main" noGrp="1"/>
          </p:cNvSpPr>
          <p:nvPr/>
        </p:nvSpPr>
        <p:spPr>
          <a:xfrm xmlns:a="http://schemas.openxmlformats.org/drawingml/2006/main">
            <a:off x="628650" y="7239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WHY THIS PROJECT</a:t>
            </a:r>
          </a:p>
        </p:txBody>
      </p:sp>
      <p:sp>
        <p:nvSpPr>
          <p:cNvPr id="6" name="">
            <a:extLst xmlns:a="http://schemas.openxmlformats.org/drawingml/2006/main">
              <a:ext uri="{FF2B5EF4-FFF2-40B4-BE49-F238E27FC236}">
                <a16:creationId xmlns:a16="http://schemas.microsoft.com/office/drawing/2014/main" id="{83298FFB-263E-4AD6-81CB-F0DEC327BE75}"/>
              </a:ext>
            </a:extLst>
          </p:cNvPr>
          <p:cNvSpPr>
            <a:spLocks xmlns:a="http://schemas.openxmlformats.org/drawingml/2006/main" noGrp="1"/>
          </p:cNvSpPr>
          <p:nvPr/>
        </p:nvSpPr>
        <p:spPr>
          <a:xfrm xmlns:a="http://schemas.openxmlformats.org/drawingml/2006/main">
            <a:off x="628650" y="1104900"/>
            <a:ext cx="5429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FFF"/>
                </a:solidFill>
                <a:latin typeface="맑은 고딕"/>
                <a:ea typeface="맑은 고딕"/>
                <a:cs typeface="맑은 고딕"/>
              </a:defRPr>
            </a:pPr>
            <a:r>
              <a:rPr sz="2625" b="1">
                <a:solidFill>
                  <a:srgbClr val="FFFFFF"/>
                </a:solidFill>
                <a:latin typeface="맑은 고딕"/>
                <a:ea typeface="맑은 고딕"/>
                <a:cs typeface="맑은 고딕"/>
              </a:rPr>
              <a:t>운영 정보가 흩어지면</a:t>
            </a:r>
          </a:p>
          <a:p xmlns:a="http://schemas.openxmlformats.org/drawingml/2006/main">
            <a:pPr>
              <a:defRPr sz="2625" b="1">
                <a:solidFill>
                  <a:srgbClr val="FFFFFF"/>
                </a:solidFill>
                <a:latin typeface="맑은 고딕"/>
                <a:ea typeface="맑은 고딕"/>
                <a:cs typeface="맑은 고딕"/>
              </a:defRPr>
            </a:pPr>
            <a:r>
              <a:rPr sz="2625" b="1">
                <a:solidFill>
                  <a:srgbClr val="FFFFFF"/>
                </a:solidFill>
                <a:latin typeface="맑은 고딕"/>
                <a:ea typeface="맑은 고딕"/>
                <a:cs typeface="맑은 고딕"/>
              </a:rPr>
              <a:t>일정과 책임도 함께 흐려집니다</a:t>
            </a:r>
          </a:p>
        </p:txBody>
      </p:sp>
      <p:sp>
        <p:nvSpPr>
          <p:cNvPr id="7" name="">
            <a:extLst xmlns:a="http://schemas.openxmlformats.org/drawingml/2006/main">
              <a:ext uri="{FF2B5EF4-FFF2-40B4-BE49-F238E27FC236}">
                <a16:creationId xmlns:a16="http://schemas.microsoft.com/office/drawing/2014/main" id="{D1D169A6-34EE-4FC4-8814-7644A9B95290}"/>
              </a:ext>
            </a:extLst>
          </p:cNvPr>
          <p:cNvSpPr>
            <a:spLocks xmlns:a="http://schemas.openxmlformats.org/drawingml/2006/main" noGrp="1"/>
          </p:cNvSpPr>
          <p:nvPr/>
        </p:nvSpPr>
        <p:spPr>
          <a:xfrm xmlns:a="http://schemas.openxmlformats.org/drawingml/2006/main">
            <a:off x="628650" y="26479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0D5C4"/>
                </a:solidFill>
                <a:latin typeface="맑은 고딕"/>
                <a:ea typeface="맑은 고딕"/>
                <a:cs typeface="맑은 고딕"/>
              </a:defRPr>
            </a:pPr>
            <a:r>
              <a:rPr sz="1050" b="1">
                <a:solidFill>
                  <a:srgbClr val="20D5C4"/>
                </a:solidFill>
                <a:latin typeface="맑은 고딕"/>
                <a:ea typeface="맑은 고딕"/>
                <a:cs typeface="맑은 고딕"/>
              </a:rPr>
              <a:t>01</a:t>
            </a:r>
          </a:p>
        </p:txBody>
      </p:sp>
      <p:sp>
        <p:nvSpPr>
          <p:cNvPr id="8" name="">
            <a:extLst xmlns:a="http://schemas.openxmlformats.org/drawingml/2006/main">
              <a:ext uri="{FF2B5EF4-FFF2-40B4-BE49-F238E27FC236}">
                <a16:creationId xmlns:a16="http://schemas.microsoft.com/office/drawing/2014/main" id="{B36E980E-BDEA-4856-9682-E0FB58D26CA5}"/>
              </a:ext>
            </a:extLst>
          </p:cNvPr>
          <p:cNvSpPr>
            <a:spLocks xmlns:a="http://schemas.openxmlformats.org/drawingml/2006/main" noGrp="1"/>
          </p:cNvSpPr>
          <p:nvPr/>
        </p:nvSpPr>
        <p:spPr>
          <a:xfrm xmlns:a="http://schemas.openxmlformats.org/drawingml/2006/main">
            <a:off x="1200150" y="26289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FFFFF"/>
                </a:solidFill>
                <a:latin typeface="맑은 고딕"/>
                <a:ea typeface="맑은 고딕"/>
                <a:cs typeface="맑은 고딕"/>
              </a:defRPr>
            </a:pPr>
            <a:r>
              <a:rPr sz="1500" b="1">
                <a:solidFill>
                  <a:srgbClr val="FFFFFF"/>
                </a:solidFill>
                <a:latin typeface="맑은 고딕"/>
                <a:ea typeface="맑은 고딕"/>
                <a:cs typeface="맑은 고딕"/>
              </a:rPr>
              <a:t>접수 이력</a:t>
            </a:r>
          </a:p>
        </p:txBody>
      </p:sp>
      <p:sp>
        <p:nvSpPr>
          <p:cNvPr id="9" name="">
            <a:extLst xmlns:a="http://schemas.openxmlformats.org/drawingml/2006/main">
              <a:ext uri="{FF2B5EF4-FFF2-40B4-BE49-F238E27FC236}">
                <a16:creationId xmlns:a16="http://schemas.microsoft.com/office/drawing/2014/main" id="{F010FF75-0D5C-4E54-850D-2085CEE68508}"/>
              </a:ext>
            </a:extLst>
          </p:cNvPr>
          <p:cNvSpPr>
            <a:spLocks xmlns:a="http://schemas.openxmlformats.org/drawingml/2006/main" noGrp="1"/>
          </p:cNvSpPr>
          <p:nvPr/>
        </p:nvSpPr>
        <p:spPr>
          <a:xfrm xmlns:a="http://schemas.openxmlformats.org/drawingml/2006/main">
            <a:off x="1200150" y="2971800"/>
            <a:ext cx="4514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FC0CA"/>
                </a:solidFill>
                <a:latin typeface="맑은 고딕"/>
                <a:ea typeface="맑은 고딕"/>
                <a:cs typeface="맑은 고딕"/>
              </a:defRPr>
            </a:pPr>
            <a:r>
              <a:rPr sz="1125" b="0">
                <a:solidFill>
                  <a:srgbClr val="AFC0CA"/>
                </a:solidFill>
                <a:latin typeface="맑은 고딕"/>
                <a:ea typeface="맑은 고딕"/>
                <a:cs typeface="맑은 고딕"/>
              </a:rPr>
              <a:t>전화와 메모에 남은 요청은 검색과 상태 추적이 어렵습니다.</a:t>
            </a:r>
          </a:p>
        </p:txBody>
      </p:sp>
      <p:sp>
        <p:nvSpPr>
          <p:cNvPr id="10" name="">
            <a:extLst xmlns:a="http://schemas.openxmlformats.org/drawingml/2006/main">
              <a:ext uri="{FF2B5EF4-FFF2-40B4-BE49-F238E27FC236}">
                <a16:creationId xmlns:a16="http://schemas.microsoft.com/office/drawing/2014/main" id="{4CAD20BD-2013-4BEA-BACA-245ED1F8B156}"/>
              </a:ext>
            </a:extLst>
          </p:cNvPr>
          <p:cNvSpPr>
            <a:spLocks xmlns:a="http://schemas.openxmlformats.org/drawingml/2006/main" noGrp="1"/>
          </p:cNvSpPr>
          <p:nvPr/>
        </p:nvSpPr>
        <p:spPr>
          <a:xfrm xmlns:a="http://schemas.openxmlformats.org/drawingml/2006/main">
            <a:off x="628650" y="3714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0D5C4"/>
                </a:solidFill>
                <a:latin typeface="맑은 고딕"/>
                <a:ea typeface="맑은 고딕"/>
                <a:cs typeface="맑은 고딕"/>
              </a:defRPr>
            </a:pPr>
            <a:r>
              <a:rPr sz="1050" b="1">
                <a:solidFill>
                  <a:srgbClr val="20D5C4"/>
                </a:solidFill>
                <a:latin typeface="맑은 고딕"/>
                <a:ea typeface="맑은 고딕"/>
                <a:cs typeface="맑은 고딕"/>
              </a:rPr>
              <a:t>02</a:t>
            </a:r>
          </a:p>
        </p:txBody>
      </p:sp>
      <p:sp>
        <p:nvSpPr>
          <p:cNvPr id="11" name="">
            <a:extLst xmlns:a="http://schemas.openxmlformats.org/drawingml/2006/main">
              <a:ext uri="{FF2B5EF4-FFF2-40B4-BE49-F238E27FC236}">
                <a16:creationId xmlns:a16="http://schemas.microsoft.com/office/drawing/2014/main" id="{38F90220-DF2E-4197-AA03-C995508F01AD}"/>
              </a:ext>
            </a:extLst>
          </p:cNvPr>
          <p:cNvSpPr>
            <a:spLocks xmlns:a="http://schemas.openxmlformats.org/drawingml/2006/main" noGrp="1"/>
          </p:cNvSpPr>
          <p:nvPr/>
        </p:nvSpPr>
        <p:spPr>
          <a:xfrm xmlns:a="http://schemas.openxmlformats.org/drawingml/2006/main">
            <a:off x="1200150" y="36957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FFFFF"/>
                </a:solidFill>
                <a:latin typeface="맑은 고딕"/>
                <a:ea typeface="맑은 고딕"/>
                <a:cs typeface="맑은 고딕"/>
              </a:defRPr>
            </a:pPr>
            <a:r>
              <a:rPr sz="1500" b="1">
                <a:solidFill>
                  <a:srgbClr val="FFFFFF"/>
                </a:solidFill>
                <a:latin typeface="맑은 고딕"/>
                <a:ea typeface="맑은 고딕"/>
                <a:cs typeface="맑은 고딕"/>
              </a:rPr>
              <a:t>배정 현황</a:t>
            </a:r>
          </a:p>
        </p:txBody>
      </p:sp>
      <p:sp>
        <p:nvSpPr>
          <p:cNvPr id="12" name="">
            <a:extLst xmlns:a="http://schemas.openxmlformats.org/drawingml/2006/main">
              <a:ext uri="{FF2B5EF4-FFF2-40B4-BE49-F238E27FC236}">
                <a16:creationId xmlns:a16="http://schemas.microsoft.com/office/drawing/2014/main" id="{C43BCEDA-A723-4F99-9102-D25DB288D755}"/>
              </a:ext>
            </a:extLst>
          </p:cNvPr>
          <p:cNvSpPr>
            <a:spLocks xmlns:a="http://schemas.openxmlformats.org/drawingml/2006/main" noGrp="1"/>
          </p:cNvSpPr>
          <p:nvPr/>
        </p:nvSpPr>
        <p:spPr>
          <a:xfrm xmlns:a="http://schemas.openxmlformats.org/drawingml/2006/main">
            <a:off x="1200150" y="4038600"/>
            <a:ext cx="4514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FC0CA"/>
                </a:solidFill>
                <a:latin typeface="맑은 고딕"/>
                <a:ea typeface="맑은 고딕"/>
                <a:cs typeface="맑은 고딕"/>
              </a:defRPr>
            </a:pPr>
            <a:r>
              <a:rPr sz="1125" b="0">
                <a:solidFill>
                  <a:srgbClr val="AFC0CA"/>
                </a:solidFill>
                <a:latin typeface="맑은 고딕"/>
                <a:ea typeface="맑은 고딕"/>
                <a:cs typeface="맑은 고딕"/>
              </a:rPr>
              <a:t>관리자는 기사별 일정과 미배정 요청을 함께 보기 어렵습니다.</a:t>
            </a:r>
          </a:p>
        </p:txBody>
      </p:sp>
      <p:sp>
        <p:nvSpPr>
          <p:cNvPr id="13" name="">
            <a:extLst xmlns:a="http://schemas.openxmlformats.org/drawingml/2006/main">
              <a:ext uri="{FF2B5EF4-FFF2-40B4-BE49-F238E27FC236}">
                <a16:creationId xmlns:a16="http://schemas.microsoft.com/office/drawing/2014/main" id="{9392B803-1D8B-4A7D-828F-5A2BCF121357}"/>
              </a:ext>
            </a:extLst>
          </p:cNvPr>
          <p:cNvSpPr>
            <a:spLocks xmlns:a="http://schemas.openxmlformats.org/drawingml/2006/main" noGrp="1"/>
          </p:cNvSpPr>
          <p:nvPr/>
        </p:nvSpPr>
        <p:spPr>
          <a:xfrm xmlns:a="http://schemas.openxmlformats.org/drawingml/2006/main">
            <a:off x="628650" y="47815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6B4A"/>
                </a:solidFill>
                <a:latin typeface="맑은 고딕"/>
                <a:ea typeface="맑은 고딕"/>
                <a:cs typeface="맑은 고딕"/>
              </a:defRPr>
            </a:pPr>
            <a:r>
              <a:rPr sz="1050" b="1">
                <a:solidFill>
                  <a:srgbClr val="FF6B4A"/>
                </a:solidFill>
                <a:latin typeface="맑은 고딕"/>
                <a:ea typeface="맑은 고딕"/>
                <a:cs typeface="맑은 고딕"/>
              </a:rPr>
              <a:t>03</a:t>
            </a:r>
          </a:p>
        </p:txBody>
      </p:sp>
      <p:sp>
        <p:nvSpPr>
          <p:cNvPr id="14" name="">
            <a:extLst xmlns:a="http://schemas.openxmlformats.org/drawingml/2006/main">
              <a:ext uri="{FF2B5EF4-FFF2-40B4-BE49-F238E27FC236}">
                <a16:creationId xmlns:a16="http://schemas.microsoft.com/office/drawing/2014/main" id="{C28BF470-3E38-4FE0-8C8F-1F2891B1E5DF}"/>
              </a:ext>
            </a:extLst>
          </p:cNvPr>
          <p:cNvSpPr>
            <a:spLocks xmlns:a="http://schemas.openxmlformats.org/drawingml/2006/main" noGrp="1"/>
          </p:cNvSpPr>
          <p:nvPr/>
        </p:nvSpPr>
        <p:spPr>
          <a:xfrm xmlns:a="http://schemas.openxmlformats.org/drawingml/2006/main">
            <a:off x="1200150" y="47625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FFFFF"/>
                </a:solidFill>
                <a:latin typeface="맑은 고딕"/>
                <a:ea typeface="맑은 고딕"/>
                <a:cs typeface="맑은 고딕"/>
              </a:defRPr>
            </a:pPr>
            <a:r>
              <a:rPr sz="1500" b="1">
                <a:solidFill>
                  <a:srgbClr val="FFFFFF"/>
                </a:solidFill>
                <a:latin typeface="맑은 고딕"/>
                <a:ea typeface="맑은 고딕"/>
                <a:cs typeface="맑은 고딕"/>
              </a:rPr>
              <a:t>고객 피드백</a:t>
            </a:r>
          </a:p>
        </p:txBody>
      </p:sp>
      <p:sp>
        <p:nvSpPr>
          <p:cNvPr id="15" name="">
            <a:extLst xmlns:a="http://schemas.openxmlformats.org/drawingml/2006/main">
              <a:ext uri="{FF2B5EF4-FFF2-40B4-BE49-F238E27FC236}">
                <a16:creationId xmlns:a16="http://schemas.microsoft.com/office/drawing/2014/main" id="{E21C13DF-6E60-4246-A798-8F167DB76EA1}"/>
              </a:ext>
            </a:extLst>
          </p:cNvPr>
          <p:cNvSpPr>
            <a:spLocks xmlns:a="http://schemas.openxmlformats.org/drawingml/2006/main" noGrp="1"/>
          </p:cNvSpPr>
          <p:nvPr/>
        </p:nvSpPr>
        <p:spPr>
          <a:xfrm xmlns:a="http://schemas.openxmlformats.org/drawingml/2006/main">
            <a:off x="1200150" y="5105400"/>
            <a:ext cx="4514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FC0CA"/>
                </a:solidFill>
                <a:latin typeface="맑은 고딕"/>
                <a:ea typeface="맑은 고딕"/>
                <a:cs typeface="맑은 고딕"/>
              </a:defRPr>
            </a:pPr>
            <a:r>
              <a:rPr sz="1125" b="0">
                <a:solidFill>
                  <a:srgbClr val="AFC0CA"/>
                </a:solidFill>
                <a:latin typeface="맑은 고딕"/>
                <a:ea typeface="맑은 고딕"/>
                <a:cs typeface="맑은 고딕"/>
              </a:rPr>
              <a:t>처리 후 평가는 별도 채널에 남아 운영 지표로 축적되지 않습니다.</a:t>
            </a:r>
          </a:p>
        </p:txBody>
      </p:sp>
    </p:spTree>
    <p:extLst>
      <p:ext uri="{BB962C8B-B14F-4D97-AF65-F5344CB8AC3E}">
        <p14:creationId xmlns:p14="http://schemas.microsoft.com/office/powerpoint/2010/main" val="15270808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EAF1039-5C3C-4E0A-87A0-2E70853D398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FF6B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27870B-0CF4-4D18-8A3E-477A2F33F0A1}"/>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5D1AC778-6646-45C0-91D1-4CABC882472E}"/>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9BACB7"/>
                </a:solidFill>
                <a:latin typeface="맑은 고딕"/>
                <a:ea typeface="맑은 고딕"/>
                <a:cs typeface="맑은 고딕"/>
              </a:defRPr>
            </a:pPr>
            <a:r>
              <a:rPr sz="825" b="1">
                <a:solidFill>
                  <a:srgbClr val="9BACB7"/>
                </a:solidFill>
                <a:latin typeface="맑은 고딕"/>
                <a:ea typeface="맑은 고딕"/>
                <a:cs typeface="맑은 고딕"/>
              </a:rPr>
              <a:t>04</a:t>
            </a:r>
          </a:p>
        </p:txBody>
      </p:sp>
      <p:sp>
        <p:nvSpPr>
          <p:cNvPr id="4" name="">
            <a:extLst xmlns:a="http://schemas.openxmlformats.org/drawingml/2006/main">
              <a:ext uri="{FF2B5EF4-FFF2-40B4-BE49-F238E27FC236}">
                <a16:creationId xmlns:a16="http://schemas.microsoft.com/office/drawing/2014/main" id="{AC1FE80B-DA72-462A-BEEF-12B8F6A4E1E5}"/>
              </a:ext>
            </a:extLst>
          </p:cNvPr>
          <p:cNvSpPr>
            <a:spLocks xmlns:a="http://schemas.openxmlformats.org/drawingml/2006/main" noGrp="1"/>
          </p:cNvSpPr>
          <p:nvPr/>
        </p:nvSpPr>
        <p:spPr>
          <a:xfrm xmlns:a="http://schemas.openxmlformats.org/drawingml/2006/main">
            <a:off x="628650" y="552450"/>
            <a:ext cx="704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SERVICE MODEL</a:t>
            </a:r>
          </a:p>
        </p:txBody>
      </p:sp>
      <p:sp>
        <p:nvSpPr>
          <p:cNvPr id="5" name="">
            <a:extLst xmlns:a="http://schemas.openxmlformats.org/drawingml/2006/main">
              <a:ext uri="{FF2B5EF4-FFF2-40B4-BE49-F238E27FC236}">
                <a16:creationId xmlns:a16="http://schemas.microsoft.com/office/drawing/2014/main" id="{76A839D7-3005-4352-804C-E63F8C2D5612}"/>
              </a:ext>
            </a:extLst>
          </p:cNvPr>
          <p:cNvSpPr>
            <a:spLocks xmlns:a="http://schemas.openxmlformats.org/drawingml/2006/main" noGrp="1"/>
          </p:cNvSpPr>
          <p:nvPr/>
        </p:nvSpPr>
        <p:spPr>
          <a:xfrm xmlns:a="http://schemas.openxmlformats.org/drawingml/2006/main">
            <a:off x="628650" y="8763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7131F"/>
                </a:solidFill>
                <a:latin typeface="맑은 고딕"/>
                <a:ea typeface="맑은 고딕"/>
                <a:cs typeface="맑은 고딕"/>
              </a:defRPr>
            </a:pPr>
            <a:r>
              <a:rPr sz="2550" b="1">
                <a:solidFill>
                  <a:srgbClr val="07131F"/>
                </a:solidFill>
                <a:latin typeface="맑은 고딕"/>
                <a:ea typeface="맑은 고딕"/>
                <a:cs typeface="맑은 고딕"/>
              </a:rPr>
              <a:t>역할은 분리하고 업무 상태는 공유</a:t>
            </a:r>
          </a:p>
        </p:txBody>
      </p:sp>
      <p:sp>
        <p:nvSpPr>
          <p:cNvPr id="6" name="">
            <a:extLst xmlns:a="http://schemas.openxmlformats.org/drawingml/2006/main">
              <a:ext uri="{FF2B5EF4-FFF2-40B4-BE49-F238E27FC236}">
                <a16:creationId xmlns:a16="http://schemas.microsoft.com/office/drawing/2014/main" id="{FAC44277-9041-423A-8BC1-A5022AA5FD59}"/>
              </a:ext>
            </a:extLst>
          </p:cNvPr>
          <p:cNvSpPr>
            <a:spLocks xmlns:a="http://schemas.openxmlformats.org/drawingml/2006/main" noGrp="1"/>
          </p:cNvSpPr>
          <p:nvPr/>
        </p:nvSpPr>
        <p:spPr>
          <a:xfrm xmlns:a="http://schemas.openxmlformats.org/drawingml/2006/main">
            <a:off x="628650" y="15811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18295"/>
                </a:solidFill>
                <a:latin typeface="맑은 고딕"/>
                <a:ea typeface="맑은 고딕"/>
                <a:cs typeface="맑은 고딕"/>
              </a:defRPr>
            </a:pPr>
            <a:r>
              <a:rPr sz="1425" b="0">
                <a:solidFill>
                  <a:srgbClr val="718295"/>
                </a:solidFill>
                <a:latin typeface="맑은 고딕"/>
                <a:ea typeface="맑은 고딕"/>
                <a:cs typeface="맑은 고딕"/>
              </a:rPr>
              <a:t>각 사용자는 필요한 화면만 보지만 REQUEST와 AS_SCHEDULE을 중심으로 같은 진행 상태를 사용합니다.</a:t>
            </a:r>
          </a:p>
        </p:txBody>
      </p:sp>
      <p:sp>
        <p:nvSpPr>
          <p:cNvPr id="7" name="">
            <a:extLst xmlns:a="http://schemas.openxmlformats.org/drawingml/2006/main">
              <a:ext uri="{FF2B5EF4-FFF2-40B4-BE49-F238E27FC236}">
                <a16:creationId xmlns:a16="http://schemas.microsoft.com/office/drawing/2014/main" id="{151A1F5E-312A-402C-9179-DAA215013C03}"/>
              </a:ext>
            </a:extLst>
          </p:cNvPr>
          <p:cNvSpPr>
            <a:spLocks xmlns:a="http://schemas.openxmlformats.org/drawingml/2006/main" noGrp="1"/>
          </p:cNvSpPr>
          <p:nvPr/>
        </p:nvSpPr>
        <p:spPr>
          <a:xfrm xmlns:a="http://schemas.openxmlformats.org/drawingml/2006/main">
            <a:off x="628650" y="24384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6CC8FF"/>
                </a:solidFill>
                <a:latin typeface="맑은 고딕"/>
                <a:ea typeface="맑은 고딕"/>
                <a:cs typeface="맑은 고딕"/>
              </a:defRPr>
            </a:pPr>
            <a:r>
              <a:rPr sz="825" b="1">
                <a:solidFill>
                  <a:srgbClr val="6CC8FF"/>
                </a:solidFill>
                <a:latin typeface="맑은 고딕"/>
                <a:ea typeface="맑은 고딕"/>
                <a:cs typeface="맑은 고딕"/>
              </a:rPr>
              <a:t>CUSTOMER</a:t>
            </a:r>
          </a:p>
        </p:txBody>
      </p:sp>
      <p:sp>
        <p:nvSpPr>
          <p:cNvPr id="8" name="">
            <a:extLst xmlns:a="http://schemas.openxmlformats.org/drawingml/2006/main">
              <a:ext uri="{FF2B5EF4-FFF2-40B4-BE49-F238E27FC236}">
                <a16:creationId xmlns:a16="http://schemas.microsoft.com/office/drawing/2014/main" id="{1DE31FC4-C57F-4EA4-B4EC-AF617F14AC68}"/>
              </a:ext>
            </a:extLst>
          </p:cNvPr>
          <p:cNvSpPr>
            <a:spLocks xmlns:a="http://schemas.openxmlformats.org/drawingml/2006/main" noGrp="1"/>
          </p:cNvSpPr>
          <p:nvPr/>
        </p:nvSpPr>
        <p:spPr>
          <a:xfrm xmlns:a="http://schemas.openxmlformats.org/drawingml/2006/main">
            <a:off x="628650" y="27813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7131F"/>
                </a:solidFill>
                <a:latin typeface="맑은 고딕"/>
                <a:ea typeface="맑은 고딕"/>
                <a:cs typeface="맑은 고딕"/>
              </a:defRPr>
            </a:pPr>
            <a:r>
              <a:rPr sz="2250" b="1">
                <a:solidFill>
                  <a:srgbClr val="07131F"/>
                </a:solidFill>
                <a:latin typeface="맑은 고딕"/>
                <a:ea typeface="맑은 고딕"/>
                <a:cs typeface="맑은 고딕"/>
              </a:rPr>
              <a:t>고객</a:t>
            </a:r>
          </a:p>
        </p:txBody>
      </p:sp>
      <p:sp>
        <p:nvSpPr>
          <p:cNvPr id="9" name="">
            <a:extLst xmlns:a="http://schemas.openxmlformats.org/drawingml/2006/main">
              <a:ext uri="{FF2B5EF4-FFF2-40B4-BE49-F238E27FC236}">
                <a16:creationId xmlns:a16="http://schemas.microsoft.com/office/drawing/2014/main" id="{2623274D-EBCE-4DFD-88DA-0713CE5B6BC1}"/>
              </a:ext>
            </a:extLst>
          </p:cNvPr>
          <p:cNvSpPr>
            <a:spLocks xmlns:a="http://schemas.openxmlformats.org/drawingml/2006/main" noGrp="1"/>
          </p:cNvSpPr>
          <p:nvPr/>
        </p:nvSpPr>
        <p:spPr>
          <a:xfrm xmlns:a="http://schemas.openxmlformats.org/drawingml/2006/main">
            <a:off x="628650" y="3352800"/>
            <a:ext cx="2857500" cy="19050"/>
          </a:xfrm>
          <a:prstGeom xmlns:a="http://schemas.openxmlformats.org/drawingml/2006/main" prst="rect">
            <a:avLst/>
          </a:prstGeom>
          <a:solidFill xmlns:a="http://schemas.openxmlformats.org/drawingml/2006/main">
            <a:srgbClr val="6CC8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65DC468-D694-4C73-AC08-90E387A86C44}"/>
              </a:ext>
            </a:extLst>
          </p:cNvPr>
          <p:cNvSpPr>
            <a:spLocks xmlns:a="http://schemas.openxmlformats.org/drawingml/2006/main" noGrp="1"/>
          </p:cNvSpPr>
          <p:nvPr/>
        </p:nvSpPr>
        <p:spPr>
          <a:xfrm xmlns:a="http://schemas.openxmlformats.org/drawingml/2006/main">
            <a:off x="628650" y="3581400"/>
            <a:ext cx="285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295"/>
                </a:solidFill>
                <a:latin typeface="맑은 고딕"/>
                <a:ea typeface="맑은 고딕"/>
                <a:cs typeface="맑은 고딕"/>
              </a:defRPr>
            </a:pPr>
            <a:r>
              <a:rPr sz="1350" b="0">
                <a:solidFill>
                  <a:srgbClr val="718295"/>
                </a:solidFill>
                <a:latin typeface="맑은 고딕"/>
                <a:ea typeface="맑은 고딕"/>
                <a:cs typeface="맑은 고딕"/>
              </a:rPr>
              <a:t>신청</a:t>
            </a:r>
          </a:p>
          <a:p xmlns:a="http://schemas.openxmlformats.org/drawingml/2006/main">
            <a:pPr>
              <a:defRPr sz="1350" b="0">
                <a:solidFill>
                  <a:srgbClr val="718295"/>
                </a:solidFill>
                <a:latin typeface="맑은 고딕"/>
                <a:ea typeface="맑은 고딕"/>
                <a:cs typeface="맑은 고딕"/>
              </a:defRPr>
            </a:pPr>
            <a:r>
              <a:rPr sz="1350" b="0">
                <a:solidFill>
                  <a:srgbClr val="718295"/>
                </a:solidFill>
                <a:latin typeface="맑은 고딕"/>
                <a:ea typeface="맑은 고딕"/>
                <a:cs typeface="맑은 고딕"/>
              </a:rPr>
              <a:t>내역 확인</a:t>
            </a:r>
          </a:p>
          <a:p xmlns:a="http://schemas.openxmlformats.org/drawingml/2006/main">
            <a:pPr>
              <a:defRPr sz="1350" b="0">
                <a:solidFill>
                  <a:srgbClr val="718295"/>
                </a:solidFill>
                <a:latin typeface="맑은 고딕"/>
                <a:ea typeface="맑은 고딕"/>
                <a:cs typeface="맑은 고딕"/>
              </a:defRPr>
            </a:pPr>
            <a:r>
              <a:rPr sz="1350" b="0">
                <a:solidFill>
                  <a:srgbClr val="718295"/>
                </a:solidFill>
                <a:latin typeface="맑은 고딕"/>
                <a:ea typeface="맑은 고딕"/>
                <a:cs typeface="맑은 고딕"/>
              </a:rPr>
              <a:t>만족도 응답</a:t>
            </a:r>
          </a:p>
        </p:txBody>
      </p:sp>
      <p:sp>
        <p:nvSpPr>
          <p:cNvPr id="11" name="">
            <a:extLst xmlns:a="http://schemas.openxmlformats.org/drawingml/2006/main">
              <a:ext uri="{FF2B5EF4-FFF2-40B4-BE49-F238E27FC236}">
                <a16:creationId xmlns:a16="http://schemas.microsoft.com/office/drawing/2014/main" id="{0159A32B-FD8C-4DE6-A5A7-D71E26CC4BEF}"/>
              </a:ext>
            </a:extLst>
          </p:cNvPr>
          <p:cNvSpPr>
            <a:spLocks xmlns:a="http://schemas.openxmlformats.org/drawingml/2006/main" noGrp="1"/>
          </p:cNvSpPr>
          <p:nvPr/>
        </p:nvSpPr>
        <p:spPr>
          <a:xfrm xmlns:a="http://schemas.openxmlformats.org/drawingml/2006/main">
            <a:off x="4305300" y="24384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FF6B4A"/>
                </a:solidFill>
                <a:latin typeface="맑은 고딕"/>
                <a:ea typeface="맑은 고딕"/>
                <a:cs typeface="맑은 고딕"/>
              </a:defRPr>
            </a:pPr>
            <a:r>
              <a:rPr sz="825" b="1">
                <a:solidFill>
                  <a:srgbClr val="FF6B4A"/>
                </a:solidFill>
                <a:latin typeface="맑은 고딕"/>
                <a:ea typeface="맑은 고딕"/>
                <a:cs typeface="맑은 고딕"/>
              </a:rPr>
              <a:t>ADMIN</a:t>
            </a:r>
          </a:p>
        </p:txBody>
      </p:sp>
      <p:sp>
        <p:nvSpPr>
          <p:cNvPr id="12" name="">
            <a:extLst xmlns:a="http://schemas.openxmlformats.org/drawingml/2006/main">
              <a:ext uri="{FF2B5EF4-FFF2-40B4-BE49-F238E27FC236}">
                <a16:creationId xmlns:a16="http://schemas.microsoft.com/office/drawing/2014/main" id="{C22DACE5-F0C0-4036-9309-AED93F10A372}"/>
              </a:ext>
            </a:extLst>
          </p:cNvPr>
          <p:cNvSpPr>
            <a:spLocks xmlns:a="http://schemas.openxmlformats.org/drawingml/2006/main" noGrp="1"/>
          </p:cNvSpPr>
          <p:nvPr/>
        </p:nvSpPr>
        <p:spPr>
          <a:xfrm xmlns:a="http://schemas.openxmlformats.org/drawingml/2006/main">
            <a:off x="4305300" y="27813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7131F"/>
                </a:solidFill>
                <a:latin typeface="맑은 고딕"/>
                <a:ea typeface="맑은 고딕"/>
                <a:cs typeface="맑은 고딕"/>
              </a:defRPr>
            </a:pPr>
            <a:r>
              <a:rPr sz="2250" b="1">
                <a:solidFill>
                  <a:srgbClr val="07131F"/>
                </a:solidFill>
                <a:latin typeface="맑은 고딕"/>
                <a:ea typeface="맑은 고딕"/>
                <a:cs typeface="맑은 고딕"/>
              </a:rPr>
              <a:t>관리자</a:t>
            </a:r>
          </a:p>
        </p:txBody>
      </p:sp>
      <p:sp>
        <p:nvSpPr>
          <p:cNvPr id="13" name="">
            <a:extLst xmlns:a="http://schemas.openxmlformats.org/drawingml/2006/main">
              <a:ext uri="{FF2B5EF4-FFF2-40B4-BE49-F238E27FC236}">
                <a16:creationId xmlns:a16="http://schemas.microsoft.com/office/drawing/2014/main" id="{13177B5F-189E-47A7-B6BB-952EEE80725A}"/>
              </a:ext>
            </a:extLst>
          </p:cNvPr>
          <p:cNvSpPr>
            <a:spLocks xmlns:a="http://schemas.openxmlformats.org/drawingml/2006/main" noGrp="1"/>
          </p:cNvSpPr>
          <p:nvPr/>
        </p:nvSpPr>
        <p:spPr>
          <a:xfrm xmlns:a="http://schemas.openxmlformats.org/drawingml/2006/main">
            <a:off x="4305300" y="3352800"/>
            <a:ext cx="2857500" cy="19050"/>
          </a:xfrm>
          <a:prstGeom xmlns:a="http://schemas.openxmlformats.org/drawingml/2006/main" prst="rect">
            <a:avLst/>
          </a:prstGeom>
          <a:solidFill xmlns:a="http://schemas.openxmlformats.org/drawingml/2006/main">
            <a:srgbClr val="FF6B4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B871BCB-A2C4-47A1-81FA-7DE1F515F21A}"/>
              </a:ext>
            </a:extLst>
          </p:cNvPr>
          <p:cNvSpPr>
            <a:spLocks xmlns:a="http://schemas.openxmlformats.org/drawingml/2006/main" noGrp="1"/>
          </p:cNvSpPr>
          <p:nvPr/>
        </p:nvSpPr>
        <p:spPr>
          <a:xfrm xmlns:a="http://schemas.openxmlformats.org/drawingml/2006/main">
            <a:off x="4305300" y="3581400"/>
            <a:ext cx="285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295"/>
                </a:solidFill>
                <a:latin typeface="맑은 고딕"/>
                <a:ea typeface="맑은 고딕"/>
                <a:cs typeface="맑은 고딕"/>
              </a:defRPr>
            </a:pPr>
            <a:r>
              <a:rPr sz="1350" b="0">
                <a:solidFill>
                  <a:srgbClr val="718295"/>
                </a:solidFill>
                <a:latin typeface="맑은 고딕"/>
                <a:ea typeface="맑은 고딕"/>
                <a:cs typeface="맑은 고딕"/>
              </a:rPr>
              <a:t>접수 현황</a:t>
            </a:r>
          </a:p>
          <a:p xmlns:a="http://schemas.openxmlformats.org/drawingml/2006/main">
            <a:pPr>
              <a:defRPr sz="1350" b="0">
                <a:solidFill>
                  <a:srgbClr val="718295"/>
                </a:solidFill>
                <a:latin typeface="맑은 고딕"/>
                <a:ea typeface="맑은 고딕"/>
                <a:cs typeface="맑은 고딕"/>
              </a:defRPr>
            </a:pPr>
            <a:r>
              <a:rPr sz="1350" b="0">
                <a:solidFill>
                  <a:srgbClr val="718295"/>
                </a:solidFill>
                <a:latin typeface="맑은 고딕"/>
                <a:ea typeface="맑은 고딕"/>
                <a:cs typeface="맑은 고딕"/>
              </a:rPr>
              <a:t>기사 관리</a:t>
            </a:r>
          </a:p>
          <a:p xmlns:a="http://schemas.openxmlformats.org/drawingml/2006/main">
            <a:pPr>
              <a:defRPr sz="1350" b="0">
                <a:solidFill>
                  <a:srgbClr val="718295"/>
                </a:solidFill>
                <a:latin typeface="맑은 고딕"/>
                <a:ea typeface="맑은 고딕"/>
                <a:cs typeface="맑은 고딕"/>
              </a:defRPr>
            </a:pPr>
            <a:r>
              <a:rPr sz="1350" b="0">
                <a:solidFill>
                  <a:srgbClr val="718295"/>
                </a:solidFill>
                <a:latin typeface="맑은 고딕"/>
                <a:ea typeface="맑은 고딕"/>
                <a:cs typeface="맑은 고딕"/>
              </a:rPr>
              <a:t>일정 배정</a:t>
            </a:r>
          </a:p>
        </p:txBody>
      </p:sp>
      <p:sp>
        <p:nvSpPr>
          <p:cNvPr id="15" name="">
            <a:extLst xmlns:a="http://schemas.openxmlformats.org/drawingml/2006/main">
              <a:ext uri="{FF2B5EF4-FFF2-40B4-BE49-F238E27FC236}">
                <a16:creationId xmlns:a16="http://schemas.microsoft.com/office/drawing/2014/main" id="{57A3B95C-D793-4E91-8A8A-4324A34064CE}"/>
              </a:ext>
            </a:extLst>
          </p:cNvPr>
          <p:cNvSpPr>
            <a:spLocks xmlns:a="http://schemas.openxmlformats.org/drawingml/2006/main" noGrp="1"/>
          </p:cNvSpPr>
          <p:nvPr/>
        </p:nvSpPr>
        <p:spPr>
          <a:xfrm xmlns:a="http://schemas.openxmlformats.org/drawingml/2006/main">
            <a:off x="7981950" y="24384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00AFA8"/>
                </a:solidFill>
                <a:latin typeface="맑은 고딕"/>
                <a:ea typeface="맑은 고딕"/>
                <a:cs typeface="맑은 고딕"/>
              </a:defRPr>
            </a:pPr>
            <a:r>
              <a:rPr sz="825" b="1">
                <a:solidFill>
                  <a:srgbClr val="00AFA8"/>
                </a:solidFill>
                <a:latin typeface="맑은 고딕"/>
                <a:ea typeface="맑은 고딕"/>
                <a:cs typeface="맑은 고딕"/>
              </a:rPr>
              <a:t>ENGINEER</a:t>
            </a:r>
          </a:p>
        </p:txBody>
      </p:sp>
      <p:sp>
        <p:nvSpPr>
          <p:cNvPr id="16" name="">
            <a:extLst xmlns:a="http://schemas.openxmlformats.org/drawingml/2006/main">
              <a:ext uri="{FF2B5EF4-FFF2-40B4-BE49-F238E27FC236}">
                <a16:creationId xmlns:a16="http://schemas.microsoft.com/office/drawing/2014/main" id="{5807D125-4423-40B3-B5A5-B6FEB3A6CC50}"/>
              </a:ext>
            </a:extLst>
          </p:cNvPr>
          <p:cNvSpPr>
            <a:spLocks xmlns:a="http://schemas.openxmlformats.org/drawingml/2006/main" noGrp="1"/>
          </p:cNvSpPr>
          <p:nvPr/>
        </p:nvSpPr>
        <p:spPr>
          <a:xfrm xmlns:a="http://schemas.openxmlformats.org/drawingml/2006/main">
            <a:off x="7981950" y="27813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7131F"/>
                </a:solidFill>
                <a:latin typeface="맑은 고딕"/>
                <a:ea typeface="맑은 고딕"/>
                <a:cs typeface="맑은 고딕"/>
              </a:defRPr>
            </a:pPr>
            <a:r>
              <a:rPr sz="2250" b="1">
                <a:solidFill>
                  <a:srgbClr val="07131F"/>
                </a:solidFill>
                <a:latin typeface="맑은 고딕"/>
                <a:ea typeface="맑은 고딕"/>
                <a:cs typeface="맑은 고딕"/>
              </a:rPr>
              <a:t>기사</a:t>
            </a:r>
          </a:p>
        </p:txBody>
      </p:sp>
      <p:sp>
        <p:nvSpPr>
          <p:cNvPr id="17" name="">
            <a:extLst xmlns:a="http://schemas.openxmlformats.org/drawingml/2006/main">
              <a:ext uri="{FF2B5EF4-FFF2-40B4-BE49-F238E27FC236}">
                <a16:creationId xmlns:a16="http://schemas.microsoft.com/office/drawing/2014/main" id="{DEBADF2B-4C73-4A0D-A2A9-1E52FA02BB90}"/>
              </a:ext>
            </a:extLst>
          </p:cNvPr>
          <p:cNvSpPr>
            <a:spLocks xmlns:a="http://schemas.openxmlformats.org/drawingml/2006/main" noGrp="1"/>
          </p:cNvSpPr>
          <p:nvPr/>
        </p:nvSpPr>
        <p:spPr>
          <a:xfrm xmlns:a="http://schemas.openxmlformats.org/drawingml/2006/main">
            <a:off x="7981950" y="3352800"/>
            <a:ext cx="2857500" cy="19050"/>
          </a:xfrm>
          <a:prstGeom xmlns:a="http://schemas.openxmlformats.org/drawingml/2006/main" prst="rect">
            <a:avLst/>
          </a:prstGeom>
          <a:solidFill xmlns:a="http://schemas.openxmlformats.org/drawingml/2006/main">
            <a:srgbClr val="00AFA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16221DC-5886-42B1-BE15-FB0138FFDDC0}"/>
              </a:ext>
            </a:extLst>
          </p:cNvPr>
          <p:cNvSpPr>
            <a:spLocks xmlns:a="http://schemas.openxmlformats.org/drawingml/2006/main" noGrp="1"/>
          </p:cNvSpPr>
          <p:nvPr/>
        </p:nvSpPr>
        <p:spPr>
          <a:xfrm xmlns:a="http://schemas.openxmlformats.org/drawingml/2006/main">
            <a:off x="7981950" y="3581400"/>
            <a:ext cx="285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295"/>
                </a:solidFill>
                <a:latin typeface="맑은 고딕"/>
                <a:ea typeface="맑은 고딕"/>
                <a:cs typeface="맑은 고딕"/>
              </a:defRPr>
            </a:pPr>
            <a:r>
              <a:rPr sz="1350" b="0">
                <a:solidFill>
                  <a:srgbClr val="718295"/>
                </a:solidFill>
                <a:latin typeface="맑은 고딕"/>
                <a:ea typeface="맑은 고딕"/>
                <a:cs typeface="맑은 고딕"/>
              </a:rPr>
              <a:t>오늘 일정</a:t>
            </a:r>
          </a:p>
          <a:p xmlns:a="http://schemas.openxmlformats.org/drawingml/2006/main">
            <a:pPr>
              <a:defRPr sz="1350" b="0">
                <a:solidFill>
                  <a:srgbClr val="718295"/>
                </a:solidFill>
                <a:latin typeface="맑은 고딕"/>
                <a:ea typeface="맑은 고딕"/>
                <a:cs typeface="맑은 고딕"/>
              </a:defRPr>
            </a:pPr>
            <a:r>
              <a:rPr sz="1350" b="0">
                <a:solidFill>
                  <a:srgbClr val="718295"/>
                </a:solidFill>
                <a:latin typeface="맑은 고딕"/>
                <a:ea typeface="맑은 고딕"/>
                <a:cs typeface="맑은 고딕"/>
              </a:rPr>
              <a:t>현장 처리</a:t>
            </a:r>
          </a:p>
          <a:p xmlns:a="http://schemas.openxmlformats.org/drawingml/2006/main">
            <a:pPr>
              <a:defRPr sz="1350" b="0">
                <a:solidFill>
                  <a:srgbClr val="718295"/>
                </a:solidFill>
                <a:latin typeface="맑은 고딕"/>
                <a:ea typeface="맑은 고딕"/>
                <a:cs typeface="맑은 고딕"/>
              </a:defRPr>
            </a:pPr>
            <a:r>
              <a:rPr sz="1350" b="0">
                <a:solidFill>
                  <a:srgbClr val="718295"/>
                </a:solidFill>
                <a:latin typeface="맑은 고딕"/>
                <a:ea typeface="맑은 고딕"/>
                <a:cs typeface="맑은 고딕"/>
              </a:rPr>
              <a:t>결과보고</a:t>
            </a:r>
          </a:p>
        </p:txBody>
      </p:sp>
      <p:sp>
        <p:nvSpPr>
          <p:cNvPr id="19" name="">
            <a:extLst xmlns:a="http://schemas.openxmlformats.org/drawingml/2006/main">
              <a:ext uri="{FF2B5EF4-FFF2-40B4-BE49-F238E27FC236}">
                <a16:creationId xmlns:a16="http://schemas.microsoft.com/office/drawing/2014/main" id="{02A31F94-77C7-4AEB-BFED-AD92A59D32A9}"/>
              </a:ext>
            </a:extLst>
          </p:cNvPr>
          <p:cNvSpPr>
            <a:spLocks xmlns:a="http://schemas.openxmlformats.org/drawingml/2006/main" noGrp="1"/>
          </p:cNvSpPr>
          <p:nvPr/>
        </p:nvSpPr>
        <p:spPr>
          <a:xfrm xmlns:a="http://schemas.openxmlformats.org/drawingml/2006/main">
            <a:off x="628650" y="5238750"/>
            <a:ext cx="10934700" cy="666750"/>
          </a:xfrm>
          <a:prstGeom xmlns:a="http://schemas.openxmlformats.org/drawingml/2006/main" prst="roundRect">
            <a:avLst>
              <a:gd name="adj" fmla="val 11429"/>
            </a:avLst>
          </a:prstGeom>
          <a:solidFill xmlns:a="http://schemas.openxmlformats.org/drawingml/2006/main">
            <a:srgbClr val="07131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EFF5CCF-E87B-44BB-B63B-EA7D2DFF041F}"/>
              </a:ext>
            </a:extLst>
          </p:cNvPr>
          <p:cNvSpPr>
            <a:spLocks xmlns:a="http://schemas.openxmlformats.org/drawingml/2006/main" noGrp="1"/>
          </p:cNvSpPr>
          <p:nvPr/>
        </p:nvSpPr>
        <p:spPr>
          <a:xfrm xmlns:a="http://schemas.openxmlformats.org/drawingml/2006/main">
            <a:off x="876300" y="5429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0D5C4"/>
                </a:solidFill>
                <a:latin typeface="맑은 고딕"/>
                <a:ea typeface="맑은 고딕"/>
                <a:cs typeface="맑은 고딕"/>
              </a:defRPr>
            </a:pPr>
            <a:r>
              <a:rPr sz="1050" b="1">
                <a:solidFill>
                  <a:srgbClr val="20D5C4"/>
                </a:solidFill>
                <a:latin typeface="맑은 고딕"/>
                <a:ea typeface="맑은 고딕"/>
                <a:cs typeface="맑은 고딕"/>
              </a:rPr>
              <a:t>공통 데이터</a:t>
            </a:r>
          </a:p>
        </p:txBody>
      </p:sp>
      <p:sp>
        <p:nvSpPr>
          <p:cNvPr id="21" name="">
            <a:extLst xmlns:a="http://schemas.openxmlformats.org/drawingml/2006/main">
              <a:ext uri="{FF2B5EF4-FFF2-40B4-BE49-F238E27FC236}">
                <a16:creationId xmlns:a16="http://schemas.microsoft.com/office/drawing/2014/main" id="{0424AD40-DAB0-461C-B963-E779EA4DA827}"/>
              </a:ext>
            </a:extLst>
          </p:cNvPr>
          <p:cNvSpPr>
            <a:spLocks xmlns:a="http://schemas.openxmlformats.org/drawingml/2006/main" noGrp="1"/>
          </p:cNvSpPr>
          <p:nvPr/>
        </p:nvSpPr>
        <p:spPr>
          <a:xfrm xmlns:a="http://schemas.openxmlformats.org/drawingml/2006/main">
            <a:off x="2457450" y="5391150"/>
            <a:ext cx="742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맑은 고딕"/>
                <a:ea typeface="맑은 고딕"/>
                <a:cs typeface="맑은 고딕"/>
              </a:defRPr>
            </a:pPr>
            <a:r>
              <a:rPr sz="1650" b="1">
                <a:solidFill>
                  <a:srgbClr val="FFFFFF"/>
                </a:solidFill>
                <a:latin typeface="맑은 고딕"/>
                <a:ea typeface="맑은 고딕"/>
                <a:cs typeface="맑은 고딕"/>
              </a:rPr>
              <a:t>접수 상태 · 기사 일정 · 처리 결과 · 만족도</a:t>
            </a:r>
          </a:p>
        </p:txBody>
      </p:sp>
    </p:spTree>
    <p:extLst>
      <p:ext uri="{BB962C8B-B14F-4D97-AF65-F5344CB8AC3E}">
        <p14:creationId xmlns:p14="http://schemas.microsoft.com/office/powerpoint/2010/main" val="17745690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F960063-B6BE-4B6C-BB16-67DDF901738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C7B61F-B526-40B5-B258-90FA64983F7A}"/>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AC8F9612-D759-4925-B7DC-A98D1BDDEBE7}"/>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9BACB7"/>
                </a:solidFill>
                <a:latin typeface="맑은 고딕"/>
                <a:ea typeface="맑은 고딕"/>
                <a:cs typeface="맑은 고딕"/>
              </a:defRPr>
            </a:pPr>
            <a:r>
              <a:rPr sz="825" b="1">
                <a:solidFill>
                  <a:srgbClr val="9BACB7"/>
                </a:solidFill>
                <a:latin typeface="맑은 고딕"/>
                <a:ea typeface="맑은 고딕"/>
                <a:cs typeface="맑은 고딕"/>
              </a:rPr>
              <a:t>05</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23edb8acdb94233"/>
          <a:srcRect xmlns:a="http://schemas.openxmlformats.org/drawingml/2006/main" l="10457" t="0" r="10457" b="0"/>
          <a:stretch xmlns:a="http://schemas.openxmlformats.org/drawingml/2006/main">
            <a:fillRect l="0" t="0" r="0" b="0"/>
          </a:stretch>
        </p:blipFill>
        <p:spPr>
          <a:xfrm xmlns:a="http://schemas.openxmlformats.org/drawingml/2006/main">
            <a:off x="419100" y="876300"/>
            <a:ext cx="7334250" cy="5219700"/>
          </a:xfrm>
          <a:prstGeom xmlns:a="http://schemas.openxmlformats.org/drawingml/2006/main" prst="roundRect">
            <a:avLst>
              <a:gd name="adj" fmla="val 2920"/>
            </a:avLst>
          </a:prstGeom>
        </p:spPr>
      </p:pic>
      <p:sp>
        <p:nvSpPr>
          <p:cNvPr id="5" name="">
            <a:extLst xmlns:a="http://schemas.openxmlformats.org/drawingml/2006/main">
              <a:ext uri="{FF2B5EF4-FFF2-40B4-BE49-F238E27FC236}">
                <a16:creationId xmlns:a16="http://schemas.microsoft.com/office/drawing/2014/main" id="{B43889A1-9696-42D6-8ED1-6F3BA8AB00EF}"/>
              </a:ext>
            </a:extLst>
          </p:cNvPr>
          <p:cNvSpPr>
            <a:spLocks xmlns:a="http://schemas.openxmlformats.org/drawingml/2006/main" noGrp="1"/>
          </p:cNvSpPr>
          <p:nvPr/>
        </p:nvSpPr>
        <p:spPr>
          <a:xfrm xmlns:a="http://schemas.openxmlformats.org/drawingml/2006/main">
            <a:off x="8191500" y="8953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CUSTOMER EXPERIENCE</a:t>
            </a:r>
          </a:p>
        </p:txBody>
      </p:sp>
      <p:sp>
        <p:nvSpPr>
          <p:cNvPr id="6" name="">
            <a:extLst xmlns:a="http://schemas.openxmlformats.org/drawingml/2006/main">
              <a:ext uri="{FF2B5EF4-FFF2-40B4-BE49-F238E27FC236}">
                <a16:creationId xmlns:a16="http://schemas.microsoft.com/office/drawing/2014/main" id="{37903E9B-91FC-4E95-B393-1D6871D5061C}"/>
              </a:ext>
            </a:extLst>
          </p:cNvPr>
          <p:cNvSpPr>
            <a:spLocks xmlns:a="http://schemas.openxmlformats.org/drawingml/2006/main" noGrp="1"/>
          </p:cNvSpPr>
          <p:nvPr/>
        </p:nvSpPr>
        <p:spPr>
          <a:xfrm xmlns:a="http://schemas.openxmlformats.org/drawingml/2006/main">
            <a:off x="8191500" y="125730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7131F"/>
                </a:solidFill>
                <a:latin typeface="맑은 고딕"/>
                <a:ea typeface="맑은 고딕"/>
                <a:cs typeface="맑은 고딕"/>
              </a:defRPr>
            </a:pPr>
            <a:r>
              <a:rPr sz="2400" b="1">
                <a:solidFill>
                  <a:srgbClr val="07131F"/>
                </a:solidFill>
                <a:latin typeface="맑은 고딕"/>
                <a:ea typeface="맑은 고딕"/>
                <a:cs typeface="맑은 고딕"/>
              </a:rPr>
              <a:t>고객 접수</a:t>
            </a:r>
          </a:p>
        </p:txBody>
      </p:sp>
      <p:sp>
        <p:nvSpPr>
          <p:cNvPr id="7" name="">
            <a:extLst xmlns:a="http://schemas.openxmlformats.org/drawingml/2006/main">
              <a:ext uri="{FF2B5EF4-FFF2-40B4-BE49-F238E27FC236}">
                <a16:creationId xmlns:a16="http://schemas.microsoft.com/office/drawing/2014/main" id="{59FBDED6-733E-499E-B8A1-CBD5868006CB}"/>
              </a:ext>
            </a:extLst>
          </p:cNvPr>
          <p:cNvSpPr>
            <a:spLocks xmlns:a="http://schemas.openxmlformats.org/drawingml/2006/main" noGrp="1"/>
          </p:cNvSpPr>
          <p:nvPr/>
        </p:nvSpPr>
        <p:spPr>
          <a:xfrm xmlns:a="http://schemas.openxmlformats.org/drawingml/2006/main">
            <a:off x="8191500" y="1866900"/>
            <a:ext cx="323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7131F"/>
                </a:solidFill>
                <a:latin typeface="맑은 고딕"/>
                <a:ea typeface="맑은 고딕"/>
                <a:cs typeface="맑은 고딕"/>
              </a:defRPr>
            </a:pPr>
            <a:r>
              <a:rPr sz="1725" b="1">
                <a:solidFill>
                  <a:srgbClr val="07131F"/>
                </a:solidFill>
                <a:latin typeface="맑은 고딕"/>
                <a:ea typeface="맑은 고딕"/>
                <a:cs typeface="맑은 고딕"/>
              </a:rPr>
              <a:t>필요한 정보만 입력하고</a:t>
            </a:r>
          </a:p>
          <a:p xmlns:a="http://schemas.openxmlformats.org/drawingml/2006/main">
            <a:pPr>
              <a:defRPr sz="1725" b="1">
                <a:solidFill>
                  <a:srgbClr val="07131F"/>
                </a:solidFill>
                <a:latin typeface="맑은 고딕"/>
                <a:ea typeface="맑은 고딕"/>
                <a:cs typeface="맑은 고딕"/>
              </a:defRPr>
            </a:pPr>
            <a:r>
              <a:rPr sz="1725" b="1">
                <a:solidFill>
                  <a:srgbClr val="07131F"/>
                </a:solidFill>
                <a:latin typeface="맑은 고딕"/>
                <a:ea typeface="맑은 고딕"/>
                <a:cs typeface="맑은 고딕"/>
              </a:rPr>
              <a:t>처리 상태를 직접 확인</a:t>
            </a:r>
          </a:p>
        </p:txBody>
      </p:sp>
      <p:sp>
        <p:nvSpPr>
          <p:cNvPr id="8" name="">
            <a:extLst xmlns:a="http://schemas.openxmlformats.org/drawingml/2006/main">
              <a:ext uri="{FF2B5EF4-FFF2-40B4-BE49-F238E27FC236}">
                <a16:creationId xmlns:a16="http://schemas.microsoft.com/office/drawing/2014/main" id="{825CAB0D-D5A9-4E15-8C45-600FA28DA78C}"/>
              </a:ext>
            </a:extLst>
          </p:cNvPr>
          <p:cNvSpPr>
            <a:spLocks xmlns:a="http://schemas.openxmlformats.org/drawingml/2006/main" noGrp="1"/>
          </p:cNvSpPr>
          <p:nvPr/>
        </p:nvSpPr>
        <p:spPr>
          <a:xfrm xmlns:a="http://schemas.openxmlformats.org/drawingml/2006/main">
            <a:off x="8191500" y="31242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FF6B4A"/>
                </a:solidFill>
                <a:latin typeface="맑은 고딕"/>
                <a:ea typeface="맑은 고딕"/>
                <a:cs typeface="맑은 고딕"/>
              </a:defRPr>
            </a:pPr>
            <a:r>
              <a:rPr sz="975" b="1">
                <a:solidFill>
                  <a:srgbClr val="FF6B4A"/>
                </a:solidFill>
                <a:latin typeface="맑은 고딕"/>
                <a:ea typeface="맑은 고딕"/>
                <a:cs typeface="맑은 고딕"/>
              </a:rPr>
              <a:t>01</a:t>
            </a:r>
          </a:p>
        </p:txBody>
      </p:sp>
      <p:sp>
        <p:nvSpPr>
          <p:cNvPr id="9" name="">
            <a:extLst xmlns:a="http://schemas.openxmlformats.org/drawingml/2006/main">
              <a:ext uri="{FF2B5EF4-FFF2-40B4-BE49-F238E27FC236}">
                <a16:creationId xmlns:a16="http://schemas.microsoft.com/office/drawing/2014/main" id="{F1CCB9F4-A486-4391-A09D-949FCC794767}"/>
              </a:ext>
            </a:extLst>
          </p:cNvPr>
          <p:cNvSpPr>
            <a:spLocks xmlns:a="http://schemas.openxmlformats.org/drawingml/2006/main" noGrp="1"/>
          </p:cNvSpPr>
          <p:nvPr/>
        </p:nvSpPr>
        <p:spPr>
          <a:xfrm xmlns:a="http://schemas.openxmlformats.org/drawingml/2006/main">
            <a:off x="8667750" y="3114675"/>
            <a:ext cx="2781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8295"/>
                </a:solidFill>
                <a:latin typeface="맑은 고딕"/>
                <a:ea typeface="맑은 고딕"/>
                <a:cs typeface="맑은 고딕"/>
              </a:defRPr>
            </a:pPr>
            <a:r>
              <a:rPr sz="1275" b="0">
                <a:solidFill>
                  <a:srgbClr val="718295"/>
                </a:solidFill>
                <a:latin typeface="맑은 고딕"/>
                <a:ea typeface="맑은 고딕"/>
                <a:cs typeface="맑은 고딕"/>
              </a:rPr>
              <a:t>제품·증상·희망일 입력</a:t>
            </a:r>
          </a:p>
        </p:txBody>
      </p:sp>
      <p:sp>
        <p:nvSpPr>
          <p:cNvPr id="10" name="">
            <a:extLst xmlns:a="http://schemas.openxmlformats.org/drawingml/2006/main">
              <a:ext uri="{FF2B5EF4-FFF2-40B4-BE49-F238E27FC236}">
                <a16:creationId xmlns:a16="http://schemas.microsoft.com/office/drawing/2014/main" id="{0487C0F1-986C-45B2-8F02-3A293FBDCB3A}"/>
              </a:ext>
            </a:extLst>
          </p:cNvPr>
          <p:cNvSpPr>
            <a:spLocks xmlns:a="http://schemas.openxmlformats.org/drawingml/2006/main" noGrp="1"/>
          </p:cNvSpPr>
          <p:nvPr/>
        </p:nvSpPr>
        <p:spPr>
          <a:xfrm xmlns:a="http://schemas.openxmlformats.org/drawingml/2006/main">
            <a:off x="8191500" y="3810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FF6B4A"/>
                </a:solidFill>
                <a:latin typeface="맑은 고딕"/>
                <a:ea typeface="맑은 고딕"/>
                <a:cs typeface="맑은 고딕"/>
              </a:defRPr>
            </a:pPr>
            <a:r>
              <a:rPr sz="975" b="1">
                <a:solidFill>
                  <a:srgbClr val="FF6B4A"/>
                </a:solidFill>
                <a:latin typeface="맑은 고딕"/>
                <a:ea typeface="맑은 고딕"/>
                <a:cs typeface="맑은 고딕"/>
              </a:rPr>
              <a:t>02</a:t>
            </a:r>
          </a:p>
        </p:txBody>
      </p:sp>
      <p:sp>
        <p:nvSpPr>
          <p:cNvPr id="11" name="">
            <a:extLst xmlns:a="http://schemas.openxmlformats.org/drawingml/2006/main">
              <a:ext uri="{FF2B5EF4-FFF2-40B4-BE49-F238E27FC236}">
                <a16:creationId xmlns:a16="http://schemas.microsoft.com/office/drawing/2014/main" id="{6DD8F4EB-72CB-46AD-80B4-CA8537DA9D93}"/>
              </a:ext>
            </a:extLst>
          </p:cNvPr>
          <p:cNvSpPr>
            <a:spLocks xmlns:a="http://schemas.openxmlformats.org/drawingml/2006/main" noGrp="1"/>
          </p:cNvSpPr>
          <p:nvPr/>
        </p:nvSpPr>
        <p:spPr>
          <a:xfrm xmlns:a="http://schemas.openxmlformats.org/drawingml/2006/main">
            <a:off x="8667750" y="3800475"/>
            <a:ext cx="2781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8295"/>
                </a:solidFill>
                <a:latin typeface="맑은 고딕"/>
                <a:ea typeface="맑은 고딕"/>
                <a:cs typeface="맑은 고딕"/>
              </a:defRPr>
            </a:pPr>
            <a:r>
              <a:rPr sz="1275" b="0">
                <a:solidFill>
                  <a:srgbClr val="718295"/>
                </a:solidFill>
                <a:latin typeface="맑은 고딕"/>
                <a:ea typeface="맑은 고딕"/>
                <a:cs typeface="맑은 고딕"/>
              </a:rPr>
              <a:t>중복 신청 사전 확인</a:t>
            </a:r>
          </a:p>
        </p:txBody>
      </p:sp>
      <p:sp>
        <p:nvSpPr>
          <p:cNvPr id="12" name="">
            <a:extLst xmlns:a="http://schemas.openxmlformats.org/drawingml/2006/main">
              <a:ext uri="{FF2B5EF4-FFF2-40B4-BE49-F238E27FC236}">
                <a16:creationId xmlns:a16="http://schemas.microsoft.com/office/drawing/2014/main" id="{AF857CCA-BD32-4C02-A9FE-526CEC834301}"/>
              </a:ext>
            </a:extLst>
          </p:cNvPr>
          <p:cNvSpPr>
            <a:spLocks xmlns:a="http://schemas.openxmlformats.org/drawingml/2006/main" noGrp="1"/>
          </p:cNvSpPr>
          <p:nvPr/>
        </p:nvSpPr>
        <p:spPr>
          <a:xfrm xmlns:a="http://schemas.openxmlformats.org/drawingml/2006/main">
            <a:off x="8191500" y="44958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FF6B4A"/>
                </a:solidFill>
                <a:latin typeface="맑은 고딕"/>
                <a:ea typeface="맑은 고딕"/>
                <a:cs typeface="맑은 고딕"/>
              </a:defRPr>
            </a:pPr>
            <a:r>
              <a:rPr sz="975" b="1">
                <a:solidFill>
                  <a:srgbClr val="FF6B4A"/>
                </a:solidFill>
                <a:latin typeface="맑은 고딕"/>
                <a:ea typeface="맑은 고딕"/>
                <a:cs typeface="맑은 고딕"/>
              </a:rPr>
              <a:t>03</a:t>
            </a:r>
          </a:p>
        </p:txBody>
      </p:sp>
      <p:sp>
        <p:nvSpPr>
          <p:cNvPr id="13" name="">
            <a:extLst xmlns:a="http://schemas.openxmlformats.org/drawingml/2006/main">
              <a:ext uri="{FF2B5EF4-FFF2-40B4-BE49-F238E27FC236}">
                <a16:creationId xmlns:a16="http://schemas.microsoft.com/office/drawing/2014/main" id="{77F836CB-30F4-4E78-9AC6-5EF791C6428D}"/>
              </a:ext>
            </a:extLst>
          </p:cNvPr>
          <p:cNvSpPr>
            <a:spLocks xmlns:a="http://schemas.openxmlformats.org/drawingml/2006/main" noGrp="1"/>
          </p:cNvSpPr>
          <p:nvPr/>
        </p:nvSpPr>
        <p:spPr>
          <a:xfrm xmlns:a="http://schemas.openxmlformats.org/drawingml/2006/main">
            <a:off x="8667750" y="4486275"/>
            <a:ext cx="2781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8295"/>
                </a:solidFill>
                <a:latin typeface="맑은 고딕"/>
                <a:ea typeface="맑은 고딕"/>
                <a:cs typeface="맑은 고딕"/>
              </a:defRPr>
            </a:pPr>
            <a:r>
              <a:rPr sz="1275" b="0">
                <a:solidFill>
                  <a:srgbClr val="718295"/>
                </a:solidFill>
                <a:latin typeface="맑은 고딕"/>
                <a:ea typeface="맑은 고딕"/>
                <a:cs typeface="맑은 고딕"/>
              </a:rPr>
              <a:t>본인 신청내역과 상세 조회</a:t>
            </a:r>
          </a:p>
        </p:txBody>
      </p:sp>
      <p:sp>
        <p:nvSpPr>
          <p:cNvPr id="14" name="">
            <a:extLst xmlns:a="http://schemas.openxmlformats.org/drawingml/2006/main">
              <a:ext uri="{FF2B5EF4-FFF2-40B4-BE49-F238E27FC236}">
                <a16:creationId xmlns:a16="http://schemas.microsoft.com/office/drawing/2014/main" id="{F86E8119-590D-4DC4-9ACF-B3A2D028A175}"/>
              </a:ext>
            </a:extLst>
          </p:cNvPr>
          <p:cNvSpPr>
            <a:spLocks xmlns:a="http://schemas.openxmlformats.org/drawingml/2006/main" noGrp="1"/>
          </p:cNvSpPr>
          <p:nvPr/>
        </p:nvSpPr>
        <p:spPr>
          <a:xfrm xmlns:a="http://schemas.openxmlformats.org/drawingml/2006/main">
            <a:off x="8191500" y="5391150"/>
            <a:ext cx="3048000" cy="19050"/>
          </a:xfrm>
          <a:prstGeom xmlns:a="http://schemas.openxmlformats.org/drawingml/2006/main" prst="rect">
            <a:avLst/>
          </a:prstGeom>
          <a:solidFill xmlns:a="http://schemas.openxmlformats.org/drawingml/2006/main">
            <a:srgbClr val="DCE5E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BACDA79-DA04-435D-A16E-FE228EA4A213}"/>
              </a:ext>
            </a:extLst>
          </p:cNvPr>
          <p:cNvSpPr>
            <a:spLocks xmlns:a="http://schemas.openxmlformats.org/drawingml/2006/main" noGrp="1"/>
          </p:cNvSpPr>
          <p:nvPr/>
        </p:nvSpPr>
        <p:spPr>
          <a:xfrm xmlns:a="http://schemas.openxmlformats.org/drawingml/2006/main">
            <a:off x="8191500" y="557212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00AFA8"/>
                </a:solidFill>
                <a:latin typeface="맑은 고딕"/>
                <a:ea typeface="맑은 고딕"/>
                <a:cs typeface="맑은 고딕"/>
              </a:defRPr>
            </a:pPr>
            <a:r>
              <a:rPr sz="825" b="1">
                <a:solidFill>
                  <a:srgbClr val="00AFA8"/>
                </a:solidFill>
                <a:latin typeface="맑은 고딕"/>
                <a:ea typeface="맑은 고딕"/>
                <a:cs typeface="맑은 고딕"/>
              </a:rPr>
              <a:t>REQUEST</a:t>
            </a:r>
          </a:p>
        </p:txBody>
      </p:sp>
      <p:sp>
        <p:nvSpPr>
          <p:cNvPr id="16" name="">
            <a:extLst xmlns:a="http://schemas.openxmlformats.org/drawingml/2006/main">
              <a:ext uri="{FF2B5EF4-FFF2-40B4-BE49-F238E27FC236}">
                <a16:creationId xmlns:a16="http://schemas.microsoft.com/office/drawing/2014/main" id="{FFCD7EFE-FA5B-46D2-B85D-ABC28635F6CF}"/>
              </a:ext>
            </a:extLst>
          </p:cNvPr>
          <p:cNvSpPr>
            <a:spLocks xmlns:a="http://schemas.openxmlformats.org/drawingml/2006/main" noGrp="1"/>
          </p:cNvSpPr>
          <p:nvPr/>
        </p:nvSpPr>
        <p:spPr>
          <a:xfrm xmlns:a="http://schemas.openxmlformats.org/drawingml/2006/main">
            <a:off x="9239250" y="55340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7131F"/>
                </a:solidFill>
                <a:latin typeface="맑은 고딕"/>
                <a:ea typeface="맑은 고딕"/>
                <a:cs typeface="맑은 고딕"/>
              </a:defRPr>
            </a:pPr>
            <a:r>
              <a:rPr sz="1200" b="1">
                <a:solidFill>
                  <a:srgbClr val="07131F"/>
                </a:solidFill>
                <a:latin typeface="맑은 고딕"/>
                <a:ea typeface="맑은 고딕"/>
                <a:cs typeface="맑은 고딕"/>
              </a:rPr>
              <a:t>접수 데이터의 시작점</a:t>
            </a:r>
          </a:p>
        </p:txBody>
      </p:sp>
    </p:spTree>
    <p:extLst>
      <p:ext uri="{BB962C8B-B14F-4D97-AF65-F5344CB8AC3E}">
        <p14:creationId xmlns:p14="http://schemas.microsoft.com/office/powerpoint/2010/main" val="637640489"/>
      </p:ext>
    </p:extLst>
  </p:cSld>
</p:sld>
</file>

<file path=ppt/slides/slide6.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EB2E797-024D-4021-82C6-A6ADDE8FFF1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FF6B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B5B14B-091F-4F28-ADB9-86F2D3DC6BE8}"/>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9B16BB7F-08F2-4AD8-AA1A-D9E4976936EC}"/>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7790A2"/>
                </a:solidFill>
                <a:latin typeface="맑은 고딕"/>
                <a:ea typeface="맑은 고딕"/>
                <a:cs typeface="맑은 고딕"/>
              </a:defRPr>
            </a:pPr>
            <a:r>
              <a:rPr sz="825" b="1">
                <a:solidFill>
                  <a:srgbClr val="7790A2"/>
                </a:solidFill>
                <a:latin typeface="맑은 고딕"/>
                <a:ea typeface="맑은 고딕"/>
                <a:cs typeface="맑은 고딕"/>
              </a:rPr>
              <a:t>06</a:t>
            </a:r>
          </a:p>
        </p:txBody>
      </p:sp>
      <p:sp>
        <p:nvSpPr>
          <p:cNvPr id="4" name="">
            <a:extLst xmlns:a="http://schemas.openxmlformats.org/drawingml/2006/main">
              <a:ext uri="{FF2B5EF4-FFF2-40B4-BE49-F238E27FC236}">
                <a16:creationId xmlns:a16="http://schemas.microsoft.com/office/drawing/2014/main" id="{911E4805-E302-4FDE-8A73-04BE2F0AC17F}"/>
              </a:ext>
            </a:extLst>
          </p:cNvPr>
          <p:cNvSpPr>
            <a:spLocks xmlns:a="http://schemas.openxmlformats.org/drawingml/2006/main" noGrp="1"/>
          </p:cNvSpPr>
          <p:nvPr/>
        </p:nvSpPr>
        <p:spPr>
          <a:xfrm xmlns:a="http://schemas.openxmlformats.org/drawingml/2006/main">
            <a:off x="628650" y="5905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ADMIN OPERATIONS</a:t>
            </a:r>
          </a:p>
        </p:txBody>
      </p:sp>
      <p:sp>
        <p:nvSpPr>
          <p:cNvPr id="5" name="">
            <a:extLst xmlns:a="http://schemas.openxmlformats.org/drawingml/2006/main">
              <a:ext uri="{FF2B5EF4-FFF2-40B4-BE49-F238E27FC236}">
                <a16:creationId xmlns:a16="http://schemas.microsoft.com/office/drawing/2014/main" id="{DD9BB604-B883-4991-A75E-49293A601D80}"/>
              </a:ext>
            </a:extLst>
          </p:cNvPr>
          <p:cNvSpPr>
            <a:spLocks xmlns:a="http://schemas.openxmlformats.org/drawingml/2006/main" noGrp="1"/>
          </p:cNvSpPr>
          <p:nvPr/>
        </p:nvSpPr>
        <p:spPr>
          <a:xfrm xmlns:a="http://schemas.openxmlformats.org/drawingml/2006/main">
            <a:off x="628650" y="933450"/>
            <a:ext cx="723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맑은 고딕"/>
                <a:ea typeface="맑은 고딕"/>
                <a:cs typeface="맑은 고딕"/>
              </a:defRPr>
            </a:pPr>
            <a:r>
              <a:rPr sz="2550" b="1">
                <a:solidFill>
                  <a:srgbClr val="FFFFFF"/>
                </a:solidFill>
                <a:latin typeface="맑은 고딕"/>
                <a:ea typeface="맑은 고딕"/>
                <a:cs typeface="맑은 고딕"/>
              </a:rPr>
              <a:t>관리자가 먼저 보는 운영 현황</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762bbced0444509"/>
          <a:srcRect xmlns:a="http://schemas.openxmlformats.org/drawingml/2006/main" l="0" t="20750" r="0" b="20750"/>
          <a:stretch xmlns:a="http://schemas.openxmlformats.org/drawingml/2006/main">
            <a:fillRect l="0" t="0" r="0" b="0"/>
          </a:stretch>
        </p:blipFill>
        <p:spPr>
          <a:xfrm xmlns:a="http://schemas.openxmlformats.org/drawingml/2006/main">
            <a:off x="628650" y="1771650"/>
            <a:ext cx="10934700" cy="3600450"/>
          </a:xfrm>
          <a:prstGeom xmlns:a="http://schemas.openxmlformats.org/drawingml/2006/main" prst="roundRect">
            <a:avLst>
              <a:gd name="adj" fmla="val 4233"/>
            </a:avLst>
          </a:prstGeom>
        </p:spPr>
      </p:pic>
      <p:sp>
        <p:nvSpPr>
          <p:cNvPr id="7" name="">
            <a:extLst xmlns:a="http://schemas.openxmlformats.org/drawingml/2006/main">
              <a:ext uri="{FF2B5EF4-FFF2-40B4-BE49-F238E27FC236}">
                <a16:creationId xmlns:a16="http://schemas.microsoft.com/office/drawing/2014/main" id="{D23CC135-97E1-4E35-929E-517AE7C6DDBE}"/>
              </a:ext>
            </a:extLst>
          </p:cNvPr>
          <p:cNvSpPr>
            <a:spLocks xmlns:a="http://schemas.openxmlformats.org/drawingml/2006/main" noGrp="1"/>
          </p:cNvSpPr>
          <p:nvPr/>
        </p:nvSpPr>
        <p:spPr>
          <a:xfrm xmlns:a="http://schemas.openxmlformats.org/drawingml/2006/main">
            <a:off x="628650" y="5638800"/>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0D5C4"/>
                </a:solidFill>
                <a:latin typeface="맑은 고딕"/>
                <a:ea typeface="맑은 고딕"/>
                <a:cs typeface="맑은 고딕"/>
              </a:defRPr>
            </a:pPr>
            <a:r>
              <a:rPr sz="1200" b="1">
                <a:solidFill>
                  <a:srgbClr val="20D5C4"/>
                </a:solidFill>
                <a:latin typeface="맑은 고딕"/>
                <a:ea typeface="맑은 고딕"/>
                <a:cs typeface="맑은 고딕"/>
              </a:rPr>
              <a:t>상태 통계</a:t>
            </a:r>
          </a:p>
        </p:txBody>
      </p:sp>
      <p:sp>
        <p:nvSpPr>
          <p:cNvPr id="8" name="">
            <a:extLst xmlns:a="http://schemas.openxmlformats.org/drawingml/2006/main">
              <a:ext uri="{FF2B5EF4-FFF2-40B4-BE49-F238E27FC236}">
                <a16:creationId xmlns:a16="http://schemas.microsoft.com/office/drawing/2014/main" id="{6362169B-FB16-4318-8887-10396C2AA9A6}"/>
              </a:ext>
            </a:extLst>
          </p:cNvPr>
          <p:cNvSpPr>
            <a:spLocks xmlns:a="http://schemas.openxmlformats.org/drawingml/2006/main" noGrp="1"/>
          </p:cNvSpPr>
          <p:nvPr/>
        </p:nvSpPr>
        <p:spPr>
          <a:xfrm xmlns:a="http://schemas.openxmlformats.org/drawingml/2006/main">
            <a:off x="628650" y="59055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FC0CA"/>
                </a:solidFill>
                <a:latin typeface="맑은 고딕"/>
                <a:ea typeface="맑은 고딕"/>
                <a:cs typeface="맑은 고딕"/>
              </a:defRPr>
            </a:pPr>
            <a:r>
              <a:rPr sz="1050" b="0">
                <a:solidFill>
                  <a:srgbClr val="AFC0CA"/>
                </a:solidFill>
                <a:latin typeface="맑은 고딕"/>
                <a:ea typeface="맑은 고딕"/>
                <a:cs typeface="맑은 고딕"/>
              </a:rPr>
              <a:t>접수·배정·처리 상태를 즉시 확인</a:t>
            </a:r>
          </a:p>
        </p:txBody>
      </p:sp>
      <p:sp>
        <p:nvSpPr>
          <p:cNvPr id="9" name="">
            <a:extLst xmlns:a="http://schemas.openxmlformats.org/drawingml/2006/main">
              <a:ext uri="{FF2B5EF4-FFF2-40B4-BE49-F238E27FC236}">
                <a16:creationId xmlns:a16="http://schemas.microsoft.com/office/drawing/2014/main" id="{3A8F198A-DE3F-4C72-8B0D-08A5D674F3D8}"/>
              </a:ext>
            </a:extLst>
          </p:cNvPr>
          <p:cNvSpPr>
            <a:spLocks xmlns:a="http://schemas.openxmlformats.org/drawingml/2006/main" noGrp="1"/>
          </p:cNvSpPr>
          <p:nvPr/>
        </p:nvSpPr>
        <p:spPr>
          <a:xfrm xmlns:a="http://schemas.openxmlformats.org/drawingml/2006/main">
            <a:off x="4267200" y="5638800"/>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F6B4A"/>
                </a:solidFill>
                <a:latin typeface="맑은 고딕"/>
                <a:ea typeface="맑은 고딕"/>
                <a:cs typeface="맑은 고딕"/>
              </a:defRPr>
            </a:pPr>
            <a:r>
              <a:rPr sz="1200" b="1">
                <a:solidFill>
                  <a:srgbClr val="FF6B4A"/>
                </a:solidFill>
                <a:latin typeface="맑은 고딕"/>
                <a:ea typeface="맑은 고딕"/>
                <a:cs typeface="맑은 고딕"/>
              </a:rPr>
              <a:t>최근 요청</a:t>
            </a:r>
          </a:p>
        </p:txBody>
      </p:sp>
      <p:sp>
        <p:nvSpPr>
          <p:cNvPr id="10" name="">
            <a:extLst xmlns:a="http://schemas.openxmlformats.org/drawingml/2006/main">
              <a:ext uri="{FF2B5EF4-FFF2-40B4-BE49-F238E27FC236}">
                <a16:creationId xmlns:a16="http://schemas.microsoft.com/office/drawing/2014/main" id="{61EAD352-86A3-4C90-8421-00FD2656BC74}"/>
              </a:ext>
            </a:extLst>
          </p:cNvPr>
          <p:cNvSpPr>
            <a:spLocks xmlns:a="http://schemas.openxmlformats.org/drawingml/2006/main" noGrp="1"/>
          </p:cNvSpPr>
          <p:nvPr/>
        </p:nvSpPr>
        <p:spPr>
          <a:xfrm xmlns:a="http://schemas.openxmlformats.org/drawingml/2006/main">
            <a:off x="4267200" y="59055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FC0CA"/>
                </a:solidFill>
                <a:latin typeface="맑은 고딕"/>
                <a:ea typeface="맑은 고딕"/>
                <a:cs typeface="맑은 고딕"/>
              </a:defRPr>
            </a:pPr>
            <a:r>
              <a:rPr sz="1050" b="0">
                <a:solidFill>
                  <a:srgbClr val="AFC0CA"/>
                </a:solidFill>
                <a:latin typeface="맑은 고딕"/>
                <a:ea typeface="맑은 고딕"/>
                <a:cs typeface="맑은 고딕"/>
              </a:rPr>
              <a:t>신규 접수의 우선순위를 빠르게 판단</a:t>
            </a:r>
          </a:p>
        </p:txBody>
      </p:sp>
      <p:sp>
        <p:nvSpPr>
          <p:cNvPr id="11" name="">
            <a:extLst xmlns:a="http://schemas.openxmlformats.org/drawingml/2006/main">
              <a:ext uri="{FF2B5EF4-FFF2-40B4-BE49-F238E27FC236}">
                <a16:creationId xmlns:a16="http://schemas.microsoft.com/office/drawing/2014/main" id="{449704A6-0697-48C0-8786-C9D6A9D25B0F}"/>
              </a:ext>
            </a:extLst>
          </p:cNvPr>
          <p:cNvSpPr>
            <a:spLocks xmlns:a="http://schemas.openxmlformats.org/drawingml/2006/main" noGrp="1"/>
          </p:cNvSpPr>
          <p:nvPr/>
        </p:nvSpPr>
        <p:spPr>
          <a:xfrm xmlns:a="http://schemas.openxmlformats.org/drawingml/2006/main">
            <a:off x="7905750" y="5638800"/>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0D5C4"/>
                </a:solidFill>
                <a:latin typeface="맑은 고딕"/>
                <a:ea typeface="맑은 고딕"/>
                <a:cs typeface="맑은 고딕"/>
              </a:defRPr>
            </a:pPr>
            <a:r>
              <a:rPr sz="1200" b="1">
                <a:solidFill>
                  <a:srgbClr val="20D5C4"/>
                </a:solidFill>
                <a:latin typeface="맑은 고딕"/>
                <a:ea typeface="맑은 고딕"/>
                <a:cs typeface="맑은 고딕"/>
              </a:rPr>
              <a:t>상세 조회</a:t>
            </a:r>
          </a:p>
        </p:txBody>
      </p:sp>
      <p:sp>
        <p:nvSpPr>
          <p:cNvPr id="12" name="">
            <a:extLst xmlns:a="http://schemas.openxmlformats.org/drawingml/2006/main">
              <a:ext uri="{FF2B5EF4-FFF2-40B4-BE49-F238E27FC236}">
                <a16:creationId xmlns:a16="http://schemas.microsoft.com/office/drawing/2014/main" id="{B0E84BDF-D924-4F6B-B373-B10A183560FA}"/>
              </a:ext>
            </a:extLst>
          </p:cNvPr>
          <p:cNvSpPr>
            <a:spLocks xmlns:a="http://schemas.openxmlformats.org/drawingml/2006/main" noGrp="1"/>
          </p:cNvSpPr>
          <p:nvPr/>
        </p:nvSpPr>
        <p:spPr>
          <a:xfrm xmlns:a="http://schemas.openxmlformats.org/drawingml/2006/main">
            <a:off x="7905750" y="59055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FC0CA"/>
                </a:solidFill>
                <a:latin typeface="맑은 고딕"/>
                <a:ea typeface="맑은 고딕"/>
                <a:cs typeface="맑은 고딕"/>
              </a:defRPr>
            </a:pPr>
            <a:r>
              <a:rPr sz="1050" b="0">
                <a:solidFill>
                  <a:srgbClr val="AFC0CA"/>
                </a:solidFill>
                <a:latin typeface="맑은 고딕"/>
                <a:ea typeface="맑은 고딕"/>
                <a:cs typeface="맑은 고딕"/>
              </a:rPr>
              <a:t>고객 정보와 증상을 한 화면에서 확인</a:t>
            </a:r>
          </a:p>
        </p:txBody>
      </p:sp>
    </p:spTree>
    <p:extLst>
      <p:ext uri="{BB962C8B-B14F-4D97-AF65-F5344CB8AC3E}">
        <p14:creationId xmlns:p14="http://schemas.microsoft.com/office/powerpoint/2010/main" val="21463660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B1A54FB-F566-47CF-8B06-3C666B5E53B8}"/>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CC153C-5BD5-4854-A7C4-DF9A8512748A}"/>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A24213D5-49F1-4076-8A25-E5182D7A3D54}"/>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9BACB7"/>
                </a:solidFill>
                <a:latin typeface="맑은 고딕"/>
                <a:ea typeface="맑은 고딕"/>
                <a:cs typeface="맑은 고딕"/>
              </a:defRPr>
            </a:pPr>
            <a:r>
              <a:rPr sz="825" b="1">
                <a:solidFill>
                  <a:srgbClr val="9BACB7"/>
                </a:solidFill>
                <a:latin typeface="맑은 고딕"/>
                <a:ea typeface="맑은 고딕"/>
                <a:cs typeface="맑은 고딕"/>
              </a:rPr>
              <a:t>07</a:t>
            </a:r>
          </a:p>
        </p:txBody>
      </p:sp>
      <p:sp>
        <p:nvSpPr>
          <p:cNvPr id="4" name="">
            <a:extLst xmlns:a="http://schemas.openxmlformats.org/drawingml/2006/main">
              <a:ext uri="{FF2B5EF4-FFF2-40B4-BE49-F238E27FC236}">
                <a16:creationId xmlns:a16="http://schemas.microsoft.com/office/drawing/2014/main" id="{17911D70-A0EB-48D7-B6E0-E217F835B128}"/>
              </a:ext>
            </a:extLst>
          </p:cNvPr>
          <p:cNvSpPr>
            <a:spLocks xmlns:a="http://schemas.openxmlformats.org/drawingml/2006/main" noGrp="1"/>
          </p:cNvSpPr>
          <p:nvPr/>
        </p:nvSpPr>
        <p:spPr>
          <a:xfrm xmlns:a="http://schemas.openxmlformats.org/drawingml/2006/main">
            <a:off x="628650" y="552450"/>
            <a:ext cx="704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SCHEDULING</a:t>
            </a:r>
          </a:p>
        </p:txBody>
      </p:sp>
      <p:sp>
        <p:nvSpPr>
          <p:cNvPr id="5" name="">
            <a:extLst xmlns:a="http://schemas.openxmlformats.org/drawingml/2006/main">
              <a:ext uri="{FF2B5EF4-FFF2-40B4-BE49-F238E27FC236}">
                <a16:creationId xmlns:a16="http://schemas.microsoft.com/office/drawing/2014/main" id="{D0604CCF-EFFC-45DC-B4DC-0B457A808D40}"/>
              </a:ext>
            </a:extLst>
          </p:cNvPr>
          <p:cNvSpPr>
            <a:spLocks xmlns:a="http://schemas.openxmlformats.org/drawingml/2006/main" noGrp="1"/>
          </p:cNvSpPr>
          <p:nvPr/>
        </p:nvSpPr>
        <p:spPr>
          <a:xfrm xmlns:a="http://schemas.openxmlformats.org/drawingml/2006/main">
            <a:off x="628650" y="8763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7131F"/>
                </a:solidFill>
                <a:latin typeface="맑은 고딕"/>
                <a:ea typeface="맑은 고딕"/>
                <a:cs typeface="맑은 고딕"/>
              </a:defRPr>
            </a:pPr>
            <a:r>
              <a:rPr sz="2550" b="1">
                <a:solidFill>
                  <a:srgbClr val="07131F"/>
                </a:solidFill>
                <a:latin typeface="맑은 고딕"/>
                <a:ea typeface="맑은 고딕"/>
                <a:cs typeface="맑은 고딕"/>
              </a:rPr>
              <a:t>미배정 요청을 기사 일정으로 전환</a:t>
            </a:r>
          </a:p>
        </p:txBody>
      </p:sp>
      <p:sp>
        <p:nvSpPr>
          <p:cNvPr id="6" name="">
            <a:extLst xmlns:a="http://schemas.openxmlformats.org/drawingml/2006/main">
              <a:ext uri="{FF2B5EF4-FFF2-40B4-BE49-F238E27FC236}">
                <a16:creationId xmlns:a16="http://schemas.microsoft.com/office/drawing/2014/main" id="{67FCEF62-1A05-411C-BD7C-8F91074E15F9}"/>
              </a:ext>
            </a:extLst>
          </p:cNvPr>
          <p:cNvSpPr>
            <a:spLocks xmlns:a="http://schemas.openxmlformats.org/drawingml/2006/main" noGrp="1"/>
          </p:cNvSpPr>
          <p:nvPr/>
        </p:nvSpPr>
        <p:spPr>
          <a:xfrm xmlns:a="http://schemas.openxmlformats.org/drawingml/2006/main">
            <a:off x="628650" y="156210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18295"/>
                </a:solidFill>
                <a:latin typeface="맑은 고딕"/>
                <a:ea typeface="맑은 고딕"/>
                <a:cs typeface="맑은 고딕"/>
              </a:defRPr>
            </a:pPr>
            <a:r>
              <a:rPr sz="1425" b="0">
                <a:solidFill>
                  <a:srgbClr val="718295"/>
                </a:solidFill>
                <a:latin typeface="맑은 고딕"/>
                <a:ea typeface="맑은 고딕"/>
                <a:cs typeface="맑은 고딕"/>
              </a:rPr>
              <a:t>관리자는 요청을 선택한 뒤 담당 기사와 방문 시간을 확정합니다.</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96af19ca3c14461"/>
          <a:srcRect xmlns:a="http://schemas.openxmlformats.org/drawingml/2006/main" l="0" t="2699" r="0" b="2699"/>
          <a:stretch xmlns:a="http://schemas.openxmlformats.org/drawingml/2006/main">
            <a:fillRect l="0" t="0" r="0" b="0"/>
          </a:stretch>
        </p:blipFill>
        <p:spPr>
          <a:xfrm xmlns:a="http://schemas.openxmlformats.org/drawingml/2006/main">
            <a:off x="628650" y="2133600"/>
            <a:ext cx="7334250" cy="3905250"/>
          </a:xfrm>
          <a:prstGeom xmlns:a="http://schemas.openxmlformats.org/drawingml/2006/main" prst="roundRect">
            <a:avLst>
              <a:gd name="adj" fmla="val 3902"/>
            </a:avLst>
          </a:prstGeom>
        </p:spPr>
      </p:pic>
      <p:sp>
        <p:nvSpPr>
          <p:cNvPr id="8" name="">
            <a:extLst xmlns:a="http://schemas.openxmlformats.org/drawingml/2006/main">
              <a:ext uri="{FF2B5EF4-FFF2-40B4-BE49-F238E27FC236}">
                <a16:creationId xmlns:a16="http://schemas.microsoft.com/office/drawing/2014/main" id="{AC248382-7A31-498D-9652-8F9690714CE9}"/>
              </a:ext>
            </a:extLst>
          </p:cNvPr>
          <p:cNvSpPr>
            <a:spLocks xmlns:a="http://schemas.openxmlformats.org/drawingml/2006/main" noGrp="1"/>
          </p:cNvSpPr>
          <p:nvPr/>
        </p:nvSpPr>
        <p:spPr>
          <a:xfrm xmlns:a="http://schemas.openxmlformats.org/drawingml/2006/main">
            <a:off x="8420100" y="222885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AFA8"/>
                </a:solidFill>
                <a:latin typeface="맑은 고딕"/>
                <a:ea typeface="맑은 고딕"/>
                <a:cs typeface="맑은 고딕"/>
              </a:defRPr>
            </a:pPr>
            <a:r>
              <a:rPr sz="1350" b="1">
                <a:solidFill>
                  <a:srgbClr val="00AFA8"/>
                </a:solidFill>
                <a:latin typeface="맑은 고딕"/>
                <a:ea typeface="맑은 고딕"/>
                <a:cs typeface="맑은 고딕"/>
              </a:rPr>
              <a:t>배정 로직</a:t>
            </a:r>
          </a:p>
        </p:txBody>
      </p:sp>
      <p:sp>
        <p:nvSpPr>
          <p:cNvPr id="9" name="">
            <a:extLst xmlns:a="http://schemas.openxmlformats.org/drawingml/2006/main">
              <a:ext uri="{FF2B5EF4-FFF2-40B4-BE49-F238E27FC236}">
                <a16:creationId xmlns:a16="http://schemas.microsoft.com/office/drawing/2014/main" id="{AFDDB36E-AD48-472B-B781-EA2EC66B3D9B}"/>
              </a:ext>
            </a:extLst>
          </p:cNvPr>
          <p:cNvSpPr>
            <a:spLocks xmlns:a="http://schemas.openxmlformats.org/drawingml/2006/main" noGrp="1"/>
          </p:cNvSpPr>
          <p:nvPr/>
        </p:nvSpPr>
        <p:spPr>
          <a:xfrm xmlns:a="http://schemas.openxmlformats.org/drawingml/2006/main">
            <a:off x="8420100" y="2857500"/>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AFA8"/>
                </a:solidFill>
                <a:latin typeface="맑은 고딕"/>
                <a:ea typeface="맑은 고딕"/>
                <a:cs typeface="맑은 고딕"/>
              </a:defRPr>
            </a:pPr>
            <a:r>
              <a:rPr sz="1800" b="1">
                <a:solidFill>
                  <a:srgbClr val="00AFA8"/>
                </a:solidFill>
                <a:latin typeface="맑은 고딕"/>
                <a:ea typeface="맑은 고딕"/>
                <a:cs typeface="맑은 고딕"/>
              </a:rPr>
              <a:t>1</a:t>
            </a:r>
          </a:p>
        </p:txBody>
      </p:sp>
      <p:sp>
        <p:nvSpPr>
          <p:cNvPr id="10" name="">
            <a:extLst xmlns:a="http://schemas.openxmlformats.org/drawingml/2006/main">
              <a:ext uri="{FF2B5EF4-FFF2-40B4-BE49-F238E27FC236}">
                <a16:creationId xmlns:a16="http://schemas.microsoft.com/office/drawing/2014/main" id="{11C3334F-D496-40CA-816B-6F3C5F443077}"/>
              </a:ext>
            </a:extLst>
          </p:cNvPr>
          <p:cNvSpPr>
            <a:spLocks xmlns:a="http://schemas.openxmlformats.org/drawingml/2006/main" noGrp="1"/>
          </p:cNvSpPr>
          <p:nvPr/>
        </p:nvSpPr>
        <p:spPr>
          <a:xfrm xmlns:a="http://schemas.openxmlformats.org/drawingml/2006/main">
            <a:off x="8896350" y="28575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7131F"/>
                </a:solidFill>
                <a:latin typeface="맑은 고딕"/>
                <a:ea typeface="맑은 고딕"/>
                <a:cs typeface="맑은 고딕"/>
              </a:defRPr>
            </a:pPr>
            <a:r>
              <a:rPr sz="1350" b="1">
                <a:solidFill>
                  <a:srgbClr val="07131F"/>
                </a:solidFill>
                <a:latin typeface="맑은 고딕"/>
                <a:ea typeface="맑은 고딕"/>
                <a:cs typeface="맑은 고딕"/>
              </a:rPr>
              <a:t>미배정 접수 선택</a:t>
            </a:r>
          </a:p>
        </p:txBody>
      </p:sp>
      <p:sp>
        <p:nvSpPr>
          <p:cNvPr id="11" name="">
            <a:extLst xmlns:a="http://schemas.openxmlformats.org/drawingml/2006/main">
              <a:ext uri="{FF2B5EF4-FFF2-40B4-BE49-F238E27FC236}">
                <a16:creationId xmlns:a16="http://schemas.microsoft.com/office/drawing/2014/main" id="{E51F70B3-970D-49E9-8428-4CBC0134A7E2}"/>
              </a:ext>
            </a:extLst>
          </p:cNvPr>
          <p:cNvSpPr>
            <a:spLocks xmlns:a="http://schemas.openxmlformats.org/drawingml/2006/main" noGrp="1"/>
          </p:cNvSpPr>
          <p:nvPr/>
        </p:nvSpPr>
        <p:spPr>
          <a:xfrm xmlns:a="http://schemas.openxmlformats.org/drawingml/2006/main">
            <a:off x="8896350" y="31813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295"/>
                </a:solidFill>
                <a:latin typeface="맑은 고딕"/>
                <a:ea typeface="맑은 고딕"/>
                <a:cs typeface="맑은 고딕"/>
              </a:defRPr>
            </a:pPr>
            <a:r>
              <a:rPr sz="1050" b="0">
                <a:solidFill>
                  <a:srgbClr val="718295"/>
                </a:solidFill>
                <a:latin typeface="맑은 고딕"/>
                <a:ea typeface="맑은 고딕"/>
                <a:cs typeface="맑은 고딕"/>
              </a:rPr>
              <a:t>REQUEST 상태와 고객 요청일 확인</a:t>
            </a:r>
          </a:p>
        </p:txBody>
      </p:sp>
      <p:sp>
        <p:nvSpPr>
          <p:cNvPr id="12" name="">
            <a:extLst xmlns:a="http://schemas.openxmlformats.org/drawingml/2006/main">
              <a:ext uri="{FF2B5EF4-FFF2-40B4-BE49-F238E27FC236}">
                <a16:creationId xmlns:a16="http://schemas.microsoft.com/office/drawing/2014/main" id="{F56714A4-B0E5-4F2A-BFD0-8BD4CBD6AD6F}"/>
              </a:ext>
            </a:extLst>
          </p:cNvPr>
          <p:cNvSpPr>
            <a:spLocks xmlns:a="http://schemas.openxmlformats.org/drawingml/2006/main" noGrp="1"/>
          </p:cNvSpPr>
          <p:nvPr/>
        </p:nvSpPr>
        <p:spPr>
          <a:xfrm xmlns:a="http://schemas.openxmlformats.org/drawingml/2006/main">
            <a:off x="8420100" y="3771900"/>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AFA8"/>
                </a:solidFill>
                <a:latin typeface="맑은 고딕"/>
                <a:ea typeface="맑은 고딕"/>
                <a:cs typeface="맑은 고딕"/>
              </a:defRPr>
            </a:pPr>
            <a:r>
              <a:rPr sz="1800" b="1">
                <a:solidFill>
                  <a:srgbClr val="00AFA8"/>
                </a:solidFill>
                <a:latin typeface="맑은 고딕"/>
                <a:ea typeface="맑은 고딕"/>
                <a:cs typeface="맑은 고딕"/>
              </a:rPr>
              <a:t>2</a:t>
            </a:r>
          </a:p>
        </p:txBody>
      </p:sp>
      <p:sp>
        <p:nvSpPr>
          <p:cNvPr id="13" name="">
            <a:extLst xmlns:a="http://schemas.openxmlformats.org/drawingml/2006/main">
              <a:ext uri="{FF2B5EF4-FFF2-40B4-BE49-F238E27FC236}">
                <a16:creationId xmlns:a16="http://schemas.microsoft.com/office/drawing/2014/main" id="{D153DC35-C04C-4C3C-B356-44536466790F}"/>
              </a:ext>
            </a:extLst>
          </p:cNvPr>
          <p:cNvSpPr>
            <a:spLocks xmlns:a="http://schemas.openxmlformats.org/drawingml/2006/main" noGrp="1"/>
          </p:cNvSpPr>
          <p:nvPr/>
        </p:nvSpPr>
        <p:spPr>
          <a:xfrm xmlns:a="http://schemas.openxmlformats.org/drawingml/2006/main">
            <a:off x="8896350" y="37719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7131F"/>
                </a:solidFill>
                <a:latin typeface="맑은 고딕"/>
                <a:ea typeface="맑은 고딕"/>
                <a:cs typeface="맑은 고딕"/>
              </a:defRPr>
            </a:pPr>
            <a:r>
              <a:rPr sz="1350" b="1">
                <a:solidFill>
                  <a:srgbClr val="07131F"/>
                </a:solidFill>
                <a:latin typeface="맑은 고딕"/>
                <a:ea typeface="맑은 고딕"/>
                <a:cs typeface="맑은 고딕"/>
              </a:rPr>
              <a:t>기사·시간 지정</a:t>
            </a:r>
          </a:p>
        </p:txBody>
      </p:sp>
      <p:sp>
        <p:nvSpPr>
          <p:cNvPr id="14" name="">
            <a:extLst xmlns:a="http://schemas.openxmlformats.org/drawingml/2006/main">
              <a:ext uri="{FF2B5EF4-FFF2-40B4-BE49-F238E27FC236}">
                <a16:creationId xmlns:a16="http://schemas.microsoft.com/office/drawing/2014/main" id="{89590F90-769C-429B-8278-9E79D988D152}"/>
              </a:ext>
            </a:extLst>
          </p:cNvPr>
          <p:cNvSpPr>
            <a:spLocks xmlns:a="http://schemas.openxmlformats.org/drawingml/2006/main" noGrp="1"/>
          </p:cNvSpPr>
          <p:nvPr/>
        </p:nvSpPr>
        <p:spPr>
          <a:xfrm xmlns:a="http://schemas.openxmlformats.org/drawingml/2006/main">
            <a:off x="8896350" y="40957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295"/>
                </a:solidFill>
                <a:latin typeface="맑은 고딕"/>
                <a:ea typeface="맑은 고딕"/>
                <a:cs typeface="맑은 고딕"/>
              </a:defRPr>
            </a:pPr>
            <a:r>
              <a:rPr sz="1050" b="0">
                <a:solidFill>
                  <a:srgbClr val="718295"/>
                </a:solidFill>
                <a:latin typeface="맑은 고딕"/>
                <a:ea typeface="맑은 고딕"/>
                <a:cs typeface="맑은 고딕"/>
              </a:rPr>
              <a:t>기사 목록과 시작·종료시간 입력</a:t>
            </a:r>
          </a:p>
        </p:txBody>
      </p:sp>
      <p:sp>
        <p:nvSpPr>
          <p:cNvPr id="15" name="">
            <a:extLst xmlns:a="http://schemas.openxmlformats.org/drawingml/2006/main">
              <a:ext uri="{FF2B5EF4-FFF2-40B4-BE49-F238E27FC236}">
                <a16:creationId xmlns:a16="http://schemas.microsoft.com/office/drawing/2014/main" id="{F9689780-E964-4E11-8614-DCF9A97BD502}"/>
              </a:ext>
            </a:extLst>
          </p:cNvPr>
          <p:cNvSpPr>
            <a:spLocks xmlns:a="http://schemas.openxmlformats.org/drawingml/2006/main" noGrp="1"/>
          </p:cNvSpPr>
          <p:nvPr/>
        </p:nvSpPr>
        <p:spPr>
          <a:xfrm xmlns:a="http://schemas.openxmlformats.org/drawingml/2006/main">
            <a:off x="8420100" y="4686300"/>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6B4A"/>
                </a:solidFill>
                <a:latin typeface="맑은 고딕"/>
                <a:ea typeface="맑은 고딕"/>
                <a:cs typeface="맑은 고딕"/>
              </a:defRPr>
            </a:pPr>
            <a:r>
              <a:rPr sz="1800" b="1">
                <a:solidFill>
                  <a:srgbClr val="FF6B4A"/>
                </a:solidFill>
                <a:latin typeface="맑은 고딕"/>
                <a:ea typeface="맑은 고딕"/>
                <a:cs typeface="맑은 고딕"/>
              </a:rPr>
              <a:t>3</a:t>
            </a:r>
          </a:p>
        </p:txBody>
      </p:sp>
      <p:sp>
        <p:nvSpPr>
          <p:cNvPr id="16" name="">
            <a:extLst xmlns:a="http://schemas.openxmlformats.org/drawingml/2006/main">
              <a:ext uri="{FF2B5EF4-FFF2-40B4-BE49-F238E27FC236}">
                <a16:creationId xmlns:a16="http://schemas.microsoft.com/office/drawing/2014/main" id="{75977A8E-1AB1-4257-B91F-EE74C0CBD81D}"/>
              </a:ext>
            </a:extLst>
          </p:cNvPr>
          <p:cNvSpPr>
            <a:spLocks xmlns:a="http://schemas.openxmlformats.org/drawingml/2006/main" noGrp="1"/>
          </p:cNvSpPr>
          <p:nvPr/>
        </p:nvSpPr>
        <p:spPr>
          <a:xfrm xmlns:a="http://schemas.openxmlformats.org/drawingml/2006/main">
            <a:off x="8896350" y="46863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7131F"/>
                </a:solidFill>
                <a:latin typeface="맑은 고딕"/>
                <a:ea typeface="맑은 고딕"/>
                <a:cs typeface="맑은 고딕"/>
              </a:defRPr>
            </a:pPr>
            <a:r>
              <a:rPr sz="1350" b="1">
                <a:solidFill>
                  <a:srgbClr val="07131F"/>
                </a:solidFill>
                <a:latin typeface="맑은 고딕"/>
                <a:ea typeface="맑은 고딕"/>
                <a:cs typeface="맑은 고딕"/>
              </a:rPr>
              <a:t>일정 생성</a:t>
            </a:r>
          </a:p>
        </p:txBody>
      </p:sp>
      <p:sp>
        <p:nvSpPr>
          <p:cNvPr id="17" name="">
            <a:extLst xmlns:a="http://schemas.openxmlformats.org/drawingml/2006/main">
              <a:ext uri="{FF2B5EF4-FFF2-40B4-BE49-F238E27FC236}">
                <a16:creationId xmlns:a16="http://schemas.microsoft.com/office/drawing/2014/main" id="{7C7C4BD0-6959-449F-8CB9-B4090B542F28}"/>
              </a:ext>
            </a:extLst>
          </p:cNvPr>
          <p:cNvSpPr>
            <a:spLocks xmlns:a="http://schemas.openxmlformats.org/drawingml/2006/main" noGrp="1"/>
          </p:cNvSpPr>
          <p:nvPr/>
        </p:nvSpPr>
        <p:spPr>
          <a:xfrm xmlns:a="http://schemas.openxmlformats.org/drawingml/2006/main">
            <a:off x="8896350" y="50101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295"/>
                </a:solidFill>
                <a:latin typeface="맑은 고딕"/>
                <a:ea typeface="맑은 고딕"/>
                <a:cs typeface="맑은 고딕"/>
              </a:defRPr>
            </a:pPr>
            <a:r>
              <a:rPr sz="1050" b="0">
                <a:solidFill>
                  <a:srgbClr val="718295"/>
                </a:solidFill>
                <a:latin typeface="맑은 고딕"/>
                <a:ea typeface="맑은 고딕"/>
                <a:cs typeface="맑은 고딕"/>
              </a:rPr>
              <a:t>AS_SCHEDULE 저장 후 상태를 ASSIGNED로 변경</a:t>
            </a:r>
          </a:p>
        </p:txBody>
      </p:sp>
    </p:spTree>
    <p:extLst>
      <p:ext uri="{BB962C8B-B14F-4D97-AF65-F5344CB8AC3E}">
        <p14:creationId xmlns:p14="http://schemas.microsoft.com/office/powerpoint/2010/main" val="1464687644"/>
      </p:ext>
    </p:extLst>
  </p:cSld>
</p:sld>
</file>

<file path=ppt/slides/slide8.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6ACEC6F-8882-4AC8-823D-B088A58A296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FF6B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59C679-5836-4687-94B3-174C28C598DC}"/>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43F8515C-7AE7-4BCF-B287-F5A7FD4F5E70}"/>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7790A2"/>
                </a:solidFill>
                <a:latin typeface="맑은 고딕"/>
                <a:ea typeface="맑은 고딕"/>
                <a:cs typeface="맑은 고딕"/>
              </a:defRPr>
            </a:pPr>
            <a:r>
              <a:rPr sz="825" b="1">
                <a:solidFill>
                  <a:srgbClr val="7790A2"/>
                </a:solidFill>
                <a:latin typeface="맑은 고딕"/>
                <a:ea typeface="맑은 고딕"/>
                <a:cs typeface="맑은 고딕"/>
              </a:rPr>
              <a:t>08</a:t>
            </a:r>
          </a:p>
        </p:txBody>
      </p:sp>
      <p:sp>
        <p:nvSpPr>
          <p:cNvPr id="4" name="">
            <a:extLst xmlns:a="http://schemas.openxmlformats.org/drawingml/2006/main">
              <a:ext uri="{FF2B5EF4-FFF2-40B4-BE49-F238E27FC236}">
                <a16:creationId xmlns:a16="http://schemas.microsoft.com/office/drawing/2014/main" id="{5C6B28C7-F2FD-4CEF-9AB4-B5F3104C275C}"/>
              </a:ext>
            </a:extLst>
          </p:cNvPr>
          <p:cNvSpPr>
            <a:spLocks xmlns:a="http://schemas.openxmlformats.org/drawingml/2006/main" noGrp="1"/>
          </p:cNvSpPr>
          <p:nvPr/>
        </p:nvSpPr>
        <p:spPr>
          <a:xfrm xmlns:a="http://schemas.openxmlformats.org/drawingml/2006/main">
            <a:off x="628650" y="5524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FIELD EXECUTION</a:t>
            </a:r>
          </a:p>
        </p:txBody>
      </p:sp>
      <p:sp>
        <p:nvSpPr>
          <p:cNvPr id="5" name="">
            <a:extLst xmlns:a="http://schemas.openxmlformats.org/drawingml/2006/main">
              <a:ext uri="{FF2B5EF4-FFF2-40B4-BE49-F238E27FC236}">
                <a16:creationId xmlns:a16="http://schemas.microsoft.com/office/drawing/2014/main" id="{B9B72983-1F06-4DB0-9617-0682C0D14356}"/>
              </a:ext>
            </a:extLst>
          </p:cNvPr>
          <p:cNvSpPr>
            <a:spLocks xmlns:a="http://schemas.openxmlformats.org/drawingml/2006/main" noGrp="1"/>
          </p:cNvSpPr>
          <p:nvPr/>
        </p:nvSpPr>
        <p:spPr>
          <a:xfrm xmlns:a="http://schemas.openxmlformats.org/drawingml/2006/main">
            <a:off x="628650" y="87630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맑은 고딕"/>
                <a:ea typeface="맑은 고딕"/>
                <a:cs typeface="맑은 고딕"/>
              </a:defRPr>
            </a:pPr>
            <a:r>
              <a:rPr sz="2400" b="1">
                <a:solidFill>
                  <a:srgbClr val="FFFFFF"/>
                </a:solidFill>
                <a:latin typeface="맑은 고딕"/>
                <a:ea typeface="맑은 고딕"/>
                <a:cs typeface="맑은 고딕"/>
              </a:rPr>
              <a:t>기사는 일정 확인부터 결과보고까지 한 흐름으로 처리</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8c6da1a72d243cc"/>
          <a:srcRect xmlns:a="http://schemas.openxmlformats.org/drawingml/2006/main" l="11637" t="0" r="11637" b="0"/>
          <a:stretch xmlns:a="http://schemas.openxmlformats.org/drawingml/2006/main">
            <a:fillRect l="0" t="0" r="0" b="0"/>
          </a:stretch>
        </p:blipFill>
        <p:spPr>
          <a:xfrm xmlns:a="http://schemas.openxmlformats.org/drawingml/2006/main">
            <a:off x="628650" y="1714500"/>
            <a:ext cx="5219700" cy="3829050"/>
          </a:xfrm>
          <a:prstGeom xmlns:a="http://schemas.openxmlformats.org/drawingml/2006/main" prst="roundRect">
            <a:avLst>
              <a:gd name="adj" fmla="val 3483"/>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c220fcc77fb48b0"/>
          <a:srcRect xmlns:a="http://schemas.openxmlformats.org/drawingml/2006/main" l="11637" t="0" r="11637" b="0"/>
          <a:stretch xmlns:a="http://schemas.openxmlformats.org/drawingml/2006/main">
            <a:fillRect l="0" t="0" r="0" b="0"/>
          </a:stretch>
        </p:blipFill>
        <p:spPr>
          <a:xfrm xmlns:a="http://schemas.openxmlformats.org/drawingml/2006/main">
            <a:off x="6343650" y="1714500"/>
            <a:ext cx="5219700" cy="3829050"/>
          </a:xfrm>
          <a:prstGeom xmlns:a="http://schemas.openxmlformats.org/drawingml/2006/main" prst="roundRect">
            <a:avLst>
              <a:gd name="adj" fmla="val 3483"/>
            </a:avLst>
          </a:prstGeom>
        </p:spPr>
      </p:pic>
      <p:sp>
        <p:nvSpPr>
          <p:cNvPr id="8" name="">
            <a:extLst xmlns:a="http://schemas.openxmlformats.org/drawingml/2006/main">
              <a:ext uri="{FF2B5EF4-FFF2-40B4-BE49-F238E27FC236}">
                <a16:creationId xmlns:a16="http://schemas.microsoft.com/office/drawing/2014/main" id="{A2A37B10-B905-42DC-AAD3-B2B0EAFD366C}"/>
              </a:ext>
            </a:extLst>
          </p:cNvPr>
          <p:cNvSpPr>
            <a:spLocks xmlns:a="http://schemas.openxmlformats.org/drawingml/2006/main" noGrp="1"/>
          </p:cNvSpPr>
          <p:nvPr/>
        </p:nvSpPr>
        <p:spPr>
          <a:xfrm xmlns:a="http://schemas.openxmlformats.org/drawingml/2006/main">
            <a:off x="628650" y="573405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20D5C4"/>
                </a:solidFill>
                <a:latin typeface="맑은 고딕"/>
                <a:ea typeface="맑은 고딕"/>
                <a:cs typeface="맑은 고딕"/>
              </a:defRPr>
            </a:pPr>
            <a:r>
              <a:rPr sz="825" b="1">
                <a:solidFill>
                  <a:srgbClr val="20D5C4"/>
                </a:solidFill>
                <a:latin typeface="맑은 고딕"/>
                <a:ea typeface="맑은 고딕"/>
                <a:cs typeface="맑은 고딕"/>
              </a:rPr>
              <a:t>TODAY &amp; MONTH</a:t>
            </a:r>
          </a:p>
        </p:txBody>
      </p:sp>
      <p:sp>
        <p:nvSpPr>
          <p:cNvPr id="9" name="">
            <a:extLst xmlns:a="http://schemas.openxmlformats.org/drawingml/2006/main">
              <a:ext uri="{FF2B5EF4-FFF2-40B4-BE49-F238E27FC236}">
                <a16:creationId xmlns:a16="http://schemas.microsoft.com/office/drawing/2014/main" id="{05F23FEA-6DC8-41C0-B152-BCF9C764E352}"/>
              </a:ext>
            </a:extLst>
          </p:cNvPr>
          <p:cNvSpPr>
            <a:spLocks xmlns:a="http://schemas.openxmlformats.org/drawingml/2006/main" noGrp="1"/>
          </p:cNvSpPr>
          <p:nvPr/>
        </p:nvSpPr>
        <p:spPr>
          <a:xfrm xmlns:a="http://schemas.openxmlformats.org/drawingml/2006/main">
            <a:off x="2324100" y="56959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FFFFF"/>
                </a:solidFill>
                <a:latin typeface="맑은 고딕"/>
                <a:ea typeface="맑은 고딕"/>
                <a:cs typeface="맑은 고딕"/>
              </a:defRPr>
            </a:pPr>
            <a:r>
              <a:rPr sz="1275" b="1">
                <a:solidFill>
                  <a:srgbClr val="FFFFFF"/>
                </a:solidFill>
                <a:latin typeface="맑은 고딕"/>
                <a:ea typeface="맑은 고딕"/>
                <a:cs typeface="맑은 고딕"/>
              </a:rPr>
              <a:t>오늘 일정과 월간 캘린더</a:t>
            </a:r>
          </a:p>
        </p:txBody>
      </p:sp>
      <p:sp>
        <p:nvSpPr>
          <p:cNvPr id="10" name="">
            <a:extLst xmlns:a="http://schemas.openxmlformats.org/drawingml/2006/main">
              <a:ext uri="{FF2B5EF4-FFF2-40B4-BE49-F238E27FC236}">
                <a16:creationId xmlns:a16="http://schemas.microsoft.com/office/drawing/2014/main" id="{1CC74325-F7DE-4864-8AC4-53002EA1D4C9}"/>
              </a:ext>
            </a:extLst>
          </p:cNvPr>
          <p:cNvSpPr>
            <a:spLocks xmlns:a="http://schemas.openxmlformats.org/drawingml/2006/main" noGrp="1"/>
          </p:cNvSpPr>
          <p:nvPr/>
        </p:nvSpPr>
        <p:spPr>
          <a:xfrm xmlns:a="http://schemas.openxmlformats.org/drawingml/2006/main">
            <a:off x="6343650" y="573405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FF6B4A"/>
                </a:solidFill>
                <a:latin typeface="맑은 고딕"/>
                <a:ea typeface="맑은 고딕"/>
                <a:cs typeface="맑은 고딕"/>
              </a:defRPr>
            </a:pPr>
            <a:r>
              <a:rPr sz="825" b="1">
                <a:solidFill>
                  <a:srgbClr val="FF6B4A"/>
                </a:solidFill>
                <a:latin typeface="맑은 고딕"/>
                <a:ea typeface="맑은 고딕"/>
                <a:cs typeface="맑은 고딕"/>
              </a:rPr>
              <a:t>RESULT REPORT</a:t>
            </a:r>
          </a:p>
        </p:txBody>
      </p:sp>
      <p:sp>
        <p:nvSpPr>
          <p:cNvPr id="11" name="">
            <a:extLst xmlns:a="http://schemas.openxmlformats.org/drawingml/2006/main">
              <a:ext uri="{FF2B5EF4-FFF2-40B4-BE49-F238E27FC236}">
                <a16:creationId xmlns:a16="http://schemas.microsoft.com/office/drawing/2014/main" id="{290F9B11-10D4-4339-9348-B9C2467A10DD}"/>
              </a:ext>
            </a:extLst>
          </p:cNvPr>
          <p:cNvSpPr>
            <a:spLocks xmlns:a="http://schemas.openxmlformats.org/drawingml/2006/main" noGrp="1"/>
          </p:cNvSpPr>
          <p:nvPr/>
        </p:nvSpPr>
        <p:spPr>
          <a:xfrm xmlns:a="http://schemas.openxmlformats.org/drawingml/2006/main">
            <a:off x="8058150" y="56959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FFFFF"/>
                </a:solidFill>
                <a:latin typeface="맑은 고딕"/>
                <a:ea typeface="맑은 고딕"/>
                <a:cs typeface="맑은 고딕"/>
              </a:defRPr>
            </a:pPr>
            <a:r>
              <a:rPr sz="1275" b="1">
                <a:solidFill>
                  <a:srgbClr val="FFFFFF"/>
                </a:solidFill>
                <a:latin typeface="맑은 고딕"/>
                <a:ea typeface="맑은 고딕"/>
                <a:cs typeface="맑은 고딕"/>
              </a:rPr>
              <a:t>처리 내용과 사진 2장 기록</a:t>
            </a:r>
          </a:p>
        </p:txBody>
      </p:sp>
    </p:spTree>
    <p:extLst>
      <p:ext uri="{BB962C8B-B14F-4D97-AF65-F5344CB8AC3E}">
        <p14:creationId xmlns:p14="http://schemas.microsoft.com/office/powerpoint/2010/main" val="4574285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9893573-5E98-4B7B-B477-ECEE528BFCF9}"/>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6E149E-1A30-45E1-9C07-9823B7F8EBA8}"/>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83EF9407-196A-4EE2-A7AA-9B12D9F72EA3}"/>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9BACB7"/>
                </a:solidFill>
                <a:latin typeface="맑은 고딕"/>
                <a:ea typeface="맑은 고딕"/>
                <a:cs typeface="맑은 고딕"/>
              </a:defRPr>
            </a:pPr>
            <a:r>
              <a:rPr sz="825" b="1">
                <a:solidFill>
                  <a:srgbClr val="9BACB7"/>
                </a:solidFill>
                <a:latin typeface="맑은 고딕"/>
                <a:ea typeface="맑은 고딕"/>
                <a:cs typeface="맑은 고딕"/>
              </a:rPr>
              <a:t>09</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8207607558c4aa5"/>
          <a:srcRect xmlns:a="http://schemas.openxmlformats.org/drawingml/2006/main" l="24841" t="0" r="24841" b="0"/>
          <a:stretch xmlns:a="http://schemas.openxmlformats.org/drawingml/2006/main">
            <a:fillRect l="0" t="0" r="0" b="0"/>
          </a:stretch>
        </p:blipFill>
        <p:spPr>
          <a:xfrm xmlns:a="http://schemas.openxmlformats.org/drawingml/2006/main">
            <a:off x="6743700" y="762000"/>
            <a:ext cx="4819650" cy="5391150"/>
          </a:xfrm>
          <a:prstGeom xmlns:a="http://schemas.openxmlformats.org/drawingml/2006/main" prst="roundRect">
            <a:avLst>
              <a:gd name="adj" fmla="val 3162"/>
            </a:avLst>
          </a:prstGeom>
        </p:spPr>
      </p:pic>
      <p:sp>
        <p:nvSpPr>
          <p:cNvPr id="5" name="">
            <a:extLst xmlns:a="http://schemas.openxmlformats.org/drawingml/2006/main">
              <a:ext uri="{FF2B5EF4-FFF2-40B4-BE49-F238E27FC236}">
                <a16:creationId xmlns:a16="http://schemas.microsoft.com/office/drawing/2014/main" id="{307973D3-5AB4-4CD0-97B8-DAB23C95DDCD}"/>
              </a:ext>
            </a:extLst>
          </p:cNvPr>
          <p:cNvSpPr>
            <a:spLocks xmlns:a="http://schemas.openxmlformats.org/drawingml/2006/main" noGrp="1"/>
          </p:cNvSpPr>
          <p:nvPr/>
        </p:nvSpPr>
        <p:spPr>
          <a:xfrm xmlns:a="http://schemas.openxmlformats.org/drawingml/2006/main">
            <a:off x="628650" y="6858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CUSTOMER FEEDBACK</a:t>
            </a:r>
          </a:p>
        </p:txBody>
      </p:sp>
      <p:sp>
        <p:nvSpPr>
          <p:cNvPr id="6" name="">
            <a:extLst xmlns:a="http://schemas.openxmlformats.org/drawingml/2006/main">
              <a:ext uri="{FF2B5EF4-FFF2-40B4-BE49-F238E27FC236}">
                <a16:creationId xmlns:a16="http://schemas.microsoft.com/office/drawing/2014/main" id="{8217FEBE-2753-4701-8A6E-79725B8E8600}"/>
              </a:ext>
            </a:extLst>
          </p:cNvPr>
          <p:cNvSpPr>
            <a:spLocks xmlns:a="http://schemas.openxmlformats.org/drawingml/2006/main" noGrp="1"/>
          </p:cNvSpPr>
          <p:nvPr/>
        </p:nvSpPr>
        <p:spPr>
          <a:xfrm xmlns:a="http://schemas.openxmlformats.org/drawingml/2006/main">
            <a:off x="628650" y="1047750"/>
            <a:ext cx="552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7131F"/>
                </a:solidFill>
                <a:latin typeface="맑은 고딕"/>
                <a:ea typeface="맑은 고딕"/>
                <a:cs typeface="맑은 고딕"/>
              </a:defRPr>
            </a:pPr>
            <a:r>
              <a:rPr sz="2550" b="1">
                <a:solidFill>
                  <a:srgbClr val="07131F"/>
                </a:solidFill>
                <a:latin typeface="맑은 고딕"/>
                <a:ea typeface="맑은 고딕"/>
                <a:cs typeface="맑은 고딕"/>
              </a:rPr>
              <a:t>결과보고 뒤</a:t>
            </a:r>
          </a:p>
          <a:p xmlns:a="http://schemas.openxmlformats.org/drawingml/2006/main">
            <a:pPr>
              <a:defRPr sz="2550" b="1">
                <a:solidFill>
                  <a:srgbClr val="07131F"/>
                </a:solidFill>
                <a:latin typeface="맑은 고딕"/>
                <a:ea typeface="맑은 고딕"/>
                <a:cs typeface="맑은 고딕"/>
              </a:defRPr>
            </a:pPr>
            <a:r>
              <a:rPr sz="2550" b="1">
                <a:solidFill>
                  <a:srgbClr val="07131F"/>
                </a:solidFill>
                <a:latin typeface="맑은 고딕"/>
                <a:ea typeface="맑은 고딕"/>
                <a:cs typeface="맑은 고딕"/>
              </a:rPr>
              <a:t>고객 평가가 운영 데이터가 됩니다</a:t>
            </a:r>
          </a:p>
        </p:txBody>
      </p:sp>
      <p:sp>
        <p:nvSpPr>
          <p:cNvPr id="7" name="">
            <a:extLst xmlns:a="http://schemas.openxmlformats.org/drawingml/2006/main">
              <a:ext uri="{FF2B5EF4-FFF2-40B4-BE49-F238E27FC236}">
                <a16:creationId xmlns:a16="http://schemas.microsoft.com/office/drawing/2014/main" id="{3EBA1E3B-B103-4203-A102-AE750AF9FD72}"/>
              </a:ext>
            </a:extLst>
          </p:cNvPr>
          <p:cNvSpPr>
            <a:spLocks xmlns:a="http://schemas.openxmlformats.org/drawingml/2006/main" noGrp="1"/>
          </p:cNvSpPr>
          <p:nvPr/>
        </p:nvSpPr>
        <p:spPr>
          <a:xfrm xmlns:a="http://schemas.openxmlformats.org/drawingml/2006/main">
            <a:off x="628650" y="24384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B4A"/>
                </a:solidFill>
                <a:latin typeface="맑은 고딕"/>
                <a:ea typeface="맑은 고딕"/>
                <a:cs typeface="맑은 고딕"/>
              </a:defRPr>
            </a:pPr>
            <a:r>
              <a:rPr sz="1125" b="1">
                <a:solidFill>
                  <a:srgbClr val="FF6B4A"/>
                </a:solidFill>
                <a:latin typeface="맑은 고딕"/>
                <a:ea typeface="맑은 고딕"/>
                <a:cs typeface="맑은 고딕"/>
              </a:rPr>
              <a:t>차별화 포인트</a:t>
            </a:r>
          </a:p>
        </p:txBody>
      </p:sp>
      <p:sp>
        <p:nvSpPr>
          <p:cNvPr id="8" name="">
            <a:extLst xmlns:a="http://schemas.openxmlformats.org/drawingml/2006/main">
              <a:ext uri="{FF2B5EF4-FFF2-40B4-BE49-F238E27FC236}">
                <a16:creationId xmlns:a16="http://schemas.microsoft.com/office/drawing/2014/main" id="{D268B5D9-2433-440A-B4E8-A2F0ED03A892}"/>
              </a:ext>
            </a:extLst>
          </p:cNvPr>
          <p:cNvSpPr>
            <a:spLocks xmlns:a="http://schemas.openxmlformats.org/drawingml/2006/main" noGrp="1"/>
          </p:cNvSpPr>
          <p:nvPr/>
        </p:nvSpPr>
        <p:spPr>
          <a:xfrm xmlns:a="http://schemas.openxmlformats.org/drawingml/2006/main">
            <a:off x="628650" y="2857500"/>
            <a:ext cx="53149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07131F"/>
                </a:solidFill>
                <a:latin typeface="맑은 고딕"/>
                <a:ea typeface="맑은 고딕"/>
                <a:cs typeface="맑은 고딕"/>
              </a:defRPr>
            </a:pPr>
            <a:r>
              <a:rPr sz="1500" b="0">
                <a:solidFill>
                  <a:srgbClr val="07131F"/>
                </a:solidFill>
                <a:latin typeface="맑은 고딕"/>
                <a:ea typeface="맑은 고딕"/>
                <a:cs typeface="맑은 고딕"/>
              </a:rPr>
              <a:t>외부 설문으로 끝내지 않고 서비스 내부 DB에 응답을 저장해 기사별 월간 지표로 연결했습니다.</a:t>
            </a:r>
          </a:p>
        </p:txBody>
      </p:sp>
      <p:sp>
        <p:nvSpPr>
          <p:cNvPr id="9" name="">
            <a:extLst xmlns:a="http://schemas.openxmlformats.org/drawingml/2006/main">
              <a:ext uri="{FF2B5EF4-FFF2-40B4-BE49-F238E27FC236}">
                <a16:creationId xmlns:a16="http://schemas.microsoft.com/office/drawing/2014/main" id="{21929CB2-6F01-4049-BD0D-88C85C8C0C51}"/>
              </a:ext>
            </a:extLst>
          </p:cNvPr>
          <p:cNvSpPr>
            <a:spLocks xmlns:a="http://schemas.openxmlformats.org/drawingml/2006/main" noGrp="1"/>
          </p:cNvSpPr>
          <p:nvPr/>
        </p:nvSpPr>
        <p:spPr>
          <a:xfrm xmlns:a="http://schemas.openxmlformats.org/drawingml/2006/main">
            <a:off x="628650" y="41910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0AFA8"/>
                </a:solidFill>
                <a:latin typeface="맑은 고딕"/>
                <a:ea typeface="맑은 고딕"/>
                <a:cs typeface="맑은 고딕"/>
              </a:defRPr>
            </a:pPr>
            <a:r>
              <a:rPr sz="975" b="1">
                <a:solidFill>
                  <a:srgbClr val="00AFA8"/>
                </a:solidFill>
                <a:latin typeface="맑은 고딕"/>
                <a:ea typeface="맑은 고딕"/>
                <a:cs typeface="맑은 고딕"/>
              </a:rPr>
              <a:t>01</a:t>
            </a:r>
          </a:p>
        </p:txBody>
      </p:sp>
      <p:sp>
        <p:nvSpPr>
          <p:cNvPr id="10" name="">
            <a:extLst xmlns:a="http://schemas.openxmlformats.org/drawingml/2006/main">
              <a:ext uri="{FF2B5EF4-FFF2-40B4-BE49-F238E27FC236}">
                <a16:creationId xmlns:a16="http://schemas.microsoft.com/office/drawing/2014/main" id="{DA28C932-4C64-4B81-8192-4DDC2AD8CB82}"/>
              </a:ext>
            </a:extLst>
          </p:cNvPr>
          <p:cNvSpPr>
            <a:spLocks xmlns:a="http://schemas.openxmlformats.org/drawingml/2006/main" noGrp="1"/>
          </p:cNvSpPr>
          <p:nvPr/>
        </p:nvSpPr>
        <p:spPr>
          <a:xfrm xmlns:a="http://schemas.openxmlformats.org/drawingml/2006/main">
            <a:off x="1104900" y="417195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8295"/>
                </a:solidFill>
                <a:latin typeface="맑은 고딕"/>
                <a:ea typeface="맑은 고딕"/>
                <a:cs typeface="맑은 고딕"/>
              </a:defRPr>
            </a:pPr>
            <a:r>
              <a:rPr sz="1275" b="0">
                <a:solidFill>
                  <a:srgbClr val="718295"/>
                </a:solidFill>
                <a:latin typeface="맑은 고딕"/>
                <a:ea typeface="맑은 고딕"/>
                <a:cs typeface="맑은 고딕"/>
              </a:rPr>
              <a:t>결과 등록</a:t>
            </a:r>
          </a:p>
        </p:txBody>
      </p:sp>
      <p:sp>
        <p:nvSpPr>
          <p:cNvPr id="11" name="">
            <a:extLst xmlns:a="http://schemas.openxmlformats.org/drawingml/2006/main">
              <a:ext uri="{FF2B5EF4-FFF2-40B4-BE49-F238E27FC236}">
                <a16:creationId xmlns:a16="http://schemas.microsoft.com/office/drawing/2014/main" id="{310EBD37-998A-4D32-A72F-F5483EA6989B}"/>
              </a:ext>
            </a:extLst>
          </p:cNvPr>
          <p:cNvSpPr>
            <a:spLocks xmlns:a="http://schemas.openxmlformats.org/drawingml/2006/main" noGrp="1"/>
          </p:cNvSpPr>
          <p:nvPr/>
        </p:nvSpPr>
        <p:spPr>
          <a:xfrm xmlns:a="http://schemas.openxmlformats.org/drawingml/2006/main">
            <a:off x="3343275" y="41910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0AFA8"/>
                </a:solidFill>
                <a:latin typeface="맑은 고딕"/>
                <a:ea typeface="맑은 고딕"/>
                <a:cs typeface="맑은 고딕"/>
              </a:defRPr>
            </a:pPr>
            <a:r>
              <a:rPr sz="975" b="1">
                <a:solidFill>
                  <a:srgbClr val="00AFA8"/>
                </a:solidFill>
                <a:latin typeface="맑은 고딕"/>
                <a:ea typeface="맑은 고딕"/>
                <a:cs typeface="맑은 고딕"/>
              </a:rPr>
              <a:t>02</a:t>
            </a:r>
          </a:p>
        </p:txBody>
      </p:sp>
      <p:sp>
        <p:nvSpPr>
          <p:cNvPr id="12" name="">
            <a:extLst xmlns:a="http://schemas.openxmlformats.org/drawingml/2006/main">
              <a:ext uri="{FF2B5EF4-FFF2-40B4-BE49-F238E27FC236}">
                <a16:creationId xmlns:a16="http://schemas.microsoft.com/office/drawing/2014/main" id="{84AE430C-001F-42FE-A127-EFB3CE1176DC}"/>
              </a:ext>
            </a:extLst>
          </p:cNvPr>
          <p:cNvSpPr>
            <a:spLocks xmlns:a="http://schemas.openxmlformats.org/drawingml/2006/main" noGrp="1"/>
          </p:cNvSpPr>
          <p:nvPr/>
        </p:nvSpPr>
        <p:spPr>
          <a:xfrm xmlns:a="http://schemas.openxmlformats.org/drawingml/2006/main">
            <a:off x="3819525" y="417195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8295"/>
                </a:solidFill>
                <a:latin typeface="맑은 고딕"/>
                <a:ea typeface="맑은 고딕"/>
                <a:cs typeface="맑은 고딕"/>
              </a:defRPr>
            </a:pPr>
            <a:r>
              <a:rPr sz="1275" b="0">
                <a:solidFill>
                  <a:srgbClr val="718295"/>
                </a:solidFill>
                <a:latin typeface="맑은 고딕"/>
                <a:ea typeface="맑은 고딕"/>
                <a:cs typeface="맑은 고딕"/>
              </a:rPr>
              <a:t>SMS 링크 발송</a:t>
            </a:r>
          </a:p>
        </p:txBody>
      </p:sp>
      <p:sp>
        <p:nvSpPr>
          <p:cNvPr id="13" name="">
            <a:extLst xmlns:a="http://schemas.openxmlformats.org/drawingml/2006/main">
              <a:ext uri="{FF2B5EF4-FFF2-40B4-BE49-F238E27FC236}">
                <a16:creationId xmlns:a16="http://schemas.microsoft.com/office/drawing/2014/main" id="{16BEC065-289B-426C-AF06-DA8B13FD14CB}"/>
              </a:ext>
            </a:extLst>
          </p:cNvPr>
          <p:cNvSpPr>
            <a:spLocks xmlns:a="http://schemas.openxmlformats.org/drawingml/2006/main" noGrp="1"/>
          </p:cNvSpPr>
          <p:nvPr/>
        </p:nvSpPr>
        <p:spPr>
          <a:xfrm xmlns:a="http://schemas.openxmlformats.org/drawingml/2006/main">
            <a:off x="628650" y="49720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0AFA8"/>
                </a:solidFill>
                <a:latin typeface="맑은 고딕"/>
                <a:ea typeface="맑은 고딕"/>
                <a:cs typeface="맑은 고딕"/>
              </a:defRPr>
            </a:pPr>
            <a:r>
              <a:rPr sz="975" b="1">
                <a:solidFill>
                  <a:srgbClr val="00AFA8"/>
                </a:solidFill>
                <a:latin typeface="맑은 고딕"/>
                <a:ea typeface="맑은 고딕"/>
                <a:cs typeface="맑은 고딕"/>
              </a:rPr>
              <a:t>03</a:t>
            </a:r>
          </a:p>
        </p:txBody>
      </p:sp>
      <p:sp>
        <p:nvSpPr>
          <p:cNvPr id="14" name="">
            <a:extLst xmlns:a="http://schemas.openxmlformats.org/drawingml/2006/main">
              <a:ext uri="{FF2B5EF4-FFF2-40B4-BE49-F238E27FC236}">
                <a16:creationId xmlns:a16="http://schemas.microsoft.com/office/drawing/2014/main" id="{DDF8BD63-1912-4952-85DB-7491631D7927}"/>
              </a:ext>
            </a:extLst>
          </p:cNvPr>
          <p:cNvSpPr>
            <a:spLocks xmlns:a="http://schemas.openxmlformats.org/drawingml/2006/main" noGrp="1"/>
          </p:cNvSpPr>
          <p:nvPr/>
        </p:nvSpPr>
        <p:spPr>
          <a:xfrm xmlns:a="http://schemas.openxmlformats.org/drawingml/2006/main">
            <a:off x="1104900" y="49530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8295"/>
                </a:solidFill>
                <a:latin typeface="맑은 고딕"/>
                <a:ea typeface="맑은 고딕"/>
                <a:cs typeface="맑은 고딕"/>
              </a:defRPr>
            </a:pPr>
            <a:r>
              <a:rPr sz="1275" b="0">
                <a:solidFill>
                  <a:srgbClr val="718295"/>
                </a:solidFill>
                <a:latin typeface="맑은 고딕"/>
                <a:ea typeface="맑은 고딕"/>
                <a:cs typeface="맑은 고딕"/>
              </a:rPr>
              <a:t>3항목 평가</a:t>
            </a:r>
          </a:p>
        </p:txBody>
      </p:sp>
      <p:sp>
        <p:nvSpPr>
          <p:cNvPr id="15" name="">
            <a:extLst xmlns:a="http://schemas.openxmlformats.org/drawingml/2006/main">
              <a:ext uri="{FF2B5EF4-FFF2-40B4-BE49-F238E27FC236}">
                <a16:creationId xmlns:a16="http://schemas.microsoft.com/office/drawing/2014/main" id="{6DEF41FC-DF50-4DA0-B12D-42C3032551C0}"/>
              </a:ext>
            </a:extLst>
          </p:cNvPr>
          <p:cNvSpPr>
            <a:spLocks xmlns:a="http://schemas.openxmlformats.org/drawingml/2006/main" noGrp="1"/>
          </p:cNvSpPr>
          <p:nvPr/>
        </p:nvSpPr>
        <p:spPr>
          <a:xfrm xmlns:a="http://schemas.openxmlformats.org/drawingml/2006/main">
            <a:off x="3343275" y="49720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FF6B4A"/>
                </a:solidFill>
                <a:latin typeface="맑은 고딕"/>
                <a:ea typeface="맑은 고딕"/>
                <a:cs typeface="맑은 고딕"/>
              </a:defRPr>
            </a:pPr>
            <a:r>
              <a:rPr sz="975" b="1">
                <a:solidFill>
                  <a:srgbClr val="FF6B4A"/>
                </a:solidFill>
                <a:latin typeface="맑은 고딕"/>
                <a:ea typeface="맑은 고딕"/>
                <a:cs typeface="맑은 고딕"/>
              </a:rPr>
              <a:t>04</a:t>
            </a:r>
          </a:p>
        </p:txBody>
      </p:sp>
      <p:sp>
        <p:nvSpPr>
          <p:cNvPr id="16" name="">
            <a:extLst xmlns:a="http://schemas.openxmlformats.org/drawingml/2006/main">
              <a:ext uri="{FF2B5EF4-FFF2-40B4-BE49-F238E27FC236}">
                <a16:creationId xmlns:a16="http://schemas.microsoft.com/office/drawing/2014/main" id="{41793AE3-B757-4628-A382-A422BF0ED658}"/>
              </a:ext>
            </a:extLst>
          </p:cNvPr>
          <p:cNvSpPr>
            <a:spLocks xmlns:a="http://schemas.openxmlformats.org/drawingml/2006/main" noGrp="1"/>
          </p:cNvSpPr>
          <p:nvPr/>
        </p:nvSpPr>
        <p:spPr>
          <a:xfrm xmlns:a="http://schemas.openxmlformats.org/drawingml/2006/main">
            <a:off x="3819525" y="49530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8295"/>
                </a:solidFill>
                <a:latin typeface="맑은 고딕"/>
                <a:ea typeface="맑은 고딕"/>
                <a:cs typeface="맑은 고딕"/>
              </a:defRPr>
            </a:pPr>
            <a:r>
              <a:rPr sz="1275" b="0">
                <a:solidFill>
                  <a:srgbClr val="718295"/>
                </a:solidFill>
                <a:latin typeface="맑은 고딕"/>
                <a:ea typeface="맑은 고딕"/>
                <a:cs typeface="맑은 고딕"/>
              </a:rPr>
              <a:t>월별 평균·전년 비교</a:t>
            </a:r>
          </a:p>
        </p:txBody>
      </p:sp>
    </p:spTree>
    <p:extLst>
      <p:ext uri="{BB962C8B-B14F-4D97-AF65-F5344CB8AC3E}">
        <p14:creationId xmlns:p14="http://schemas.microsoft.com/office/powerpoint/2010/main" val="121494166"/>
      </p:ext>
    </p:extLst>
  </p:cSld>
</p:sld>
</file>

<file path=ppt/slides/slide10.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BA602A0-8782-4946-8035-AAD4F8A4D6E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FF6B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3D951E-808A-48BF-ABED-EC07BA16A14A}"/>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3DF9346E-02EA-49B8-8417-B7F9C0CC1A85}"/>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7790A2"/>
                </a:solidFill>
                <a:latin typeface="맑은 고딕"/>
                <a:ea typeface="맑은 고딕"/>
                <a:cs typeface="맑은 고딕"/>
              </a:defRPr>
            </a:pPr>
            <a:r>
              <a:rPr sz="825" b="1">
                <a:solidFill>
                  <a:srgbClr val="7790A2"/>
                </a:solidFill>
                <a:latin typeface="맑은 고딕"/>
                <a:ea typeface="맑은 고딕"/>
                <a:cs typeface="맑은 고딕"/>
              </a:rPr>
              <a:t>10</a:t>
            </a:r>
          </a:p>
        </p:txBody>
      </p:sp>
      <p:sp>
        <p:nvSpPr>
          <p:cNvPr id="4" name="">
            <a:extLst xmlns:a="http://schemas.openxmlformats.org/drawingml/2006/main">
              <a:ext uri="{FF2B5EF4-FFF2-40B4-BE49-F238E27FC236}">
                <a16:creationId xmlns:a16="http://schemas.microsoft.com/office/drawing/2014/main" id="{856F8ADC-0776-46C3-995F-9C7580F05011}"/>
              </a:ext>
            </a:extLst>
          </p:cNvPr>
          <p:cNvSpPr>
            <a:spLocks xmlns:a="http://schemas.openxmlformats.org/drawingml/2006/main" noGrp="1"/>
          </p:cNvSpPr>
          <p:nvPr/>
        </p:nvSpPr>
        <p:spPr>
          <a:xfrm xmlns:a="http://schemas.openxmlformats.org/drawingml/2006/main">
            <a:off x="628650" y="5524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DELIVERY MODEL</a:t>
            </a:r>
          </a:p>
        </p:txBody>
      </p:sp>
      <p:sp>
        <p:nvSpPr>
          <p:cNvPr id="5" name="">
            <a:extLst xmlns:a="http://schemas.openxmlformats.org/drawingml/2006/main">
              <a:ext uri="{FF2B5EF4-FFF2-40B4-BE49-F238E27FC236}">
                <a16:creationId xmlns:a16="http://schemas.microsoft.com/office/drawing/2014/main" id="{74EB15BE-A462-42BF-8528-A3CEDF3DF7E6}"/>
              </a:ext>
            </a:extLst>
          </p:cNvPr>
          <p:cNvSpPr>
            <a:spLocks xmlns:a="http://schemas.openxmlformats.org/drawingml/2006/main" noGrp="1"/>
          </p:cNvSpPr>
          <p:nvPr/>
        </p:nvSpPr>
        <p:spPr>
          <a:xfrm xmlns:a="http://schemas.openxmlformats.org/drawingml/2006/main">
            <a:off x="628650" y="8763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맑은 고딕"/>
                <a:ea typeface="맑은 고딕"/>
                <a:cs typeface="맑은 고딕"/>
              </a:defRPr>
            </a:pPr>
            <a:r>
              <a:rPr sz="2550" b="1">
                <a:solidFill>
                  <a:srgbClr val="FFFFFF"/>
                </a:solidFill>
                <a:latin typeface="맑은 고딕"/>
                <a:ea typeface="맑은 고딕"/>
                <a:cs typeface="맑은 고딕"/>
              </a:rPr>
              <a:t>화면 단위 오너십으로 6일 안에 통합</a:t>
            </a:r>
          </a:p>
        </p:txBody>
      </p:sp>
      <p:sp>
        <p:nvSpPr>
          <p:cNvPr id="6" name="">
            <a:extLst xmlns:a="http://schemas.openxmlformats.org/drawingml/2006/main">
              <a:ext uri="{FF2B5EF4-FFF2-40B4-BE49-F238E27FC236}">
                <a16:creationId xmlns:a16="http://schemas.microsoft.com/office/drawing/2014/main" id="{57769C48-BAD8-40E7-A317-2AADB119E89E}"/>
              </a:ext>
            </a:extLst>
          </p:cNvPr>
          <p:cNvSpPr>
            <a:spLocks xmlns:a="http://schemas.openxmlformats.org/drawingml/2006/main" noGrp="1"/>
          </p:cNvSpPr>
          <p:nvPr/>
        </p:nvSpPr>
        <p:spPr>
          <a:xfrm xmlns:a="http://schemas.openxmlformats.org/drawingml/2006/main">
            <a:off x="628650" y="1952625"/>
            <a:ext cx="1695450" cy="285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6A0EAC4-F57F-4A6F-B12F-A264F6DD7AD0}"/>
              </a:ext>
            </a:extLst>
          </p:cNvPr>
          <p:cNvSpPr>
            <a:spLocks xmlns:a="http://schemas.openxmlformats.org/drawingml/2006/main" noGrp="1"/>
          </p:cNvSpPr>
          <p:nvPr/>
        </p:nvSpPr>
        <p:spPr>
          <a:xfrm xmlns:a="http://schemas.openxmlformats.org/drawingml/2006/main">
            <a:off x="628650" y="2133600"/>
            <a:ext cx="1762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0D5C4"/>
                </a:solidFill>
                <a:latin typeface="맑은 고딕"/>
                <a:ea typeface="맑은 고딕"/>
                <a:cs typeface="맑은 고딕"/>
              </a:defRPr>
            </a:pPr>
            <a:r>
              <a:rPr sz="1050" b="1">
                <a:solidFill>
                  <a:srgbClr val="20D5C4"/>
                </a:solidFill>
                <a:latin typeface="맑은 고딕"/>
                <a:ea typeface="맑은 고딕"/>
                <a:cs typeface="맑은 고딕"/>
              </a:rPr>
              <a:t>09.08</a:t>
            </a:r>
          </a:p>
        </p:txBody>
      </p:sp>
      <p:sp>
        <p:nvSpPr>
          <p:cNvPr id="8" name="">
            <a:extLst xmlns:a="http://schemas.openxmlformats.org/drawingml/2006/main">
              <a:ext uri="{FF2B5EF4-FFF2-40B4-BE49-F238E27FC236}">
                <a16:creationId xmlns:a16="http://schemas.microsoft.com/office/drawing/2014/main" id="{12E876A8-AE08-4A84-AAA0-DA70F35E2F72}"/>
              </a:ext>
            </a:extLst>
          </p:cNvPr>
          <p:cNvSpPr>
            <a:spLocks xmlns:a="http://schemas.openxmlformats.org/drawingml/2006/main" noGrp="1"/>
          </p:cNvSpPr>
          <p:nvPr/>
        </p:nvSpPr>
        <p:spPr>
          <a:xfrm xmlns:a="http://schemas.openxmlformats.org/drawingml/2006/main">
            <a:off x="628650" y="2533650"/>
            <a:ext cx="1762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맑은 고딕"/>
                <a:ea typeface="맑은 고딕"/>
                <a:cs typeface="맑은 고딕"/>
              </a:defRPr>
            </a:pPr>
            <a:r>
              <a:rPr sz="1650" b="1">
                <a:solidFill>
                  <a:srgbClr val="FFFFFF"/>
                </a:solidFill>
                <a:latin typeface="맑은 고딕"/>
                <a:ea typeface="맑은 고딕"/>
                <a:cs typeface="맑은 고딕"/>
              </a:rPr>
              <a:t>기획</a:t>
            </a:r>
          </a:p>
        </p:txBody>
      </p:sp>
      <p:sp>
        <p:nvSpPr>
          <p:cNvPr id="9" name="">
            <a:extLst xmlns:a="http://schemas.openxmlformats.org/drawingml/2006/main">
              <a:ext uri="{FF2B5EF4-FFF2-40B4-BE49-F238E27FC236}">
                <a16:creationId xmlns:a16="http://schemas.microsoft.com/office/drawing/2014/main" id="{6C50506B-A973-48AF-8A8F-147FB4351E9C}"/>
              </a:ext>
            </a:extLst>
          </p:cNvPr>
          <p:cNvSpPr>
            <a:spLocks xmlns:a="http://schemas.openxmlformats.org/drawingml/2006/main" noGrp="1"/>
          </p:cNvSpPr>
          <p:nvPr/>
        </p:nvSpPr>
        <p:spPr>
          <a:xfrm xmlns:a="http://schemas.openxmlformats.org/drawingml/2006/main">
            <a:off x="628650" y="2952750"/>
            <a:ext cx="180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FB2BE"/>
                </a:solidFill>
                <a:latin typeface="맑은 고딕"/>
                <a:ea typeface="맑은 고딕"/>
                <a:cs typeface="맑은 고딕"/>
              </a:defRPr>
            </a:pPr>
            <a:r>
              <a:rPr sz="1050" b="0">
                <a:solidFill>
                  <a:srgbClr val="9FB2BE"/>
                </a:solidFill>
                <a:latin typeface="맑은 고딕"/>
                <a:ea typeface="맑은 고딕"/>
                <a:cs typeface="맑은 고딕"/>
              </a:rPr>
              <a:t>역할·화면 범위와 Git 전략</a:t>
            </a:r>
          </a:p>
        </p:txBody>
      </p:sp>
      <p:sp>
        <p:nvSpPr>
          <p:cNvPr id="10" name="">
            <a:extLst xmlns:a="http://schemas.openxmlformats.org/drawingml/2006/main">
              <a:ext uri="{FF2B5EF4-FFF2-40B4-BE49-F238E27FC236}">
                <a16:creationId xmlns:a16="http://schemas.microsoft.com/office/drawing/2014/main" id="{05C15105-4A3B-4998-A3A8-D5639D505340}"/>
              </a:ext>
            </a:extLst>
          </p:cNvPr>
          <p:cNvSpPr>
            <a:spLocks xmlns:a="http://schemas.openxmlformats.org/drawingml/2006/main" noGrp="1"/>
          </p:cNvSpPr>
          <p:nvPr/>
        </p:nvSpPr>
        <p:spPr>
          <a:xfrm xmlns:a="http://schemas.openxmlformats.org/drawingml/2006/main">
            <a:off x="2819400" y="1952625"/>
            <a:ext cx="1695450" cy="285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A9B4795-C7EE-4311-976B-33EAA7B563C5}"/>
              </a:ext>
            </a:extLst>
          </p:cNvPr>
          <p:cNvSpPr>
            <a:spLocks xmlns:a="http://schemas.openxmlformats.org/drawingml/2006/main" noGrp="1"/>
          </p:cNvSpPr>
          <p:nvPr/>
        </p:nvSpPr>
        <p:spPr>
          <a:xfrm xmlns:a="http://schemas.openxmlformats.org/drawingml/2006/main">
            <a:off x="2819400" y="2133600"/>
            <a:ext cx="1762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0D5C4"/>
                </a:solidFill>
                <a:latin typeface="맑은 고딕"/>
                <a:ea typeface="맑은 고딕"/>
                <a:cs typeface="맑은 고딕"/>
              </a:defRPr>
            </a:pPr>
            <a:r>
              <a:rPr sz="1050" b="1">
                <a:solidFill>
                  <a:srgbClr val="20D5C4"/>
                </a:solidFill>
                <a:latin typeface="맑은 고딕"/>
                <a:ea typeface="맑은 고딕"/>
                <a:cs typeface="맑은 고딕"/>
              </a:rPr>
              <a:t>09.09</a:t>
            </a:r>
          </a:p>
        </p:txBody>
      </p:sp>
      <p:sp>
        <p:nvSpPr>
          <p:cNvPr id="12" name="">
            <a:extLst xmlns:a="http://schemas.openxmlformats.org/drawingml/2006/main">
              <a:ext uri="{FF2B5EF4-FFF2-40B4-BE49-F238E27FC236}">
                <a16:creationId xmlns:a16="http://schemas.microsoft.com/office/drawing/2014/main" id="{1A3CE1D3-1675-43A3-87B0-BED9D9435E2E}"/>
              </a:ext>
            </a:extLst>
          </p:cNvPr>
          <p:cNvSpPr>
            <a:spLocks xmlns:a="http://schemas.openxmlformats.org/drawingml/2006/main" noGrp="1"/>
          </p:cNvSpPr>
          <p:nvPr/>
        </p:nvSpPr>
        <p:spPr>
          <a:xfrm xmlns:a="http://schemas.openxmlformats.org/drawingml/2006/main">
            <a:off x="2819400" y="2533650"/>
            <a:ext cx="1762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맑은 고딕"/>
                <a:ea typeface="맑은 고딕"/>
                <a:cs typeface="맑은 고딕"/>
              </a:defRPr>
            </a:pPr>
            <a:r>
              <a:rPr sz="1650" b="1">
                <a:solidFill>
                  <a:srgbClr val="FFFFFF"/>
                </a:solidFill>
                <a:latin typeface="맑은 고딕"/>
                <a:ea typeface="맑은 고딕"/>
                <a:cs typeface="맑은 고딕"/>
              </a:rPr>
              <a:t>기반</a:t>
            </a:r>
          </a:p>
        </p:txBody>
      </p:sp>
      <p:sp>
        <p:nvSpPr>
          <p:cNvPr id="13" name="">
            <a:extLst xmlns:a="http://schemas.openxmlformats.org/drawingml/2006/main">
              <a:ext uri="{FF2B5EF4-FFF2-40B4-BE49-F238E27FC236}">
                <a16:creationId xmlns:a16="http://schemas.microsoft.com/office/drawing/2014/main" id="{E7D84497-9CF9-4DDA-9401-0E27F157C548}"/>
              </a:ext>
            </a:extLst>
          </p:cNvPr>
          <p:cNvSpPr>
            <a:spLocks xmlns:a="http://schemas.openxmlformats.org/drawingml/2006/main" noGrp="1"/>
          </p:cNvSpPr>
          <p:nvPr/>
        </p:nvSpPr>
        <p:spPr>
          <a:xfrm xmlns:a="http://schemas.openxmlformats.org/drawingml/2006/main">
            <a:off x="2819400" y="2952750"/>
            <a:ext cx="180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FB2BE"/>
                </a:solidFill>
                <a:latin typeface="맑은 고딕"/>
                <a:ea typeface="맑은 고딕"/>
                <a:cs typeface="맑은 고딕"/>
              </a:defRPr>
            </a:pPr>
            <a:r>
              <a:rPr sz="1050" b="0">
                <a:solidFill>
                  <a:srgbClr val="9FB2BE"/>
                </a:solidFill>
                <a:latin typeface="맑은 고딕"/>
                <a:ea typeface="맑은 고딕"/>
                <a:cs typeface="맑은 고딕"/>
              </a:rPr>
              <a:t>DB와 공통 화면 뼈대</a:t>
            </a:r>
          </a:p>
        </p:txBody>
      </p:sp>
      <p:sp>
        <p:nvSpPr>
          <p:cNvPr id="14" name="">
            <a:extLst xmlns:a="http://schemas.openxmlformats.org/drawingml/2006/main">
              <a:ext uri="{FF2B5EF4-FFF2-40B4-BE49-F238E27FC236}">
                <a16:creationId xmlns:a16="http://schemas.microsoft.com/office/drawing/2014/main" id="{016776F5-A19C-4729-B664-B83B02D4FBFD}"/>
              </a:ext>
            </a:extLst>
          </p:cNvPr>
          <p:cNvSpPr>
            <a:spLocks xmlns:a="http://schemas.openxmlformats.org/drawingml/2006/main" noGrp="1"/>
          </p:cNvSpPr>
          <p:nvPr/>
        </p:nvSpPr>
        <p:spPr>
          <a:xfrm xmlns:a="http://schemas.openxmlformats.org/drawingml/2006/main">
            <a:off x="5010150" y="1952625"/>
            <a:ext cx="1695450" cy="285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0AEB337-C600-455E-B32E-DDB383551557}"/>
              </a:ext>
            </a:extLst>
          </p:cNvPr>
          <p:cNvSpPr>
            <a:spLocks xmlns:a="http://schemas.openxmlformats.org/drawingml/2006/main" noGrp="1"/>
          </p:cNvSpPr>
          <p:nvPr/>
        </p:nvSpPr>
        <p:spPr>
          <a:xfrm xmlns:a="http://schemas.openxmlformats.org/drawingml/2006/main">
            <a:off x="5010150" y="2133600"/>
            <a:ext cx="1762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0D5C4"/>
                </a:solidFill>
                <a:latin typeface="맑은 고딕"/>
                <a:ea typeface="맑은 고딕"/>
                <a:cs typeface="맑은 고딕"/>
              </a:defRPr>
            </a:pPr>
            <a:r>
              <a:rPr sz="1050" b="1">
                <a:solidFill>
                  <a:srgbClr val="20D5C4"/>
                </a:solidFill>
                <a:latin typeface="맑은 고딕"/>
                <a:ea typeface="맑은 고딕"/>
                <a:cs typeface="맑은 고딕"/>
              </a:rPr>
              <a:t>09.10–11</a:t>
            </a:r>
          </a:p>
        </p:txBody>
      </p:sp>
      <p:sp>
        <p:nvSpPr>
          <p:cNvPr id="16" name="">
            <a:extLst xmlns:a="http://schemas.openxmlformats.org/drawingml/2006/main">
              <a:ext uri="{FF2B5EF4-FFF2-40B4-BE49-F238E27FC236}">
                <a16:creationId xmlns:a16="http://schemas.microsoft.com/office/drawing/2014/main" id="{52E771E7-9127-4CA5-8733-76EDC9C212F6}"/>
              </a:ext>
            </a:extLst>
          </p:cNvPr>
          <p:cNvSpPr>
            <a:spLocks xmlns:a="http://schemas.openxmlformats.org/drawingml/2006/main" noGrp="1"/>
          </p:cNvSpPr>
          <p:nvPr/>
        </p:nvSpPr>
        <p:spPr>
          <a:xfrm xmlns:a="http://schemas.openxmlformats.org/drawingml/2006/main">
            <a:off x="5010150" y="2533650"/>
            <a:ext cx="1762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맑은 고딕"/>
                <a:ea typeface="맑은 고딕"/>
                <a:cs typeface="맑은 고딕"/>
              </a:defRPr>
            </a:pPr>
            <a:r>
              <a:rPr sz="1650" b="1">
                <a:solidFill>
                  <a:srgbClr val="FFFFFF"/>
                </a:solidFill>
                <a:latin typeface="맑은 고딕"/>
                <a:ea typeface="맑은 고딕"/>
                <a:cs typeface="맑은 고딕"/>
              </a:rPr>
              <a:t>연결</a:t>
            </a:r>
          </a:p>
        </p:txBody>
      </p:sp>
      <p:sp>
        <p:nvSpPr>
          <p:cNvPr id="17" name="">
            <a:extLst xmlns:a="http://schemas.openxmlformats.org/drawingml/2006/main">
              <a:ext uri="{FF2B5EF4-FFF2-40B4-BE49-F238E27FC236}">
                <a16:creationId xmlns:a16="http://schemas.microsoft.com/office/drawing/2014/main" id="{E7D6AFA2-7687-437F-8475-5B7A95D6AD9E}"/>
              </a:ext>
            </a:extLst>
          </p:cNvPr>
          <p:cNvSpPr>
            <a:spLocks xmlns:a="http://schemas.openxmlformats.org/drawingml/2006/main" noGrp="1"/>
          </p:cNvSpPr>
          <p:nvPr/>
        </p:nvSpPr>
        <p:spPr>
          <a:xfrm xmlns:a="http://schemas.openxmlformats.org/drawingml/2006/main">
            <a:off x="5010150" y="2952750"/>
            <a:ext cx="180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FB2BE"/>
                </a:solidFill>
                <a:latin typeface="맑은 고딕"/>
                <a:ea typeface="맑은 고딕"/>
                <a:cs typeface="맑은 고딕"/>
              </a:defRPr>
            </a:pPr>
            <a:r>
              <a:rPr sz="1050" b="0">
                <a:solidFill>
                  <a:srgbClr val="9FB2BE"/>
                </a:solidFill>
                <a:latin typeface="맑은 고딕"/>
                <a:ea typeface="맑은 고딕"/>
                <a:cs typeface="맑은 고딕"/>
              </a:rPr>
              <a:t>일정·결과·SMS·설문</a:t>
            </a:r>
          </a:p>
        </p:txBody>
      </p:sp>
      <p:sp>
        <p:nvSpPr>
          <p:cNvPr id="18" name="">
            <a:extLst xmlns:a="http://schemas.openxmlformats.org/drawingml/2006/main">
              <a:ext uri="{FF2B5EF4-FFF2-40B4-BE49-F238E27FC236}">
                <a16:creationId xmlns:a16="http://schemas.microsoft.com/office/drawing/2014/main" id="{6911214F-C94F-4D93-BDB2-E0EB81847318}"/>
              </a:ext>
            </a:extLst>
          </p:cNvPr>
          <p:cNvSpPr>
            <a:spLocks xmlns:a="http://schemas.openxmlformats.org/drawingml/2006/main" noGrp="1"/>
          </p:cNvSpPr>
          <p:nvPr/>
        </p:nvSpPr>
        <p:spPr>
          <a:xfrm xmlns:a="http://schemas.openxmlformats.org/drawingml/2006/main">
            <a:off x="7200900" y="1952625"/>
            <a:ext cx="1695450" cy="28575"/>
          </a:xfrm>
          <a:prstGeom xmlns:a="http://schemas.openxmlformats.org/drawingml/2006/main" prst="rect">
            <a:avLst/>
          </a:prstGeom>
          <a:solidFill xmlns:a="http://schemas.openxmlformats.org/drawingml/2006/main">
            <a:srgbClr val="FF6B4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53A175B-A14E-415D-A206-498409A3AF12}"/>
              </a:ext>
            </a:extLst>
          </p:cNvPr>
          <p:cNvSpPr>
            <a:spLocks xmlns:a="http://schemas.openxmlformats.org/drawingml/2006/main" noGrp="1"/>
          </p:cNvSpPr>
          <p:nvPr/>
        </p:nvSpPr>
        <p:spPr>
          <a:xfrm xmlns:a="http://schemas.openxmlformats.org/drawingml/2006/main">
            <a:off x="7200900" y="2133600"/>
            <a:ext cx="1762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6B4A"/>
                </a:solidFill>
                <a:latin typeface="맑은 고딕"/>
                <a:ea typeface="맑은 고딕"/>
                <a:cs typeface="맑은 고딕"/>
              </a:defRPr>
            </a:pPr>
            <a:r>
              <a:rPr sz="1050" b="1">
                <a:solidFill>
                  <a:srgbClr val="FF6B4A"/>
                </a:solidFill>
                <a:latin typeface="맑은 고딕"/>
                <a:ea typeface="맑은 고딕"/>
                <a:cs typeface="맑은 고딕"/>
              </a:rPr>
              <a:t>09.14</a:t>
            </a:r>
          </a:p>
        </p:txBody>
      </p:sp>
      <p:sp>
        <p:nvSpPr>
          <p:cNvPr id="20" name="">
            <a:extLst xmlns:a="http://schemas.openxmlformats.org/drawingml/2006/main">
              <a:ext uri="{FF2B5EF4-FFF2-40B4-BE49-F238E27FC236}">
                <a16:creationId xmlns:a16="http://schemas.microsoft.com/office/drawing/2014/main" id="{83AD429C-672E-449B-B612-DD18BFD4E471}"/>
              </a:ext>
            </a:extLst>
          </p:cNvPr>
          <p:cNvSpPr>
            <a:spLocks xmlns:a="http://schemas.openxmlformats.org/drawingml/2006/main" noGrp="1"/>
          </p:cNvSpPr>
          <p:nvPr/>
        </p:nvSpPr>
        <p:spPr>
          <a:xfrm xmlns:a="http://schemas.openxmlformats.org/drawingml/2006/main">
            <a:off x="7200900" y="2533650"/>
            <a:ext cx="1762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맑은 고딕"/>
                <a:ea typeface="맑은 고딕"/>
                <a:cs typeface="맑은 고딕"/>
              </a:defRPr>
            </a:pPr>
            <a:r>
              <a:rPr sz="1650" b="1">
                <a:solidFill>
                  <a:srgbClr val="FFFFFF"/>
                </a:solidFill>
                <a:latin typeface="맑은 고딕"/>
                <a:ea typeface="맑은 고딕"/>
                <a:cs typeface="맑은 고딕"/>
              </a:rPr>
              <a:t>개선</a:t>
            </a:r>
          </a:p>
        </p:txBody>
      </p:sp>
      <p:sp>
        <p:nvSpPr>
          <p:cNvPr id="21" name="">
            <a:extLst xmlns:a="http://schemas.openxmlformats.org/drawingml/2006/main">
              <a:ext uri="{FF2B5EF4-FFF2-40B4-BE49-F238E27FC236}">
                <a16:creationId xmlns:a16="http://schemas.microsoft.com/office/drawing/2014/main" id="{857C5786-B977-43F0-8775-80BE3A27FC57}"/>
              </a:ext>
            </a:extLst>
          </p:cNvPr>
          <p:cNvSpPr>
            <a:spLocks xmlns:a="http://schemas.openxmlformats.org/drawingml/2006/main" noGrp="1"/>
          </p:cNvSpPr>
          <p:nvPr/>
        </p:nvSpPr>
        <p:spPr>
          <a:xfrm xmlns:a="http://schemas.openxmlformats.org/drawingml/2006/main">
            <a:off x="7200900" y="2952750"/>
            <a:ext cx="180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FB2BE"/>
                </a:solidFill>
                <a:latin typeface="맑은 고딕"/>
                <a:ea typeface="맑은 고딕"/>
                <a:cs typeface="맑은 고딕"/>
              </a:defRPr>
            </a:pPr>
            <a:r>
              <a:rPr sz="1050" b="0">
                <a:solidFill>
                  <a:srgbClr val="9FB2BE"/>
                </a:solidFill>
                <a:latin typeface="맑은 고딕"/>
                <a:ea typeface="맑은 고딕"/>
                <a:cs typeface="맑은 고딕"/>
              </a:rPr>
              <a:t>오류 수정·통계·디자인 통합</a:t>
            </a:r>
          </a:p>
        </p:txBody>
      </p:sp>
      <p:sp>
        <p:nvSpPr>
          <p:cNvPr id="22" name="">
            <a:extLst xmlns:a="http://schemas.openxmlformats.org/drawingml/2006/main">
              <a:ext uri="{FF2B5EF4-FFF2-40B4-BE49-F238E27FC236}">
                <a16:creationId xmlns:a16="http://schemas.microsoft.com/office/drawing/2014/main" id="{6178459F-C203-4A20-A8EC-42CDCE1EC42D}"/>
              </a:ext>
            </a:extLst>
          </p:cNvPr>
          <p:cNvSpPr>
            <a:spLocks xmlns:a="http://schemas.openxmlformats.org/drawingml/2006/main" noGrp="1"/>
          </p:cNvSpPr>
          <p:nvPr/>
        </p:nvSpPr>
        <p:spPr>
          <a:xfrm xmlns:a="http://schemas.openxmlformats.org/drawingml/2006/main">
            <a:off x="9391650" y="1952625"/>
            <a:ext cx="1695450" cy="285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A69D4C5-0552-4C7F-99AC-5C66FB729332}"/>
              </a:ext>
            </a:extLst>
          </p:cNvPr>
          <p:cNvSpPr>
            <a:spLocks xmlns:a="http://schemas.openxmlformats.org/drawingml/2006/main" noGrp="1"/>
          </p:cNvSpPr>
          <p:nvPr/>
        </p:nvSpPr>
        <p:spPr>
          <a:xfrm xmlns:a="http://schemas.openxmlformats.org/drawingml/2006/main">
            <a:off x="9391650" y="2133600"/>
            <a:ext cx="1762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0D5C4"/>
                </a:solidFill>
                <a:latin typeface="맑은 고딕"/>
                <a:ea typeface="맑은 고딕"/>
                <a:cs typeface="맑은 고딕"/>
              </a:defRPr>
            </a:pPr>
            <a:r>
              <a:rPr sz="1050" b="1">
                <a:solidFill>
                  <a:srgbClr val="20D5C4"/>
                </a:solidFill>
                <a:latin typeface="맑은 고딕"/>
                <a:ea typeface="맑은 고딕"/>
                <a:cs typeface="맑은 고딕"/>
              </a:rPr>
              <a:t>09.15</a:t>
            </a:r>
          </a:p>
        </p:txBody>
      </p:sp>
      <p:sp>
        <p:nvSpPr>
          <p:cNvPr id="24" name="">
            <a:extLst xmlns:a="http://schemas.openxmlformats.org/drawingml/2006/main">
              <a:ext uri="{FF2B5EF4-FFF2-40B4-BE49-F238E27FC236}">
                <a16:creationId xmlns:a16="http://schemas.microsoft.com/office/drawing/2014/main" id="{3EA72179-70FD-48CC-8CF4-50CB1A3060DB}"/>
              </a:ext>
            </a:extLst>
          </p:cNvPr>
          <p:cNvSpPr>
            <a:spLocks xmlns:a="http://schemas.openxmlformats.org/drawingml/2006/main" noGrp="1"/>
          </p:cNvSpPr>
          <p:nvPr/>
        </p:nvSpPr>
        <p:spPr>
          <a:xfrm xmlns:a="http://schemas.openxmlformats.org/drawingml/2006/main">
            <a:off x="9391650" y="2533650"/>
            <a:ext cx="1762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맑은 고딕"/>
                <a:ea typeface="맑은 고딕"/>
                <a:cs typeface="맑은 고딕"/>
              </a:defRPr>
            </a:pPr>
            <a:r>
              <a:rPr sz="1650" b="1">
                <a:solidFill>
                  <a:srgbClr val="FFFFFF"/>
                </a:solidFill>
                <a:latin typeface="맑은 고딕"/>
                <a:ea typeface="맑은 고딕"/>
                <a:cs typeface="맑은 고딕"/>
              </a:rPr>
              <a:t>검증</a:t>
            </a:r>
          </a:p>
        </p:txBody>
      </p:sp>
      <p:sp>
        <p:nvSpPr>
          <p:cNvPr id="25" name="">
            <a:extLst xmlns:a="http://schemas.openxmlformats.org/drawingml/2006/main">
              <a:ext uri="{FF2B5EF4-FFF2-40B4-BE49-F238E27FC236}">
                <a16:creationId xmlns:a16="http://schemas.microsoft.com/office/drawing/2014/main" id="{102268ED-E3AC-49BA-91E5-D77D2511037B}"/>
              </a:ext>
            </a:extLst>
          </p:cNvPr>
          <p:cNvSpPr>
            <a:spLocks xmlns:a="http://schemas.openxmlformats.org/drawingml/2006/main" noGrp="1"/>
          </p:cNvSpPr>
          <p:nvPr/>
        </p:nvSpPr>
        <p:spPr>
          <a:xfrm xmlns:a="http://schemas.openxmlformats.org/drawingml/2006/main">
            <a:off x="9391650" y="2952750"/>
            <a:ext cx="180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FB2BE"/>
                </a:solidFill>
                <a:latin typeface="맑은 고딕"/>
                <a:ea typeface="맑은 고딕"/>
                <a:cs typeface="맑은 고딕"/>
              </a:defRPr>
            </a:pPr>
            <a:r>
              <a:rPr sz="1050" b="0">
                <a:solidFill>
                  <a:srgbClr val="9FB2BE"/>
                </a:solidFill>
                <a:latin typeface="맑은 고딕"/>
                <a:ea typeface="맑은 고딕"/>
                <a:cs typeface="맑은 고딕"/>
              </a:rPr>
              <a:t>더미 데이터·빌드·테스트</a:t>
            </a:r>
          </a:p>
        </p:txBody>
      </p:sp>
      <p:sp>
        <p:nvSpPr>
          <p:cNvPr id="26" name="">
            <a:extLst xmlns:a="http://schemas.openxmlformats.org/drawingml/2006/main">
              <a:ext uri="{FF2B5EF4-FFF2-40B4-BE49-F238E27FC236}">
                <a16:creationId xmlns:a16="http://schemas.microsoft.com/office/drawing/2014/main" id="{852B4D94-711C-4623-BC9B-56E6E1EDA0D7}"/>
              </a:ext>
            </a:extLst>
          </p:cNvPr>
          <p:cNvSpPr>
            <a:spLocks xmlns:a="http://schemas.openxmlformats.org/drawingml/2006/main" noGrp="1"/>
          </p:cNvSpPr>
          <p:nvPr/>
        </p:nvSpPr>
        <p:spPr>
          <a:xfrm xmlns:a="http://schemas.openxmlformats.org/drawingml/2006/main">
            <a:off x="628650" y="3943350"/>
            <a:ext cx="10934700" cy="9525"/>
          </a:xfrm>
          <a:prstGeom xmlns:a="http://schemas.openxmlformats.org/drawingml/2006/main" prst="rect">
            <a:avLst/>
          </a:prstGeom>
          <a:solidFill xmlns:a="http://schemas.openxmlformats.org/drawingml/2006/main">
            <a:srgbClr val="274251"/>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9743E66-46EA-4FA1-8E73-2910E0D327AE}"/>
              </a:ext>
            </a:extLst>
          </p:cNvPr>
          <p:cNvSpPr>
            <a:spLocks xmlns:a="http://schemas.openxmlformats.org/drawingml/2006/main" noGrp="1"/>
          </p:cNvSpPr>
          <p:nvPr/>
        </p:nvSpPr>
        <p:spPr>
          <a:xfrm xmlns:a="http://schemas.openxmlformats.org/drawingml/2006/main">
            <a:off x="628650" y="42481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ROLE OWNERSHIP</a:t>
            </a:r>
          </a:p>
        </p:txBody>
      </p:sp>
      <p:sp>
        <p:nvSpPr>
          <p:cNvPr id="28" name="">
            <a:extLst xmlns:a="http://schemas.openxmlformats.org/drawingml/2006/main">
              <a:ext uri="{FF2B5EF4-FFF2-40B4-BE49-F238E27FC236}">
                <a16:creationId xmlns:a16="http://schemas.microsoft.com/office/drawing/2014/main" id="{3D6CF05D-BB88-45EC-8CC5-9CD9DD694C43}"/>
              </a:ext>
            </a:extLst>
          </p:cNvPr>
          <p:cNvSpPr>
            <a:spLocks xmlns:a="http://schemas.openxmlformats.org/drawingml/2006/main" noGrp="1"/>
          </p:cNvSpPr>
          <p:nvPr/>
        </p:nvSpPr>
        <p:spPr>
          <a:xfrm xmlns:a="http://schemas.openxmlformats.org/drawingml/2006/main">
            <a:off x="628650" y="468630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FFFFF"/>
                </a:solidFill>
                <a:latin typeface="맑은 고딕"/>
                <a:ea typeface="맑은 고딕"/>
                <a:cs typeface="맑은 고딕"/>
              </a:defRPr>
            </a:pPr>
            <a:r>
              <a:rPr sz="1350" b="1">
                <a:solidFill>
                  <a:srgbClr val="FFFFFF"/>
                </a:solidFill>
                <a:latin typeface="맑은 고딕"/>
                <a:ea typeface="맑은 고딕"/>
                <a:cs typeface="맑은 고딕"/>
              </a:rPr>
              <a:t>공통·로그인·통합</a:t>
            </a:r>
          </a:p>
        </p:txBody>
      </p:sp>
      <p:sp>
        <p:nvSpPr>
          <p:cNvPr id="29" name="">
            <a:extLst xmlns:a="http://schemas.openxmlformats.org/drawingml/2006/main">
              <a:ext uri="{FF2B5EF4-FFF2-40B4-BE49-F238E27FC236}">
                <a16:creationId xmlns:a16="http://schemas.microsoft.com/office/drawing/2014/main" id="{D3F578A9-8517-4332-9F05-4F5FCC5EB937}"/>
              </a:ext>
            </a:extLst>
          </p:cNvPr>
          <p:cNvSpPr>
            <a:spLocks xmlns:a="http://schemas.openxmlformats.org/drawingml/2006/main" noGrp="1"/>
          </p:cNvSpPr>
          <p:nvPr/>
        </p:nvSpPr>
        <p:spPr>
          <a:xfrm xmlns:a="http://schemas.openxmlformats.org/drawingml/2006/main">
            <a:off x="628650" y="50482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1A5B2"/>
                </a:solidFill>
                <a:latin typeface="맑은 고딕"/>
                <a:ea typeface="맑은 고딕"/>
                <a:cs typeface="맑은 고딕"/>
              </a:defRPr>
            </a:pPr>
            <a:r>
              <a:rPr sz="1050" b="0">
                <a:solidFill>
                  <a:srgbClr val="91A5B2"/>
                </a:solidFill>
                <a:latin typeface="맑은 고딕"/>
                <a:ea typeface="맑은 고딕"/>
                <a:cs typeface="맑은 고딕"/>
              </a:rPr>
              <a:t>팀장명 입력</a:t>
            </a:r>
          </a:p>
        </p:txBody>
      </p:sp>
      <p:sp>
        <p:nvSpPr>
          <p:cNvPr id="30" name="">
            <a:extLst xmlns:a="http://schemas.openxmlformats.org/drawingml/2006/main">
              <a:ext uri="{FF2B5EF4-FFF2-40B4-BE49-F238E27FC236}">
                <a16:creationId xmlns:a16="http://schemas.microsoft.com/office/drawing/2014/main" id="{8F845C8E-757C-493F-BE39-BC0AACB04CD1}"/>
              </a:ext>
            </a:extLst>
          </p:cNvPr>
          <p:cNvSpPr>
            <a:spLocks xmlns:a="http://schemas.openxmlformats.org/drawingml/2006/main" noGrp="1"/>
          </p:cNvSpPr>
          <p:nvPr/>
        </p:nvSpPr>
        <p:spPr>
          <a:xfrm xmlns:a="http://schemas.openxmlformats.org/drawingml/2006/main">
            <a:off x="3333750" y="46863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FFFFF"/>
                </a:solidFill>
                <a:latin typeface="맑은 고딕"/>
                <a:ea typeface="맑은 고딕"/>
                <a:cs typeface="맑은 고딕"/>
              </a:defRPr>
            </a:pPr>
            <a:r>
              <a:rPr sz="1350" b="1">
                <a:solidFill>
                  <a:srgbClr val="FFFFFF"/>
                </a:solidFill>
                <a:latin typeface="맑은 고딕"/>
                <a:ea typeface="맑은 고딕"/>
                <a:cs typeface="맑은 고딕"/>
              </a:rPr>
              <a:t>관리자 대시보드·기사관리</a:t>
            </a:r>
          </a:p>
        </p:txBody>
      </p:sp>
      <p:sp>
        <p:nvSpPr>
          <p:cNvPr id="31" name="">
            <a:extLst xmlns:a="http://schemas.openxmlformats.org/drawingml/2006/main">
              <a:ext uri="{FF2B5EF4-FFF2-40B4-BE49-F238E27FC236}">
                <a16:creationId xmlns:a16="http://schemas.microsoft.com/office/drawing/2014/main" id="{4A81F98E-314C-459E-9235-4BA2B019C0F6}"/>
              </a:ext>
            </a:extLst>
          </p:cNvPr>
          <p:cNvSpPr>
            <a:spLocks xmlns:a="http://schemas.openxmlformats.org/drawingml/2006/main" noGrp="1"/>
          </p:cNvSpPr>
          <p:nvPr/>
        </p:nvSpPr>
        <p:spPr>
          <a:xfrm xmlns:a="http://schemas.openxmlformats.org/drawingml/2006/main">
            <a:off x="3333750" y="50482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6B4A"/>
                </a:solidFill>
                <a:latin typeface="맑은 고딕"/>
                <a:ea typeface="맑은 고딕"/>
                <a:cs typeface="맑은 고딕"/>
              </a:defRPr>
            </a:pPr>
            <a:r>
              <a:rPr sz="1050" b="1">
                <a:solidFill>
                  <a:srgbClr val="FF6B4A"/>
                </a:solidFill>
                <a:latin typeface="맑은 고딕"/>
                <a:ea typeface="맑은 고딕"/>
                <a:cs typeface="맑은 고딕"/>
              </a:rPr>
              <a:t>최준영</a:t>
            </a:r>
          </a:p>
        </p:txBody>
      </p:sp>
      <p:sp>
        <p:nvSpPr>
          <p:cNvPr id="32" name="">
            <a:extLst xmlns:a="http://schemas.openxmlformats.org/drawingml/2006/main">
              <a:ext uri="{FF2B5EF4-FFF2-40B4-BE49-F238E27FC236}">
                <a16:creationId xmlns:a16="http://schemas.microsoft.com/office/drawing/2014/main" id="{15933CDE-4996-47F0-8DBF-C8D7BE8DF600}"/>
              </a:ext>
            </a:extLst>
          </p:cNvPr>
          <p:cNvSpPr>
            <a:spLocks xmlns:a="http://schemas.openxmlformats.org/drawingml/2006/main" noGrp="1"/>
          </p:cNvSpPr>
          <p:nvPr/>
        </p:nvSpPr>
        <p:spPr>
          <a:xfrm xmlns:a="http://schemas.openxmlformats.org/drawingml/2006/main">
            <a:off x="6172200" y="46863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FFFFF"/>
                </a:solidFill>
                <a:latin typeface="맑은 고딕"/>
                <a:ea typeface="맑은 고딕"/>
                <a:cs typeface="맑은 고딕"/>
              </a:defRPr>
            </a:pPr>
            <a:r>
              <a:rPr sz="1350" b="1">
                <a:solidFill>
                  <a:srgbClr val="FFFFFF"/>
                </a:solidFill>
                <a:latin typeface="맑은 고딕"/>
                <a:ea typeface="맑은 고딕"/>
                <a:cs typeface="맑은 고딕"/>
              </a:rPr>
              <a:t>관리자 일정관리</a:t>
            </a:r>
          </a:p>
        </p:txBody>
      </p:sp>
      <p:sp>
        <p:nvSpPr>
          <p:cNvPr id="33" name="">
            <a:extLst xmlns:a="http://schemas.openxmlformats.org/drawingml/2006/main">
              <a:ext uri="{FF2B5EF4-FFF2-40B4-BE49-F238E27FC236}">
                <a16:creationId xmlns:a16="http://schemas.microsoft.com/office/drawing/2014/main" id="{9D52C118-7701-4ABF-BC80-93C390C150FB}"/>
              </a:ext>
            </a:extLst>
          </p:cNvPr>
          <p:cNvSpPr>
            <a:spLocks xmlns:a="http://schemas.openxmlformats.org/drawingml/2006/main" noGrp="1"/>
          </p:cNvSpPr>
          <p:nvPr/>
        </p:nvSpPr>
        <p:spPr>
          <a:xfrm xmlns:a="http://schemas.openxmlformats.org/drawingml/2006/main">
            <a:off x="6172200" y="50482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BBDD3C"/>
                </a:solidFill>
                <a:latin typeface="맑은 고딕"/>
                <a:ea typeface="맑은 고딕"/>
                <a:cs typeface="맑은 고딕"/>
              </a:defRPr>
            </a:pPr>
            <a:r>
              <a:rPr sz="1050" b="1">
                <a:solidFill>
                  <a:srgbClr val="BBDD3C"/>
                </a:solidFill>
                <a:latin typeface="맑은 고딕"/>
                <a:ea typeface="맑은 고딕"/>
                <a:cs typeface="맑은 고딕"/>
              </a:rPr>
              <a:t>김성준</a:t>
            </a:r>
          </a:p>
        </p:txBody>
      </p:sp>
      <p:sp>
        <p:nvSpPr>
          <p:cNvPr id="34" name="">
            <a:extLst xmlns:a="http://schemas.openxmlformats.org/drawingml/2006/main">
              <a:ext uri="{FF2B5EF4-FFF2-40B4-BE49-F238E27FC236}">
                <a16:creationId xmlns:a16="http://schemas.microsoft.com/office/drawing/2014/main" id="{747FCF09-850D-4031-8394-4F98EFCED302}"/>
              </a:ext>
            </a:extLst>
          </p:cNvPr>
          <p:cNvSpPr>
            <a:spLocks xmlns:a="http://schemas.openxmlformats.org/drawingml/2006/main" noGrp="1"/>
          </p:cNvSpPr>
          <p:nvPr/>
        </p:nvSpPr>
        <p:spPr>
          <a:xfrm xmlns:a="http://schemas.openxmlformats.org/drawingml/2006/main">
            <a:off x="8782050" y="4686300"/>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FFFFF"/>
                </a:solidFill>
                <a:latin typeface="맑은 고딕"/>
                <a:ea typeface="맑은 고딕"/>
                <a:cs typeface="맑은 고딕"/>
              </a:defRPr>
            </a:pPr>
            <a:r>
              <a:rPr sz="1350" b="1">
                <a:solidFill>
                  <a:srgbClr val="FFFFFF"/>
                </a:solidFill>
                <a:latin typeface="맑은 고딕"/>
                <a:ea typeface="맑은 고딕"/>
                <a:cs typeface="맑은 고딕"/>
              </a:rPr>
              <a:t>기사·결과·SMS·만족도</a:t>
            </a:r>
          </a:p>
        </p:txBody>
      </p:sp>
      <p:sp>
        <p:nvSpPr>
          <p:cNvPr id="35" name="">
            <a:extLst xmlns:a="http://schemas.openxmlformats.org/drawingml/2006/main">
              <a:ext uri="{FF2B5EF4-FFF2-40B4-BE49-F238E27FC236}">
                <a16:creationId xmlns:a16="http://schemas.microsoft.com/office/drawing/2014/main" id="{1924A8D6-F130-4D6B-88CE-9A15A6052557}"/>
              </a:ext>
            </a:extLst>
          </p:cNvPr>
          <p:cNvSpPr>
            <a:spLocks xmlns:a="http://schemas.openxmlformats.org/drawingml/2006/main" noGrp="1"/>
          </p:cNvSpPr>
          <p:nvPr/>
        </p:nvSpPr>
        <p:spPr>
          <a:xfrm xmlns:a="http://schemas.openxmlformats.org/drawingml/2006/main">
            <a:off x="8782050" y="50482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0D5C4"/>
                </a:solidFill>
                <a:latin typeface="맑은 고딕"/>
                <a:ea typeface="맑은 고딕"/>
                <a:cs typeface="맑은 고딕"/>
              </a:defRPr>
            </a:pPr>
            <a:r>
              <a:rPr sz="1050" b="1">
                <a:solidFill>
                  <a:srgbClr val="20D5C4"/>
                </a:solidFill>
                <a:latin typeface="맑은 고딕"/>
                <a:ea typeface="맑은 고딕"/>
                <a:cs typeface="맑은 고딕"/>
              </a:rPr>
              <a:t>박성인</a:t>
            </a:r>
          </a:p>
        </p:txBody>
      </p:sp>
      <p:sp>
        <p:nvSpPr>
          <p:cNvPr id="36" name="">
            <a:extLst xmlns:a="http://schemas.openxmlformats.org/drawingml/2006/main">
              <a:ext uri="{FF2B5EF4-FFF2-40B4-BE49-F238E27FC236}">
                <a16:creationId xmlns:a16="http://schemas.microsoft.com/office/drawing/2014/main" id="{5563F73E-78BD-405E-BA78-1EF41CC2F4DD}"/>
              </a:ext>
            </a:extLst>
          </p:cNvPr>
          <p:cNvSpPr>
            <a:spLocks xmlns:a="http://schemas.openxmlformats.org/drawingml/2006/main" noGrp="1"/>
          </p:cNvSpPr>
          <p:nvPr/>
        </p:nvSpPr>
        <p:spPr>
          <a:xfrm xmlns:a="http://schemas.openxmlformats.org/drawingml/2006/main">
            <a:off x="628650" y="59436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8298A6"/>
                </a:solidFill>
                <a:latin typeface="맑은 고딕"/>
                <a:ea typeface="맑은 고딕"/>
                <a:cs typeface="맑은 고딕"/>
              </a:defRPr>
            </a:pPr>
            <a:r>
              <a:rPr sz="975" b="0">
                <a:solidFill>
                  <a:srgbClr val="8298A6"/>
                </a:solidFill>
                <a:latin typeface="맑은 고딕"/>
                <a:ea typeface="맑은 고딕"/>
                <a:cs typeface="맑은 고딕"/>
              </a:rPr>
              <a:t>멘토 지원 내역은 실제 피드백 내용 입력 필요</a:t>
            </a:r>
          </a:p>
        </p:txBody>
      </p:sp>
    </p:spTree>
    <p:extLst>
      <p:ext uri="{BB962C8B-B14F-4D97-AF65-F5344CB8AC3E}">
        <p14:creationId xmlns:p14="http://schemas.microsoft.com/office/powerpoint/2010/main" val="17441282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BECB099-6957-4601-8A52-06F89A905B98}"/>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DB5392-6778-4886-B3AE-B5E1208E6404}"/>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3F8DA64B-66F8-4DE5-9717-BD279CABFBE0}"/>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9BACB7"/>
                </a:solidFill>
                <a:latin typeface="맑은 고딕"/>
                <a:ea typeface="맑은 고딕"/>
                <a:cs typeface="맑은 고딕"/>
              </a:defRPr>
            </a:pPr>
            <a:r>
              <a:rPr sz="825" b="1">
                <a:solidFill>
                  <a:srgbClr val="9BACB7"/>
                </a:solidFill>
                <a:latin typeface="맑은 고딕"/>
                <a:ea typeface="맑은 고딕"/>
                <a:cs typeface="맑은 고딕"/>
              </a:rPr>
              <a:t>11</a:t>
            </a:r>
          </a:p>
        </p:txBody>
      </p:sp>
      <p:sp>
        <p:nvSpPr>
          <p:cNvPr id="4" name="">
            <a:extLst xmlns:a="http://schemas.openxmlformats.org/drawingml/2006/main">
              <a:ext uri="{FF2B5EF4-FFF2-40B4-BE49-F238E27FC236}">
                <a16:creationId xmlns:a16="http://schemas.microsoft.com/office/drawing/2014/main" id="{551395CB-034C-4A98-A891-D40E01C37E6C}"/>
              </a:ext>
            </a:extLst>
          </p:cNvPr>
          <p:cNvSpPr>
            <a:spLocks xmlns:a="http://schemas.openxmlformats.org/drawingml/2006/main" noGrp="1"/>
          </p:cNvSpPr>
          <p:nvPr/>
        </p:nvSpPr>
        <p:spPr>
          <a:xfrm xmlns:a="http://schemas.openxmlformats.org/drawingml/2006/main">
            <a:off x="628650" y="552450"/>
            <a:ext cx="704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ENGINEERING</a:t>
            </a:r>
          </a:p>
        </p:txBody>
      </p:sp>
      <p:sp>
        <p:nvSpPr>
          <p:cNvPr id="5" name="">
            <a:extLst xmlns:a="http://schemas.openxmlformats.org/drawingml/2006/main">
              <a:ext uri="{FF2B5EF4-FFF2-40B4-BE49-F238E27FC236}">
                <a16:creationId xmlns:a16="http://schemas.microsoft.com/office/drawing/2014/main" id="{70F5AD33-875D-437E-BC38-E6BEE6379B90}"/>
              </a:ext>
            </a:extLst>
          </p:cNvPr>
          <p:cNvSpPr>
            <a:spLocks xmlns:a="http://schemas.openxmlformats.org/drawingml/2006/main" noGrp="1"/>
          </p:cNvSpPr>
          <p:nvPr/>
        </p:nvSpPr>
        <p:spPr>
          <a:xfrm xmlns:a="http://schemas.openxmlformats.org/drawingml/2006/main">
            <a:off x="628650" y="8763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7131F"/>
                </a:solidFill>
                <a:latin typeface="맑은 고딕"/>
                <a:ea typeface="맑은 고딕"/>
                <a:cs typeface="맑은 고딕"/>
              </a:defRPr>
            </a:pPr>
            <a:r>
              <a:rPr sz="2550" b="1">
                <a:solidFill>
                  <a:srgbClr val="07131F"/>
                </a:solidFill>
                <a:latin typeface="맑은 고딕"/>
                <a:ea typeface="맑은 고딕"/>
                <a:cs typeface="맑은 고딕"/>
              </a:rPr>
              <a:t>교육과정의 기술을 실제 서비스 흐름으로 구현</a:t>
            </a:r>
          </a:p>
        </p:txBody>
      </p:sp>
      <p:sp>
        <p:nvSpPr>
          <p:cNvPr id="6" name="">
            <a:extLst xmlns:a="http://schemas.openxmlformats.org/drawingml/2006/main">
              <a:ext uri="{FF2B5EF4-FFF2-40B4-BE49-F238E27FC236}">
                <a16:creationId xmlns:a16="http://schemas.microsoft.com/office/drawing/2014/main" id="{F905A8E4-5AA5-48F3-84EC-28F54B111BC9}"/>
              </a:ext>
            </a:extLst>
          </p:cNvPr>
          <p:cNvSpPr>
            <a:spLocks xmlns:a="http://schemas.openxmlformats.org/drawingml/2006/main" noGrp="1"/>
          </p:cNvSpPr>
          <p:nvPr/>
        </p:nvSpPr>
        <p:spPr>
          <a:xfrm xmlns:a="http://schemas.openxmlformats.org/drawingml/2006/main">
            <a:off x="628650" y="157162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295"/>
                </a:solidFill>
                <a:latin typeface="맑은 고딕"/>
                <a:ea typeface="맑은 고딕"/>
                <a:cs typeface="맑은 고딕"/>
              </a:defRPr>
            </a:pPr>
            <a:r>
              <a:rPr sz="1350" b="0">
                <a:solidFill>
                  <a:srgbClr val="718295"/>
                </a:solidFill>
                <a:latin typeface="맑은 고딕"/>
                <a:ea typeface="맑은 고딕"/>
                <a:cs typeface="맑은 고딕"/>
              </a:rPr>
              <a:t>Java 17 · Spring Boot 4.0.8 · Thymeleaf · MyBatis · MariaDB · FullCalendar · Solapi</a:t>
            </a:r>
          </a:p>
        </p:txBody>
      </p:sp>
      <p:sp>
        <p:nvSpPr>
          <p:cNvPr id="7" name="">
            <a:extLst xmlns:a="http://schemas.openxmlformats.org/drawingml/2006/main">
              <a:ext uri="{FF2B5EF4-FFF2-40B4-BE49-F238E27FC236}">
                <a16:creationId xmlns:a16="http://schemas.microsoft.com/office/drawing/2014/main" id="{443E2036-EDAD-47CB-B94A-CCCD8F8E9A77}"/>
              </a:ext>
            </a:extLst>
          </p:cNvPr>
          <p:cNvSpPr>
            <a:spLocks xmlns:a="http://schemas.openxmlformats.org/drawingml/2006/main" noGrp="1"/>
          </p:cNvSpPr>
          <p:nvPr/>
        </p:nvSpPr>
        <p:spPr>
          <a:xfrm xmlns:a="http://schemas.openxmlformats.org/drawingml/2006/main">
            <a:off x="628650" y="22288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AFA8"/>
                </a:solidFill>
                <a:latin typeface="맑은 고딕"/>
                <a:ea typeface="맑은 고딕"/>
                <a:cs typeface="맑은 고딕"/>
              </a:defRPr>
            </a:pPr>
            <a:r>
              <a:rPr sz="1200" b="1">
                <a:solidFill>
                  <a:srgbClr val="00AFA8"/>
                </a:solidFill>
                <a:latin typeface="맑은 고딕"/>
                <a:ea typeface="맑은 고딕"/>
                <a:cs typeface="맑은 고딕"/>
              </a:rPr>
              <a:t>구현 근거</a:t>
            </a:r>
          </a:p>
        </p:txBody>
      </p:sp>
      <p:sp>
        <p:nvSpPr>
          <p:cNvPr id="8" name="">
            <a:extLst xmlns:a="http://schemas.openxmlformats.org/drawingml/2006/main">
              <a:ext uri="{FF2B5EF4-FFF2-40B4-BE49-F238E27FC236}">
                <a16:creationId xmlns:a16="http://schemas.microsoft.com/office/drawing/2014/main" id="{E5DB33D8-0DD1-4816-937F-B03872588EF4}"/>
              </a:ext>
            </a:extLst>
          </p:cNvPr>
          <p:cNvSpPr>
            <a:spLocks xmlns:a="http://schemas.openxmlformats.org/drawingml/2006/main" noGrp="1"/>
          </p:cNvSpPr>
          <p:nvPr/>
        </p:nvSpPr>
        <p:spPr>
          <a:xfrm xmlns:a="http://schemas.openxmlformats.org/drawingml/2006/main">
            <a:off x="628650" y="26479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AFA8"/>
                </a:solidFill>
                <a:latin typeface="맑은 고딕"/>
                <a:ea typeface="맑은 고딕"/>
                <a:cs typeface="맑은 고딕"/>
              </a:defRPr>
            </a:pPr>
            <a:r>
              <a:rPr sz="2850" b="1">
                <a:solidFill>
                  <a:srgbClr val="00AFA8"/>
                </a:solidFill>
                <a:latin typeface="맑은 고딕"/>
                <a:ea typeface="맑은 고딕"/>
                <a:cs typeface="맑은 고딕"/>
              </a:rPr>
              <a:t>6</a:t>
            </a:r>
          </a:p>
        </p:txBody>
      </p:sp>
      <p:sp>
        <p:nvSpPr>
          <p:cNvPr id="9" name="">
            <a:extLst xmlns:a="http://schemas.openxmlformats.org/drawingml/2006/main">
              <a:ext uri="{FF2B5EF4-FFF2-40B4-BE49-F238E27FC236}">
                <a16:creationId xmlns:a16="http://schemas.microsoft.com/office/drawing/2014/main" id="{C8CF12AD-4956-4E50-9229-81912F5A2663}"/>
              </a:ext>
            </a:extLst>
          </p:cNvPr>
          <p:cNvSpPr>
            <a:spLocks xmlns:a="http://schemas.openxmlformats.org/drawingml/2006/main" noGrp="1"/>
          </p:cNvSpPr>
          <p:nvPr/>
        </p:nvSpPr>
        <p:spPr>
          <a:xfrm xmlns:a="http://schemas.openxmlformats.org/drawingml/2006/main">
            <a:off x="628650" y="3181350"/>
            <a:ext cx="1952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연결된 DB 테이블</a:t>
            </a:r>
          </a:p>
        </p:txBody>
      </p:sp>
      <p:sp>
        <p:nvSpPr>
          <p:cNvPr id="10" name="">
            <a:extLst xmlns:a="http://schemas.openxmlformats.org/drawingml/2006/main">
              <a:ext uri="{FF2B5EF4-FFF2-40B4-BE49-F238E27FC236}">
                <a16:creationId xmlns:a16="http://schemas.microsoft.com/office/drawing/2014/main" id="{E58BC8AF-91DF-4A4D-817E-F4263A9BA339}"/>
              </a:ext>
            </a:extLst>
          </p:cNvPr>
          <p:cNvSpPr>
            <a:spLocks xmlns:a="http://schemas.openxmlformats.org/drawingml/2006/main" noGrp="1"/>
          </p:cNvSpPr>
          <p:nvPr/>
        </p:nvSpPr>
        <p:spPr>
          <a:xfrm xmlns:a="http://schemas.openxmlformats.org/drawingml/2006/main">
            <a:off x="2857500" y="26479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6B4A"/>
                </a:solidFill>
                <a:latin typeface="맑은 고딕"/>
                <a:ea typeface="맑은 고딕"/>
                <a:cs typeface="맑은 고딕"/>
              </a:defRPr>
            </a:pPr>
            <a:r>
              <a:rPr sz="2850" b="1">
                <a:solidFill>
                  <a:srgbClr val="FF6B4A"/>
                </a:solidFill>
                <a:latin typeface="맑은 고딕"/>
                <a:ea typeface="맑은 고딕"/>
                <a:cs typeface="맑은 고딕"/>
              </a:rPr>
              <a:t>4</a:t>
            </a:r>
          </a:p>
        </p:txBody>
      </p:sp>
      <p:sp>
        <p:nvSpPr>
          <p:cNvPr id="11" name="">
            <a:extLst xmlns:a="http://schemas.openxmlformats.org/drawingml/2006/main">
              <a:ext uri="{FF2B5EF4-FFF2-40B4-BE49-F238E27FC236}">
                <a16:creationId xmlns:a16="http://schemas.microsoft.com/office/drawing/2014/main" id="{6F6BDFCF-F7C5-43EB-A6E3-95BE9DB8C79B}"/>
              </a:ext>
            </a:extLst>
          </p:cNvPr>
          <p:cNvSpPr>
            <a:spLocks xmlns:a="http://schemas.openxmlformats.org/drawingml/2006/main" noGrp="1"/>
          </p:cNvSpPr>
          <p:nvPr/>
        </p:nvSpPr>
        <p:spPr>
          <a:xfrm xmlns:a="http://schemas.openxmlformats.org/drawingml/2006/main">
            <a:off x="2857500" y="3181350"/>
            <a:ext cx="1952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자동 테스트 통과</a:t>
            </a:r>
          </a:p>
        </p:txBody>
      </p:sp>
      <p:sp>
        <p:nvSpPr>
          <p:cNvPr id="12" name="">
            <a:extLst xmlns:a="http://schemas.openxmlformats.org/drawingml/2006/main">
              <a:ext uri="{FF2B5EF4-FFF2-40B4-BE49-F238E27FC236}">
                <a16:creationId xmlns:a16="http://schemas.microsoft.com/office/drawing/2014/main" id="{96A60035-54D9-4308-ABBE-D0A935D00E1F}"/>
              </a:ext>
            </a:extLst>
          </p:cNvPr>
          <p:cNvSpPr>
            <a:spLocks xmlns:a="http://schemas.openxmlformats.org/drawingml/2006/main" noGrp="1"/>
          </p:cNvSpPr>
          <p:nvPr/>
        </p:nvSpPr>
        <p:spPr>
          <a:xfrm xmlns:a="http://schemas.openxmlformats.org/drawingml/2006/main">
            <a:off x="5086350" y="26479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BBDD3C"/>
                </a:solidFill>
                <a:latin typeface="맑은 고딕"/>
                <a:ea typeface="맑은 고딕"/>
                <a:cs typeface="맑은 고딕"/>
              </a:defRPr>
            </a:pPr>
            <a:r>
              <a:rPr sz="2850" b="1">
                <a:solidFill>
                  <a:srgbClr val="BBDD3C"/>
                </a:solidFill>
                <a:latin typeface="맑은 고딕"/>
                <a:ea typeface="맑은 고딕"/>
                <a:cs typeface="맑은 고딕"/>
              </a:rPr>
              <a:t>2</a:t>
            </a:r>
          </a:p>
        </p:txBody>
      </p:sp>
      <p:sp>
        <p:nvSpPr>
          <p:cNvPr id="13" name="">
            <a:extLst xmlns:a="http://schemas.openxmlformats.org/drawingml/2006/main">
              <a:ext uri="{FF2B5EF4-FFF2-40B4-BE49-F238E27FC236}">
                <a16:creationId xmlns:a16="http://schemas.microsoft.com/office/drawing/2014/main" id="{717D5C5F-1C6D-4381-881A-D1B69E51804F}"/>
              </a:ext>
            </a:extLst>
          </p:cNvPr>
          <p:cNvSpPr>
            <a:spLocks xmlns:a="http://schemas.openxmlformats.org/drawingml/2006/main" noGrp="1"/>
          </p:cNvSpPr>
          <p:nvPr/>
        </p:nvSpPr>
        <p:spPr>
          <a:xfrm xmlns:a="http://schemas.openxmlformats.org/drawingml/2006/main">
            <a:off x="5086350" y="3181350"/>
            <a:ext cx="1952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결과 사진 최대 첨부</a:t>
            </a:r>
          </a:p>
        </p:txBody>
      </p:sp>
      <p:sp>
        <p:nvSpPr>
          <p:cNvPr id="14" name="">
            <a:extLst xmlns:a="http://schemas.openxmlformats.org/drawingml/2006/main">
              <a:ext uri="{FF2B5EF4-FFF2-40B4-BE49-F238E27FC236}">
                <a16:creationId xmlns:a16="http://schemas.microsoft.com/office/drawing/2014/main" id="{41299C3B-8546-45E4-A9F5-9E11CCEDE6C4}"/>
              </a:ext>
            </a:extLst>
          </p:cNvPr>
          <p:cNvSpPr>
            <a:spLocks xmlns:a="http://schemas.openxmlformats.org/drawingml/2006/main" noGrp="1"/>
          </p:cNvSpPr>
          <p:nvPr/>
        </p:nvSpPr>
        <p:spPr>
          <a:xfrm xmlns:a="http://schemas.openxmlformats.org/drawingml/2006/main">
            <a:off x="628650" y="3943350"/>
            <a:ext cx="6429375" cy="9525"/>
          </a:xfrm>
          <a:prstGeom xmlns:a="http://schemas.openxmlformats.org/drawingml/2006/main" prst="rect">
            <a:avLst/>
          </a:prstGeom>
          <a:solidFill xmlns:a="http://schemas.openxmlformats.org/drawingml/2006/main">
            <a:srgbClr val="DCE5E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A83E31D-20CF-4466-B391-8062433C9419}"/>
              </a:ext>
            </a:extLst>
          </p:cNvPr>
          <p:cNvSpPr>
            <a:spLocks xmlns:a="http://schemas.openxmlformats.org/drawingml/2006/main" noGrp="1"/>
          </p:cNvSpPr>
          <p:nvPr/>
        </p:nvSpPr>
        <p:spPr>
          <a:xfrm xmlns:a="http://schemas.openxmlformats.org/drawingml/2006/main">
            <a:off x="628650" y="42481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AFA8"/>
                </a:solidFill>
                <a:latin typeface="맑은 고딕"/>
                <a:ea typeface="맑은 고딕"/>
                <a:cs typeface="맑은 고딕"/>
              </a:defRPr>
            </a:pPr>
            <a:r>
              <a:rPr sz="1200" b="1">
                <a:solidFill>
                  <a:srgbClr val="00AFA8"/>
                </a:solidFill>
                <a:latin typeface="맑은 고딕"/>
                <a:ea typeface="맑은 고딕"/>
                <a:cs typeface="맑은 고딕"/>
              </a:rPr>
              <a:t>피드백을 반영한 개선</a:t>
            </a:r>
          </a:p>
        </p:txBody>
      </p:sp>
      <p:sp>
        <p:nvSpPr>
          <p:cNvPr id="16" name="">
            <a:extLst xmlns:a="http://schemas.openxmlformats.org/drawingml/2006/main">
              <a:ext uri="{FF2B5EF4-FFF2-40B4-BE49-F238E27FC236}">
                <a16:creationId xmlns:a16="http://schemas.microsoft.com/office/drawing/2014/main" id="{4D861052-B42E-4CDB-BF90-F8A1ABEB1304}"/>
              </a:ext>
            </a:extLst>
          </p:cNvPr>
          <p:cNvSpPr>
            <a:spLocks xmlns:a="http://schemas.openxmlformats.org/drawingml/2006/main" noGrp="1"/>
          </p:cNvSpPr>
          <p:nvPr/>
        </p:nvSpPr>
        <p:spPr>
          <a:xfrm xmlns:a="http://schemas.openxmlformats.org/drawingml/2006/main">
            <a:off x="628650" y="47053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7131F"/>
                </a:solidFill>
                <a:latin typeface="맑은 고딕"/>
                <a:ea typeface="맑은 고딕"/>
                <a:cs typeface="맑은 고딕"/>
              </a:defRPr>
            </a:pPr>
            <a:r>
              <a:rPr sz="1275" b="1">
                <a:solidFill>
                  <a:srgbClr val="07131F"/>
                </a:solidFill>
                <a:latin typeface="맑은 고딕"/>
                <a:ea typeface="맑은 고딕"/>
                <a:cs typeface="맑은 고딕"/>
              </a:rPr>
              <a:t>기사번호 혼동</a:t>
            </a:r>
          </a:p>
        </p:txBody>
      </p:sp>
      <p:sp>
        <p:nvSpPr>
          <p:cNvPr id="17" name="">
            <a:extLst xmlns:a="http://schemas.openxmlformats.org/drawingml/2006/main">
              <a:ext uri="{FF2B5EF4-FFF2-40B4-BE49-F238E27FC236}">
                <a16:creationId xmlns:a16="http://schemas.microsoft.com/office/drawing/2014/main" id="{55073F48-959F-4898-98F3-B617AD36EC09}"/>
              </a:ext>
            </a:extLst>
          </p:cNvPr>
          <p:cNvSpPr>
            <a:spLocks xmlns:a="http://schemas.openxmlformats.org/drawingml/2006/main" noGrp="1"/>
          </p:cNvSpPr>
          <p:nvPr/>
        </p:nvSpPr>
        <p:spPr>
          <a:xfrm xmlns:a="http://schemas.openxmlformats.org/drawingml/2006/main">
            <a:off x="2590800" y="470535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18295"/>
                </a:solidFill>
                <a:latin typeface="맑은 고딕"/>
                <a:ea typeface="맑은 고딕"/>
                <a:cs typeface="맑은 고딕"/>
              </a:defRPr>
            </a:pPr>
            <a:r>
              <a:rPr sz="1200" b="0">
                <a:solidFill>
                  <a:srgbClr val="718295"/>
                </a:solidFill>
                <a:latin typeface="맑은 고딕"/>
                <a:ea typeface="맑은 고딕"/>
                <a:cs typeface="맑은 고딕"/>
              </a:rPr>
              <a:t>MEMBER 번호와 ENGINEER 번호를 분리 조회</a:t>
            </a:r>
          </a:p>
        </p:txBody>
      </p:sp>
      <p:sp>
        <p:nvSpPr>
          <p:cNvPr id="18" name="">
            <a:extLst xmlns:a="http://schemas.openxmlformats.org/drawingml/2006/main">
              <a:ext uri="{FF2B5EF4-FFF2-40B4-BE49-F238E27FC236}">
                <a16:creationId xmlns:a16="http://schemas.microsoft.com/office/drawing/2014/main" id="{D507785B-04C5-4215-A57C-D33583777EB2}"/>
              </a:ext>
            </a:extLst>
          </p:cNvPr>
          <p:cNvSpPr>
            <a:spLocks xmlns:a="http://schemas.openxmlformats.org/drawingml/2006/main" noGrp="1"/>
          </p:cNvSpPr>
          <p:nvPr/>
        </p:nvSpPr>
        <p:spPr>
          <a:xfrm xmlns:a="http://schemas.openxmlformats.org/drawingml/2006/main">
            <a:off x="628650" y="52197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7131F"/>
                </a:solidFill>
                <a:latin typeface="맑은 고딕"/>
                <a:ea typeface="맑은 고딕"/>
                <a:cs typeface="맑은 고딕"/>
              </a:defRPr>
            </a:pPr>
            <a:r>
              <a:rPr sz="1275" b="1">
                <a:solidFill>
                  <a:srgbClr val="07131F"/>
                </a:solidFill>
                <a:latin typeface="맑은 고딕"/>
                <a:ea typeface="맑은 고딕"/>
                <a:cs typeface="맑은 고딕"/>
              </a:rPr>
              <a:t>외부 설문 한계</a:t>
            </a:r>
          </a:p>
        </p:txBody>
      </p:sp>
      <p:sp>
        <p:nvSpPr>
          <p:cNvPr id="19" name="">
            <a:extLst xmlns:a="http://schemas.openxmlformats.org/drawingml/2006/main">
              <a:ext uri="{FF2B5EF4-FFF2-40B4-BE49-F238E27FC236}">
                <a16:creationId xmlns:a16="http://schemas.microsoft.com/office/drawing/2014/main" id="{50C74666-80C4-427C-969F-74205A24396A}"/>
              </a:ext>
            </a:extLst>
          </p:cNvPr>
          <p:cNvSpPr>
            <a:spLocks xmlns:a="http://schemas.openxmlformats.org/drawingml/2006/main" noGrp="1"/>
          </p:cNvSpPr>
          <p:nvPr/>
        </p:nvSpPr>
        <p:spPr>
          <a:xfrm xmlns:a="http://schemas.openxmlformats.org/drawingml/2006/main">
            <a:off x="2590800" y="521970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18295"/>
                </a:solidFill>
                <a:latin typeface="맑은 고딕"/>
                <a:ea typeface="맑은 고딕"/>
                <a:cs typeface="맑은 고딕"/>
              </a:defRPr>
            </a:pPr>
            <a:r>
              <a:rPr sz="1200" b="0">
                <a:solidFill>
                  <a:srgbClr val="718295"/>
                </a:solidFill>
                <a:latin typeface="맑은 고딕"/>
                <a:ea typeface="맑은 고딕"/>
                <a:cs typeface="맑은 고딕"/>
              </a:rPr>
              <a:t>자체 설문으로 전환해 DB 통계까지 연결</a:t>
            </a:r>
          </a:p>
        </p:txBody>
      </p:sp>
      <p:sp>
        <p:nvSpPr>
          <p:cNvPr id="20" name="">
            <a:extLst xmlns:a="http://schemas.openxmlformats.org/drawingml/2006/main">
              <a:ext uri="{FF2B5EF4-FFF2-40B4-BE49-F238E27FC236}">
                <a16:creationId xmlns:a16="http://schemas.microsoft.com/office/drawing/2014/main" id="{A7A035CC-68DD-42B7-8C5F-1A487C72BB4C}"/>
              </a:ext>
            </a:extLst>
          </p:cNvPr>
          <p:cNvSpPr>
            <a:spLocks xmlns:a="http://schemas.openxmlformats.org/drawingml/2006/main" noGrp="1"/>
          </p:cNvSpPr>
          <p:nvPr/>
        </p:nvSpPr>
        <p:spPr>
          <a:xfrm xmlns:a="http://schemas.openxmlformats.org/drawingml/2006/main">
            <a:off x="7600950" y="2228850"/>
            <a:ext cx="3962400" cy="3333750"/>
          </a:xfrm>
          <a:prstGeom xmlns:a="http://schemas.openxmlformats.org/drawingml/2006/main" prst="roundRect">
            <a:avLst>
              <a:gd name="adj" fmla="val 2286"/>
            </a:avLst>
          </a:prstGeom>
          <a:solidFill xmlns:a="http://schemas.openxmlformats.org/drawingml/2006/main">
            <a:srgbClr val="07131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438D641-E40F-4E97-B9B7-486B072D19B7}"/>
              </a:ext>
            </a:extLst>
          </p:cNvPr>
          <p:cNvSpPr>
            <a:spLocks xmlns:a="http://schemas.openxmlformats.org/drawingml/2006/main" noGrp="1"/>
          </p:cNvSpPr>
          <p:nvPr/>
        </p:nvSpPr>
        <p:spPr>
          <a:xfrm xmlns:a="http://schemas.openxmlformats.org/drawingml/2006/main">
            <a:off x="7924800" y="255270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F6B4A"/>
                </a:solidFill>
                <a:latin typeface="맑은 고딕"/>
                <a:ea typeface="맑은 고딕"/>
                <a:cs typeface="맑은 고딕"/>
              </a:defRPr>
            </a:pPr>
            <a:r>
              <a:rPr sz="1200" b="1">
                <a:solidFill>
                  <a:srgbClr val="FF6B4A"/>
                </a:solidFill>
                <a:latin typeface="맑은 고딕"/>
                <a:ea typeface="맑은 고딕"/>
                <a:cs typeface="맑은 고딕"/>
              </a:rPr>
              <a:t>운영 전 보완</a:t>
            </a:r>
          </a:p>
        </p:txBody>
      </p:sp>
      <p:sp>
        <p:nvSpPr>
          <p:cNvPr id="22" name="">
            <a:extLst xmlns:a="http://schemas.openxmlformats.org/drawingml/2006/main">
              <a:ext uri="{FF2B5EF4-FFF2-40B4-BE49-F238E27FC236}">
                <a16:creationId xmlns:a16="http://schemas.microsoft.com/office/drawing/2014/main" id="{17256448-63FC-44F1-A65F-4EF66BF8D165}"/>
              </a:ext>
            </a:extLst>
          </p:cNvPr>
          <p:cNvSpPr>
            <a:spLocks xmlns:a="http://schemas.openxmlformats.org/drawingml/2006/main" noGrp="1"/>
          </p:cNvSpPr>
          <p:nvPr/>
        </p:nvSpPr>
        <p:spPr>
          <a:xfrm xmlns:a="http://schemas.openxmlformats.org/drawingml/2006/main">
            <a:off x="7924800" y="306705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FFFFF"/>
                </a:solidFill>
                <a:latin typeface="맑은 고딕"/>
                <a:ea typeface="맑은 고딕"/>
                <a:cs typeface="맑은 고딕"/>
              </a:defRPr>
            </a:pPr>
            <a:r>
              <a:rPr sz="1500" b="1">
                <a:solidFill>
                  <a:srgbClr val="FFFFFF"/>
                </a:solidFill>
                <a:latin typeface="맑은 고딕"/>
                <a:ea typeface="맑은 고딕"/>
                <a:cs typeface="맑은 고딕"/>
              </a:rPr>
              <a:t>비밀번호 해시 저장</a:t>
            </a:r>
          </a:p>
        </p:txBody>
      </p:sp>
      <p:sp>
        <p:nvSpPr>
          <p:cNvPr id="23" name="">
            <a:extLst xmlns:a="http://schemas.openxmlformats.org/drawingml/2006/main">
              <a:ext uri="{FF2B5EF4-FFF2-40B4-BE49-F238E27FC236}">
                <a16:creationId xmlns:a16="http://schemas.microsoft.com/office/drawing/2014/main" id="{0E11B0D6-1E7B-429A-B394-08A7C453B69F}"/>
              </a:ext>
            </a:extLst>
          </p:cNvPr>
          <p:cNvSpPr>
            <a:spLocks xmlns:a="http://schemas.openxmlformats.org/drawingml/2006/main" noGrp="1"/>
          </p:cNvSpPr>
          <p:nvPr/>
        </p:nvSpPr>
        <p:spPr>
          <a:xfrm xmlns:a="http://schemas.openxmlformats.org/drawingml/2006/main">
            <a:off x="7924800" y="35623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FFFFF"/>
                </a:solidFill>
                <a:latin typeface="맑은 고딕"/>
                <a:ea typeface="맑은 고딕"/>
                <a:cs typeface="맑은 고딕"/>
              </a:defRPr>
            </a:pPr>
            <a:r>
              <a:rPr sz="1500" b="1">
                <a:solidFill>
                  <a:srgbClr val="FFFFFF"/>
                </a:solidFill>
                <a:latin typeface="맑은 고딕"/>
                <a:ea typeface="맑은 고딕"/>
                <a:cs typeface="맑은 고딕"/>
              </a:rPr>
              <a:t>SMS 인증정보 환경변수화</a:t>
            </a:r>
          </a:p>
        </p:txBody>
      </p:sp>
      <p:sp>
        <p:nvSpPr>
          <p:cNvPr id="24" name="">
            <a:extLst xmlns:a="http://schemas.openxmlformats.org/drawingml/2006/main">
              <a:ext uri="{FF2B5EF4-FFF2-40B4-BE49-F238E27FC236}">
                <a16:creationId xmlns:a16="http://schemas.microsoft.com/office/drawing/2014/main" id="{9EA7A2B6-DBC4-400C-9279-7F98229730E6}"/>
              </a:ext>
            </a:extLst>
          </p:cNvPr>
          <p:cNvSpPr>
            <a:spLocks xmlns:a="http://schemas.openxmlformats.org/drawingml/2006/main" noGrp="1"/>
          </p:cNvSpPr>
          <p:nvPr/>
        </p:nvSpPr>
        <p:spPr>
          <a:xfrm xmlns:a="http://schemas.openxmlformats.org/drawingml/2006/main">
            <a:off x="7924800" y="40576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FFFFF"/>
                </a:solidFill>
                <a:latin typeface="맑은 고딕"/>
                <a:ea typeface="맑은 고딕"/>
                <a:cs typeface="맑은 고딕"/>
              </a:defRPr>
            </a:pPr>
            <a:r>
              <a:rPr sz="1500" b="1">
                <a:solidFill>
                  <a:srgbClr val="FFFFFF"/>
                </a:solidFill>
                <a:latin typeface="맑은 고딕"/>
                <a:ea typeface="맑은 고딕"/>
                <a:cs typeface="맑은 고딕"/>
              </a:rPr>
              <a:t>배정 트랜잭션·충돌 검증</a:t>
            </a:r>
          </a:p>
        </p:txBody>
      </p:sp>
      <p:sp>
        <p:nvSpPr>
          <p:cNvPr id="25" name="">
            <a:extLst xmlns:a="http://schemas.openxmlformats.org/drawingml/2006/main">
              <a:ext uri="{FF2B5EF4-FFF2-40B4-BE49-F238E27FC236}">
                <a16:creationId xmlns:a16="http://schemas.microsoft.com/office/drawing/2014/main" id="{4A2285AC-38A2-42C1-B624-629DB4E4EF0A}"/>
              </a:ext>
            </a:extLst>
          </p:cNvPr>
          <p:cNvSpPr>
            <a:spLocks xmlns:a="http://schemas.openxmlformats.org/drawingml/2006/main" noGrp="1"/>
          </p:cNvSpPr>
          <p:nvPr/>
        </p:nvSpPr>
        <p:spPr>
          <a:xfrm xmlns:a="http://schemas.openxmlformats.org/drawingml/2006/main">
            <a:off x="7924800" y="45529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FFFFF"/>
                </a:solidFill>
                <a:latin typeface="맑은 고딕"/>
                <a:ea typeface="맑은 고딕"/>
                <a:cs typeface="맑은 고딕"/>
              </a:defRPr>
            </a:pPr>
            <a:r>
              <a:rPr sz="1500" b="1">
                <a:solidFill>
                  <a:srgbClr val="FFFFFF"/>
                </a:solidFill>
                <a:latin typeface="맑은 고딕"/>
                <a:ea typeface="맑은 고딕"/>
                <a:cs typeface="맑은 고딕"/>
              </a:rPr>
              <a:t>상태값 Enum·운영 로그</a:t>
            </a:r>
          </a:p>
        </p:txBody>
      </p:sp>
      <p:sp>
        <p:nvSpPr>
          <p:cNvPr id="26" name="">
            <a:extLst xmlns:a="http://schemas.openxmlformats.org/drawingml/2006/main">
              <a:ext uri="{FF2B5EF4-FFF2-40B4-BE49-F238E27FC236}">
                <a16:creationId xmlns:a16="http://schemas.microsoft.com/office/drawing/2014/main" id="{349BE7C7-0167-4E67-8D8E-AD27357DEFDF}"/>
              </a:ext>
            </a:extLst>
          </p:cNvPr>
          <p:cNvSpPr>
            <a:spLocks xmlns:a="http://schemas.openxmlformats.org/drawingml/2006/main" noGrp="1"/>
          </p:cNvSpPr>
          <p:nvPr/>
        </p:nvSpPr>
        <p:spPr>
          <a:xfrm xmlns:a="http://schemas.openxmlformats.org/drawingml/2006/main">
            <a:off x="7924800" y="510540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93A8B5"/>
                </a:solidFill>
                <a:latin typeface="맑은 고딕"/>
                <a:ea typeface="맑은 고딕"/>
                <a:cs typeface="맑은 고딕"/>
              </a:defRPr>
            </a:pPr>
            <a:r>
              <a:rPr sz="975" b="0">
                <a:solidFill>
                  <a:srgbClr val="93A8B5"/>
                </a:solidFill>
                <a:latin typeface="맑은 고딕"/>
                <a:ea typeface="맑은 고딕"/>
                <a:cs typeface="맑은 고딕"/>
              </a:rPr>
              <a:t>현재 단계: 기능 검증 완료, 운영 보안 강화 필요</a:t>
            </a:r>
          </a:p>
        </p:txBody>
      </p:sp>
    </p:spTree>
    <p:extLst>
      <p:ext uri="{BB962C8B-B14F-4D97-AF65-F5344CB8AC3E}">
        <p14:creationId xmlns:p14="http://schemas.microsoft.com/office/powerpoint/2010/main" val="283005152"/>
      </p:ext>
    </p:extLst>
  </p:cSld>
</p:sld>
</file>

<file path=ppt/slides/slide12.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7E18D01-5AD7-452B-BB54-CACC73BF4288}"/>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FF6B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56A0DF-45D4-4F6F-A595-3A2449B27DD3}"/>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A017E5B2-4540-4547-8A18-14AD978301F8}"/>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7790A2"/>
                </a:solidFill>
                <a:latin typeface="맑은 고딕"/>
                <a:ea typeface="맑은 고딕"/>
                <a:cs typeface="맑은 고딕"/>
              </a:defRPr>
            </a:pPr>
            <a:r>
              <a:rPr sz="825" b="1">
                <a:solidFill>
                  <a:srgbClr val="7790A2"/>
                </a:solidFill>
                <a:latin typeface="맑은 고딕"/>
                <a:ea typeface="맑은 고딕"/>
                <a:cs typeface="맑은 고딕"/>
              </a:rPr>
              <a:t>12</a:t>
            </a:r>
          </a:p>
        </p:txBody>
      </p:sp>
      <p:sp>
        <p:nvSpPr>
          <p:cNvPr id="4" name="">
            <a:extLst xmlns:a="http://schemas.openxmlformats.org/drawingml/2006/main">
              <a:ext uri="{FF2B5EF4-FFF2-40B4-BE49-F238E27FC236}">
                <a16:creationId xmlns:a16="http://schemas.microsoft.com/office/drawing/2014/main" id="{4907A908-C7F6-4E14-9CE2-E8207ABB65CF}"/>
              </a:ext>
            </a:extLst>
          </p:cNvPr>
          <p:cNvSpPr>
            <a:spLocks xmlns:a="http://schemas.openxmlformats.org/drawingml/2006/main" noGrp="1"/>
          </p:cNvSpPr>
          <p:nvPr/>
        </p:nvSpPr>
        <p:spPr>
          <a:xfrm xmlns:a="http://schemas.openxmlformats.org/drawingml/2006/main">
            <a:off x="628650" y="5524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BUSINESS VALUE</a:t>
            </a:r>
          </a:p>
        </p:txBody>
      </p:sp>
      <p:sp>
        <p:nvSpPr>
          <p:cNvPr id="5" name="">
            <a:extLst xmlns:a="http://schemas.openxmlformats.org/drawingml/2006/main">
              <a:ext uri="{FF2B5EF4-FFF2-40B4-BE49-F238E27FC236}">
                <a16:creationId xmlns:a16="http://schemas.microsoft.com/office/drawing/2014/main" id="{0FD52BF5-7796-44C1-A055-4A1E6C12A84E}"/>
              </a:ext>
            </a:extLst>
          </p:cNvPr>
          <p:cNvSpPr>
            <a:spLocks xmlns:a="http://schemas.openxmlformats.org/drawingml/2006/main" noGrp="1"/>
          </p:cNvSpPr>
          <p:nvPr/>
        </p:nvSpPr>
        <p:spPr>
          <a:xfrm xmlns:a="http://schemas.openxmlformats.org/drawingml/2006/main">
            <a:off x="628650" y="876300"/>
            <a:ext cx="904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맑은 고딕"/>
                <a:ea typeface="맑은 고딕"/>
                <a:cs typeface="맑은 고딕"/>
              </a:defRPr>
            </a:pPr>
            <a:r>
              <a:rPr sz="2550" b="1">
                <a:solidFill>
                  <a:srgbClr val="FFFFFF"/>
                </a:solidFill>
                <a:latin typeface="맑은 고딕"/>
                <a:ea typeface="맑은 고딕"/>
                <a:cs typeface="맑은 고딕"/>
              </a:rPr>
              <a:t>소규모 AS센터가 바로 이해할 수 있는 운영 기반</a:t>
            </a:r>
          </a:p>
        </p:txBody>
      </p:sp>
      <p:sp>
        <p:nvSpPr>
          <p:cNvPr id="6" name="">
            <a:extLst xmlns:a="http://schemas.openxmlformats.org/drawingml/2006/main">
              <a:ext uri="{FF2B5EF4-FFF2-40B4-BE49-F238E27FC236}">
                <a16:creationId xmlns:a16="http://schemas.microsoft.com/office/drawing/2014/main" id="{8DBF8108-0D40-4413-9352-EE244B4855D6}"/>
              </a:ext>
            </a:extLst>
          </p:cNvPr>
          <p:cNvSpPr>
            <a:spLocks xmlns:a="http://schemas.openxmlformats.org/drawingml/2006/main" noGrp="1"/>
          </p:cNvSpPr>
          <p:nvPr/>
        </p:nvSpPr>
        <p:spPr>
          <a:xfrm xmlns:a="http://schemas.openxmlformats.org/drawingml/2006/main">
            <a:off x="628650" y="20955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0D5C4"/>
                </a:solidFill>
                <a:latin typeface="맑은 고딕"/>
                <a:ea typeface="맑은 고딕"/>
                <a:cs typeface="맑은 고딕"/>
              </a:defRPr>
            </a:pPr>
            <a:r>
              <a:rPr sz="1125" b="1">
                <a:solidFill>
                  <a:srgbClr val="20D5C4"/>
                </a:solidFill>
                <a:latin typeface="맑은 고딕"/>
                <a:ea typeface="맑은 고딕"/>
                <a:cs typeface="맑은 고딕"/>
              </a:rPr>
              <a:t>01</a:t>
            </a:r>
          </a:p>
        </p:txBody>
      </p:sp>
      <p:sp>
        <p:nvSpPr>
          <p:cNvPr id="7" name="">
            <a:extLst xmlns:a="http://schemas.openxmlformats.org/drawingml/2006/main">
              <a:ext uri="{FF2B5EF4-FFF2-40B4-BE49-F238E27FC236}">
                <a16:creationId xmlns:a16="http://schemas.microsoft.com/office/drawing/2014/main" id="{A05A60DE-1265-44BB-A012-CA9B87927F3A}"/>
              </a:ext>
            </a:extLst>
          </p:cNvPr>
          <p:cNvSpPr>
            <a:spLocks xmlns:a="http://schemas.openxmlformats.org/drawingml/2006/main" noGrp="1"/>
          </p:cNvSpPr>
          <p:nvPr/>
        </p:nvSpPr>
        <p:spPr>
          <a:xfrm xmlns:a="http://schemas.openxmlformats.org/drawingml/2006/main">
            <a:off x="1314450" y="20574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운영 가시성</a:t>
            </a:r>
          </a:p>
        </p:txBody>
      </p:sp>
      <p:sp>
        <p:nvSpPr>
          <p:cNvPr id="8" name="">
            <a:extLst xmlns:a="http://schemas.openxmlformats.org/drawingml/2006/main">
              <a:ext uri="{FF2B5EF4-FFF2-40B4-BE49-F238E27FC236}">
                <a16:creationId xmlns:a16="http://schemas.microsoft.com/office/drawing/2014/main" id="{4EA83923-05E6-4FA4-928A-45A19686AA0E}"/>
              </a:ext>
            </a:extLst>
          </p:cNvPr>
          <p:cNvSpPr>
            <a:spLocks xmlns:a="http://schemas.openxmlformats.org/drawingml/2006/main" noGrp="1"/>
          </p:cNvSpPr>
          <p:nvPr/>
        </p:nvSpPr>
        <p:spPr>
          <a:xfrm xmlns:a="http://schemas.openxmlformats.org/drawingml/2006/main">
            <a:off x="3676650" y="207645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FC0CA"/>
                </a:solidFill>
                <a:latin typeface="맑은 고딕"/>
                <a:ea typeface="맑은 고딕"/>
                <a:cs typeface="맑은 고딕"/>
              </a:defRPr>
            </a:pPr>
            <a:r>
              <a:rPr sz="1200" b="0">
                <a:solidFill>
                  <a:srgbClr val="AFC0CA"/>
                </a:solidFill>
                <a:latin typeface="맑은 고딕"/>
                <a:ea typeface="맑은 고딕"/>
                <a:cs typeface="맑은 고딕"/>
              </a:rPr>
              <a:t>관리자와 기사가 같은 배정 정보를 확인해 전달 누락 가능성을 줄입니다.</a:t>
            </a:r>
          </a:p>
        </p:txBody>
      </p:sp>
      <p:sp>
        <p:nvSpPr>
          <p:cNvPr id="9" name="">
            <a:extLst xmlns:a="http://schemas.openxmlformats.org/drawingml/2006/main">
              <a:ext uri="{FF2B5EF4-FFF2-40B4-BE49-F238E27FC236}">
                <a16:creationId xmlns:a16="http://schemas.microsoft.com/office/drawing/2014/main" id="{7041FA88-3B2D-49CA-96BB-02F47B7EF07C}"/>
              </a:ext>
            </a:extLst>
          </p:cNvPr>
          <p:cNvSpPr>
            <a:spLocks xmlns:a="http://schemas.openxmlformats.org/drawingml/2006/main" noGrp="1"/>
          </p:cNvSpPr>
          <p:nvPr/>
        </p:nvSpPr>
        <p:spPr>
          <a:xfrm xmlns:a="http://schemas.openxmlformats.org/drawingml/2006/main">
            <a:off x="628650" y="31432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0D5C4"/>
                </a:solidFill>
                <a:latin typeface="맑은 고딕"/>
                <a:ea typeface="맑은 고딕"/>
                <a:cs typeface="맑은 고딕"/>
              </a:defRPr>
            </a:pPr>
            <a:r>
              <a:rPr sz="1125" b="1">
                <a:solidFill>
                  <a:srgbClr val="20D5C4"/>
                </a:solidFill>
                <a:latin typeface="맑은 고딕"/>
                <a:ea typeface="맑은 고딕"/>
                <a:cs typeface="맑은 고딕"/>
              </a:rPr>
              <a:t>02</a:t>
            </a:r>
          </a:p>
        </p:txBody>
      </p:sp>
      <p:sp>
        <p:nvSpPr>
          <p:cNvPr id="10" name="">
            <a:extLst xmlns:a="http://schemas.openxmlformats.org/drawingml/2006/main">
              <a:ext uri="{FF2B5EF4-FFF2-40B4-BE49-F238E27FC236}">
                <a16:creationId xmlns:a16="http://schemas.microsoft.com/office/drawing/2014/main" id="{37AF0691-47DC-41D5-963C-17C6112B0CA4}"/>
              </a:ext>
            </a:extLst>
          </p:cNvPr>
          <p:cNvSpPr>
            <a:spLocks xmlns:a="http://schemas.openxmlformats.org/drawingml/2006/main" noGrp="1"/>
          </p:cNvSpPr>
          <p:nvPr/>
        </p:nvSpPr>
        <p:spPr>
          <a:xfrm xmlns:a="http://schemas.openxmlformats.org/drawingml/2006/main">
            <a:off x="1314450" y="31051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처리 이력</a:t>
            </a:r>
          </a:p>
        </p:txBody>
      </p:sp>
      <p:sp>
        <p:nvSpPr>
          <p:cNvPr id="11" name="">
            <a:extLst xmlns:a="http://schemas.openxmlformats.org/drawingml/2006/main">
              <a:ext uri="{FF2B5EF4-FFF2-40B4-BE49-F238E27FC236}">
                <a16:creationId xmlns:a16="http://schemas.microsoft.com/office/drawing/2014/main" id="{B052E93C-69C3-4A03-8A11-63C926611A4C}"/>
              </a:ext>
            </a:extLst>
          </p:cNvPr>
          <p:cNvSpPr>
            <a:spLocks xmlns:a="http://schemas.openxmlformats.org/drawingml/2006/main" noGrp="1"/>
          </p:cNvSpPr>
          <p:nvPr/>
        </p:nvSpPr>
        <p:spPr>
          <a:xfrm xmlns:a="http://schemas.openxmlformats.org/drawingml/2006/main">
            <a:off x="3676650" y="31242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FC0CA"/>
                </a:solidFill>
                <a:latin typeface="맑은 고딕"/>
                <a:ea typeface="맑은 고딕"/>
                <a:cs typeface="맑은 고딕"/>
              </a:defRPr>
            </a:pPr>
            <a:r>
              <a:rPr sz="1200" b="0">
                <a:solidFill>
                  <a:srgbClr val="AFC0CA"/>
                </a:solidFill>
                <a:latin typeface="맑은 고딕"/>
                <a:ea typeface="맑은 고딕"/>
                <a:cs typeface="맑은 고딕"/>
              </a:rPr>
              <a:t>접수부터 결과와 평가까지 한 고객 건의 기록이 이어집니다.</a:t>
            </a:r>
          </a:p>
        </p:txBody>
      </p:sp>
      <p:sp>
        <p:nvSpPr>
          <p:cNvPr id="12" name="">
            <a:extLst xmlns:a="http://schemas.openxmlformats.org/drawingml/2006/main">
              <a:ext uri="{FF2B5EF4-FFF2-40B4-BE49-F238E27FC236}">
                <a16:creationId xmlns:a16="http://schemas.microsoft.com/office/drawing/2014/main" id="{3A36FE91-DCCA-4906-ACE4-EE4D83E6E979}"/>
              </a:ext>
            </a:extLst>
          </p:cNvPr>
          <p:cNvSpPr>
            <a:spLocks xmlns:a="http://schemas.openxmlformats.org/drawingml/2006/main" noGrp="1"/>
          </p:cNvSpPr>
          <p:nvPr/>
        </p:nvSpPr>
        <p:spPr>
          <a:xfrm xmlns:a="http://schemas.openxmlformats.org/drawingml/2006/main">
            <a:off x="628650" y="41910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B4A"/>
                </a:solidFill>
                <a:latin typeface="맑은 고딕"/>
                <a:ea typeface="맑은 고딕"/>
                <a:cs typeface="맑은 고딕"/>
              </a:defRPr>
            </a:pPr>
            <a:r>
              <a:rPr sz="1125" b="1">
                <a:solidFill>
                  <a:srgbClr val="FF6B4A"/>
                </a:solidFill>
                <a:latin typeface="맑은 고딕"/>
                <a:ea typeface="맑은 고딕"/>
                <a:cs typeface="맑은 고딕"/>
              </a:rPr>
              <a:t>03</a:t>
            </a:r>
          </a:p>
        </p:txBody>
      </p:sp>
      <p:sp>
        <p:nvSpPr>
          <p:cNvPr id="13" name="">
            <a:extLst xmlns:a="http://schemas.openxmlformats.org/drawingml/2006/main">
              <a:ext uri="{FF2B5EF4-FFF2-40B4-BE49-F238E27FC236}">
                <a16:creationId xmlns:a16="http://schemas.microsoft.com/office/drawing/2014/main" id="{DB861192-A340-4A69-BE46-881FF5C6FE13}"/>
              </a:ext>
            </a:extLst>
          </p:cNvPr>
          <p:cNvSpPr>
            <a:spLocks xmlns:a="http://schemas.openxmlformats.org/drawingml/2006/main" noGrp="1"/>
          </p:cNvSpPr>
          <p:nvPr/>
        </p:nvSpPr>
        <p:spPr>
          <a:xfrm xmlns:a="http://schemas.openxmlformats.org/drawingml/2006/main">
            <a:off x="1314450" y="41529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고객 피드백</a:t>
            </a:r>
          </a:p>
        </p:txBody>
      </p:sp>
      <p:sp>
        <p:nvSpPr>
          <p:cNvPr id="14" name="">
            <a:extLst xmlns:a="http://schemas.openxmlformats.org/drawingml/2006/main">
              <a:ext uri="{FF2B5EF4-FFF2-40B4-BE49-F238E27FC236}">
                <a16:creationId xmlns:a16="http://schemas.microsoft.com/office/drawing/2014/main" id="{F0AC37A4-37E4-4006-B9E9-F559E9023BA6}"/>
              </a:ext>
            </a:extLst>
          </p:cNvPr>
          <p:cNvSpPr>
            <a:spLocks xmlns:a="http://schemas.openxmlformats.org/drawingml/2006/main" noGrp="1"/>
          </p:cNvSpPr>
          <p:nvPr/>
        </p:nvSpPr>
        <p:spPr>
          <a:xfrm xmlns:a="http://schemas.openxmlformats.org/drawingml/2006/main">
            <a:off x="3676650" y="417195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FC0CA"/>
                </a:solidFill>
                <a:latin typeface="맑은 고딕"/>
                <a:ea typeface="맑은 고딕"/>
                <a:cs typeface="맑은 고딕"/>
              </a:defRPr>
            </a:pPr>
            <a:r>
              <a:rPr sz="1200" b="0">
                <a:solidFill>
                  <a:srgbClr val="AFC0CA"/>
                </a:solidFill>
                <a:latin typeface="맑은 고딕"/>
                <a:ea typeface="맑은 고딕"/>
                <a:cs typeface="맑은 고딕"/>
              </a:rPr>
              <a:t>결과 등록 뒤 설문을 발송해 별도 입력 없이 만족도를 축적합니다.</a:t>
            </a:r>
          </a:p>
        </p:txBody>
      </p:sp>
      <p:sp>
        <p:nvSpPr>
          <p:cNvPr id="15" name="">
            <a:extLst xmlns:a="http://schemas.openxmlformats.org/drawingml/2006/main">
              <a:ext uri="{FF2B5EF4-FFF2-40B4-BE49-F238E27FC236}">
                <a16:creationId xmlns:a16="http://schemas.microsoft.com/office/drawing/2014/main" id="{1FD772CA-EFAA-40B9-9061-47434D417F6B}"/>
              </a:ext>
            </a:extLst>
          </p:cNvPr>
          <p:cNvSpPr>
            <a:spLocks xmlns:a="http://schemas.openxmlformats.org/drawingml/2006/main" noGrp="1"/>
          </p:cNvSpPr>
          <p:nvPr/>
        </p:nvSpPr>
        <p:spPr>
          <a:xfrm xmlns:a="http://schemas.openxmlformats.org/drawingml/2006/main">
            <a:off x="9144000" y="1943100"/>
            <a:ext cx="2419350" cy="3162300"/>
          </a:xfrm>
          <a:prstGeom xmlns:a="http://schemas.openxmlformats.org/drawingml/2006/main" prst="roundRect">
            <a:avLst>
              <a:gd name="adj" fmla="val 3150"/>
            </a:avLst>
          </a:prstGeom>
          <a:solidFill xmlns:a="http://schemas.openxmlformats.org/drawingml/2006/main">
            <a:srgbClr val="FFFF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E6F48E2-643A-45FA-9AC8-B31F35154EF0}"/>
              </a:ext>
            </a:extLst>
          </p:cNvPr>
          <p:cNvSpPr>
            <a:spLocks xmlns:a="http://schemas.openxmlformats.org/drawingml/2006/main" noGrp="1"/>
          </p:cNvSpPr>
          <p:nvPr/>
        </p:nvSpPr>
        <p:spPr>
          <a:xfrm xmlns:a="http://schemas.openxmlformats.org/drawingml/2006/main">
            <a:off x="9448800" y="22669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FF6B4A"/>
                </a:solidFill>
                <a:latin typeface="맑은 고딕"/>
                <a:ea typeface="맑은 고딕"/>
                <a:cs typeface="맑은 고딕"/>
              </a:defRPr>
            </a:pPr>
            <a:r>
              <a:rPr sz="900" b="1">
                <a:solidFill>
                  <a:srgbClr val="FF6B4A"/>
                </a:solidFill>
                <a:latin typeface="맑은 고딕"/>
                <a:ea typeface="맑은 고딕"/>
                <a:cs typeface="맑은 고딕"/>
              </a:rPr>
              <a:t>NEXT</a:t>
            </a:r>
          </a:p>
        </p:txBody>
      </p:sp>
      <p:sp>
        <p:nvSpPr>
          <p:cNvPr id="17" name="">
            <a:extLst xmlns:a="http://schemas.openxmlformats.org/drawingml/2006/main">
              <a:ext uri="{FF2B5EF4-FFF2-40B4-BE49-F238E27FC236}">
                <a16:creationId xmlns:a16="http://schemas.microsoft.com/office/drawing/2014/main" id="{E84567BE-C0BD-4451-B60F-90A694418026}"/>
              </a:ext>
            </a:extLst>
          </p:cNvPr>
          <p:cNvSpPr>
            <a:spLocks xmlns:a="http://schemas.openxmlformats.org/drawingml/2006/main" noGrp="1"/>
          </p:cNvSpPr>
          <p:nvPr/>
        </p:nvSpPr>
        <p:spPr>
          <a:xfrm xmlns:a="http://schemas.openxmlformats.org/drawingml/2006/main">
            <a:off x="9448800" y="268605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7131F"/>
                </a:solidFill>
                <a:latin typeface="맑은 고딕"/>
                <a:ea typeface="맑은 고딕"/>
                <a:cs typeface="맑은 고딕"/>
              </a:defRPr>
            </a:pPr>
            <a:r>
              <a:rPr sz="2100" b="1">
                <a:solidFill>
                  <a:srgbClr val="07131F"/>
                </a:solidFill>
                <a:latin typeface="맑은 고딕"/>
                <a:ea typeface="맑은 고딕"/>
                <a:cs typeface="맑은 고딕"/>
              </a:rPr>
              <a:t>1</a:t>
            </a:r>
          </a:p>
        </p:txBody>
      </p:sp>
      <p:sp>
        <p:nvSpPr>
          <p:cNvPr id="18" name="">
            <a:extLst xmlns:a="http://schemas.openxmlformats.org/drawingml/2006/main">
              <a:ext uri="{FF2B5EF4-FFF2-40B4-BE49-F238E27FC236}">
                <a16:creationId xmlns:a16="http://schemas.microsoft.com/office/drawing/2014/main" id="{1B009A94-34CE-48C6-BB4A-54F7B9F1480C}"/>
              </a:ext>
            </a:extLst>
          </p:cNvPr>
          <p:cNvSpPr>
            <a:spLocks xmlns:a="http://schemas.openxmlformats.org/drawingml/2006/main" noGrp="1"/>
          </p:cNvSpPr>
          <p:nvPr/>
        </p:nvSpPr>
        <p:spPr>
          <a:xfrm xmlns:a="http://schemas.openxmlformats.org/drawingml/2006/main">
            <a:off x="9925050" y="2724150"/>
            <a:ext cx="133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7131F"/>
                </a:solidFill>
                <a:latin typeface="맑은 고딕"/>
                <a:ea typeface="맑은 고딕"/>
                <a:cs typeface="맑은 고딕"/>
              </a:defRPr>
            </a:pPr>
            <a:r>
              <a:rPr sz="1200" b="1">
                <a:solidFill>
                  <a:srgbClr val="07131F"/>
                </a:solidFill>
                <a:latin typeface="맑은 고딕"/>
                <a:ea typeface="맑은 고딕"/>
                <a:cs typeface="맑은 고딕"/>
              </a:rPr>
              <a:t>일정 충돌 검증</a:t>
            </a:r>
          </a:p>
        </p:txBody>
      </p:sp>
      <p:sp>
        <p:nvSpPr>
          <p:cNvPr id="19" name="">
            <a:extLst xmlns:a="http://schemas.openxmlformats.org/drawingml/2006/main">
              <a:ext uri="{FF2B5EF4-FFF2-40B4-BE49-F238E27FC236}">
                <a16:creationId xmlns:a16="http://schemas.microsoft.com/office/drawing/2014/main" id="{1B3B380B-3010-49A1-9FE8-8ECBD531A7B1}"/>
              </a:ext>
            </a:extLst>
          </p:cNvPr>
          <p:cNvSpPr>
            <a:spLocks xmlns:a="http://schemas.openxmlformats.org/drawingml/2006/main" noGrp="1"/>
          </p:cNvSpPr>
          <p:nvPr/>
        </p:nvSpPr>
        <p:spPr>
          <a:xfrm xmlns:a="http://schemas.openxmlformats.org/drawingml/2006/main">
            <a:off x="9448800" y="337185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7131F"/>
                </a:solidFill>
                <a:latin typeface="맑은 고딕"/>
                <a:ea typeface="맑은 고딕"/>
                <a:cs typeface="맑은 고딕"/>
              </a:defRPr>
            </a:pPr>
            <a:r>
              <a:rPr sz="2100" b="1">
                <a:solidFill>
                  <a:srgbClr val="07131F"/>
                </a:solidFill>
                <a:latin typeface="맑은 고딕"/>
                <a:ea typeface="맑은 고딕"/>
                <a:cs typeface="맑은 고딕"/>
              </a:rPr>
              <a:t>2</a:t>
            </a:r>
          </a:p>
        </p:txBody>
      </p:sp>
      <p:sp>
        <p:nvSpPr>
          <p:cNvPr id="20" name="">
            <a:extLst xmlns:a="http://schemas.openxmlformats.org/drawingml/2006/main">
              <a:ext uri="{FF2B5EF4-FFF2-40B4-BE49-F238E27FC236}">
                <a16:creationId xmlns:a16="http://schemas.microsoft.com/office/drawing/2014/main" id="{0D4AB959-6166-485C-9E38-27B2DE876343}"/>
              </a:ext>
            </a:extLst>
          </p:cNvPr>
          <p:cNvSpPr>
            <a:spLocks xmlns:a="http://schemas.openxmlformats.org/drawingml/2006/main" noGrp="1"/>
          </p:cNvSpPr>
          <p:nvPr/>
        </p:nvSpPr>
        <p:spPr>
          <a:xfrm xmlns:a="http://schemas.openxmlformats.org/drawingml/2006/main">
            <a:off x="9925050" y="34099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7131F"/>
                </a:solidFill>
                <a:latin typeface="맑은 고딕"/>
                <a:ea typeface="맑은 고딕"/>
                <a:cs typeface="맑은 고딕"/>
              </a:defRPr>
            </a:pPr>
            <a:r>
              <a:rPr sz="1200" b="1">
                <a:solidFill>
                  <a:srgbClr val="07131F"/>
                </a:solidFill>
                <a:latin typeface="맑은 고딕"/>
                <a:ea typeface="맑은 고딕"/>
                <a:cs typeface="맑은 고딕"/>
              </a:rPr>
              <a:t>보안·배포 강화</a:t>
            </a:r>
          </a:p>
        </p:txBody>
      </p:sp>
      <p:sp>
        <p:nvSpPr>
          <p:cNvPr id="21" name="">
            <a:extLst xmlns:a="http://schemas.openxmlformats.org/drawingml/2006/main">
              <a:ext uri="{FF2B5EF4-FFF2-40B4-BE49-F238E27FC236}">
                <a16:creationId xmlns:a16="http://schemas.microsoft.com/office/drawing/2014/main" id="{53C89F22-1124-4855-A2C0-21AA089D8F76}"/>
              </a:ext>
            </a:extLst>
          </p:cNvPr>
          <p:cNvSpPr>
            <a:spLocks xmlns:a="http://schemas.openxmlformats.org/drawingml/2006/main" noGrp="1"/>
          </p:cNvSpPr>
          <p:nvPr/>
        </p:nvSpPr>
        <p:spPr>
          <a:xfrm xmlns:a="http://schemas.openxmlformats.org/drawingml/2006/main">
            <a:off x="9448800" y="405765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7131F"/>
                </a:solidFill>
                <a:latin typeface="맑은 고딕"/>
                <a:ea typeface="맑은 고딕"/>
                <a:cs typeface="맑은 고딕"/>
              </a:defRPr>
            </a:pPr>
            <a:r>
              <a:rPr sz="2100" b="1">
                <a:solidFill>
                  <a:srgbClr val="07131F"/>
                </a:solidFill>
                <a:latin typeface="맑은 고딕"/>
                <a:ea typeface="맑은 고딕"/>
                <a:cs typeface="맑은 고딕"/>
              </a:rPr>
              <a:t>3</a:t>
            </a:r>
          </a:p>
        </p:txBody>
      </p:sp>
      <p:sp>
        <p:nvSpPr>
          <p:cNvPr id="22" name="">
            <a:extLst xmlns:a="http://schemas.openxmlformats.org/drawingml/2006/main">
              <a:ext uri="{FF2B5EF4-FFF2-40B4-BE49-F238E27FC236}">
                <a16:creationId xmlns:a16="http://schemas.microsoft.com/office/drawing/2014/main" id="{1D619202-D1DD-430E-89DA-36286D22CC37}"/>
              </a:ext>
            </a:extLst>
          </p:cNvPr>
          <p:cNvSpPr>
            <a:spLocks xmlns:a="http://schemas.openxmlformats.org/drawingml/2006/main" noGrp="1"/>
          </p:cNvSpPr>
          <p:nvPr/>
        </p:nvSpPr>
        <p:spPr>
          <a:xfrm xmlns:a="http://schemas.openxmlformats.org/drawingml/2006/main">
            <a:off x="9925050" y="409575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7131F"/>
                </a:solidFill>
                <a:latin typeface="맑은 고딕"/>
                <a:ea typeface="맑은 고딕"/>
                <a:cs typeface="맑은 고딕"/>
              </a:defRPr>
            </a:pPr>
            <a:r>
              <a:rPr sz="1200" b="1">
                <a:solidFill>
                  <a:srgbClr val="07131F"/>
                </a:solidFill>
                <a:latin typeface="맑은 고딕"/>
                <a:ea typeface="맑은 고딕"/>
                <a:cs typeface="맑은 고딕"/>
              </a:rPr>
              <a:t>모바일·알림 개선</a:t>
            </a:r>
          </a:p>
        </p:txBody>
      </p:sp>
      <p:sp>
        <p:nvSpPr>
          <p:cNvPr id="23" name="">
            <a:extLst xmlns:a="http://schemas.openxmlformats.org/drawingml/2006/main">
              <a:ext uri="{FF2B5EF4-FFF2-40B4-BE49-F238E27FC236}">
                <a16:creationId xmlns:a16="http://schemas.microsoft.com/office/drawing/2014/main" id="{127604CE-ED58-4126-9615-931A44A5D1A5}"/>
              </a:ext>
            </a:extLst>
          </p:cNvPr>
          <p:cNvSpPr>
            <a:spLocks xmlns:a="http://schemas.openxmlformats.org/drawingml/2006/main" noGrp="1"/>
          </p:cNvSpPr>
          <p:nvPr/>
        </p:nvSpPr>
        <p:spPr>
          <a:xfrm xmlns:a="http://schemas.openxmlformats.org/drawingml/2006/main">
            <a:off x="628650" y="59245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8197A5"/>
                </a:solidFill>
                <a:latin typeface="맑은 고딕"/>
                <a:ea typeface="맑은 고딕"/>
                <a:cs typeface="맑은 고딕"/>
              </a:defRPr>
            </a:pPr>
            <a:r>
              <a:rPr sz="975" b="0">
                <a:solidFill>
                  <a:srgbClr val="8197A5"/>
                </a:solidFill>
                <a:latin typeface="맑은 고딕"/>
                <a:ea typeface="맑은 고딕"/>
                <a:cs typeface="맑은 고딕"/>
              </a:rPr>
              <a:t>효과는 실제 운영 수치가 아닌 기대 효과로 제시</a:t>
            </a:r>
          </a:p>
        </p:txBody>
      </p:sp>
    </p:spTree>
    <p:extLst>
      <p:ext uri="{BB962C8B-B14F-4D97-AF65-F5344CB8AC3E}">
        <p14:creationId xmlns:p14="http://schemas.microsoft.com/office/powerpoint/2010/main" val="19320242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80D743D-A94F-47CF-BE29-8347F47CEBF1}"/>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79A12A-29DD-4F99-B979-905F07A794A6}"/>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C748E07B-0C81-4676-A179-884BA49BCA69}"/>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9BACB7"/>
                </a:solidFill>
                <a:latin typeface="맑은 고딕"/>
                <a:ea typeface="맑은 고딕"/>
                <a:cs typeface="맑은 고딕"/>
              </a:defRPr>
            </a:pPr>
            <a:r>
              <a:rPr sz="825" b="1">
                <a:solidFill>
                  <a:srgbClr val="9BACB7"/>
                </a:solidFill>
                <a:latin typeface="맑은 고딕"/>
                <a:ea typeface="맑은 고딕"/>
                <a:cs typeface="맑은 고딕"/>
              </a:rPr>
              <a:t>13</a:t>
            </a:r>
          </a:p>
        </p:txBody>
      </p:sp>
      <p:sp>
        <p:nvSpPr>
          <p:cNvPr id="4" name="">
            <a:extLst xmlns:a="http://schemas.openxmlformats.org/drawingml/2006/main">
              <a:ext uri="{FF2B5EF4-FFF2-40B4-BE49-F238E27FC236}">
                <a16:creationId xmlns:a16="http://schemas.microsoft.com/office/drawing/2014/main" id="{295E707A-0E42-45B6-8863-E75D556B5452}"/>
              </a:ext>
            </a:extLst>
          </p:cNvPr>
          <p:cNvSpPr>
            <a:spLocks xmlns:a="http://schemas.openxmlformats.org/drawingml/2006/main" noGrp="1"/>
          </p:cNvSpPr>
          <p:nvPr/>
        </p:nvSpPr>
        <p:spPr>
          <a:xfrm xmlns:a="http://schemas.openxmlformats.org/drawingml/2006/main">
            <a:off x="628650" y="5524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SELF ASSESSMENT</a:t>
            </a:r>
          </a:p>
        </p:txBody>
      </p:sp>
      <p:sp>
        <p:nvSpPr>
          <p:cNvPr id="5" name="">
            <a:extLst xmlns:a="http://schemas.openxmlformats.org/drawingml/2006/main">
              <a:ext uri="{FF2B5EF4-FFF2-40B4-BE49-F238E27FC236}">
                <a16:creationId xmlns:a16="http://schemas.microsoft.com/office/drawing/2014/main" id="{2DB14A67-1B34-4B1A-A9EB-5F27AB76A4D7}"/>
              </a:ext>
            </a:extLst>
          </p:cNvPr>
          <p:cNvSpPr>
            <a:spLocks xmlns:a="http://schemas.openxmlformats.org/drawingml/2006/main" noGrp="1"/>
          </p:cNvSpPr>
          <p:nvPr/>
        </p:nvSpPr>
        <p:spPr>
          <a:xfrm xmlns:a="http://schemas.openxmlformats.org/drawingml/2006/main">
            <a:off x="628650" y="8763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7131F"/>
                </a:solidFill>
                <a:latin typeface="맑은 고딕"/>
                <a:ea typeface="맑은 고딕"/>
                <a:cs typeface="맑은 고딕"/>
              </a:defRPr>
            </a:pPr>
            <a:r>
              <a:rPr sz="2550" b="1">
                <a:solidFill>
                  <a:srgbClr val="07131F"/>
                </a:solidFill>
                <a:latin typeface="맑은 고딕"/>
                <a:ea typeface="맑은 고딕"/>
                <a:cs typeface="맑은 고딕"/>
              </a:rPr>
              <a:t>핵심 업무 흐름은 완성, 운영 수준까지는 한 단계 남았습니다</a:t>
            </a:r>
          </a:p>
        </p:txBody>
      </p:sp>
      <p:sp>
        <p:nvSpPr>
          <p:cNvPr id="6" name="">
            <a:extLst xmlns:a="http://schemas.openxmlformats.org/drawingml/2006/main">
              <a:ext uri="{FF2B5EF4-FFF2-40B4-BE49-F238E27FC236}">
                <a16:creationId xmlns:a16="http://schemas.microsoft.com/office/drawing/2014/main" id="{26BEFBAC-C1BC-495D-9BF3-A6D0F0B37B55}"/>
              </a:ext>
            </a:extLst>
          </p:cNvPr>
          <p:cNvSpPr>
            <a:spLocks xmlns:a="http://schemas.openxmlformats.org/drawingml/2006/main" noGrp="1"/>
          </p:cNvSpPr>
          <p:nvPr/>
        </p:nvSpPr>
        <p:spPr>
          <a:xfrm xmlns:a="http://schemas.openxmlformats.org/drawingml/2006/main">
            <a:off x="628650" y="1924050"/>
            <a:ext cx="2000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6B4A"/>
                </a:solidFill>
                <a:latin typeface="맑은 고딕"/>
                <a:ea typeface="맑은 고딕"/>
                <a:cs typeface="맑은 고딕"/>
              </a:defRPr>
            </a:pPr>
            <a:r>
              <a:rPr sz="4950" b="1">
                <a:solidFill>
                  <a:srgbClr val="FF6B4A"/>
                </a:solidFill>
                <a:latin typeface="맑은 고딕"/>
                <a:ea typeface="맑은 고딕"/>
                <a:cs typeface="맑은 고딕"/>
              </a:rPr>
              <a:t>8.0</a:t>
            </a:r>
          </a:p>
        </p:txBody>
      </p:sp>
      <p:sp>
        <p:nvSpPr>
          <p:cNvPr id="7" name="">
            <a:extLst xmlns:a="http://schemas.openxmlformats.org/drawingml/2006/main">
              <a:ext uri="{FF2B5EF4-FFF2-40B4-BE49-F238E27FC236}">
                <a16:creationId xmlns:a16="http://schemas.microsoft.com/office/drawing/2014/main" id="{685A2643-50A8-49D5-8BFC-B7B7FABA1B66}"/>
              </a:ext>
            </a:extLst>
          </p:cNvPr>
          <p:cNvSpPr>
            <a:spLocks xmlns:a="http://schemas.openxmlformats.org/drawingml/2006/main" noGrp="1"/>
          </p:cNvSpPr>
          <p:nvPr/>
        </p:nvSpPr>
        <p:spPr>
          <a:xfrm xmlns:a="http://schemas.openxmlformats.org/drawingml/2006/main">
            <a:off x="2114550" y="2381250"/>
            <a:ext cx="85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718295"/>
                </a:solidFill>
                <a:latin typeface="맑은 고딕"/>
                <a:ea typeface="맑은 고딕"/>
                <a:cs typeface="맑은 고딕"/>
              </a:defRPr>
            </a:pPr>
            <a:r>
              <a:rPr sz="1650" b="1">
                <a:solidFill>
                  <a:srgbClr val="718295"/>
                </a:solidFill>
                <a:latin typeface="맑은 고딕"/>
                <a:ea typeface="맑은 고딕"/>
                <a:cs typeface="맑은 고딕"/>
              </a:rPr>
              <a:t>/ 10</a:t>
            </a:r>
          </a:p>
        </p:txBody>
      </p:sp>
      <p:sp>
        <p:nvSpPr>
          <p:cNvPr id="8" name="">
            <a:extLst xmlns:a="http://schemas.openxmlformats.org/drawingml/2006/main">
              <a:ext uri="{FF2B5EF4-FFF2-40B4-BE49-F238E27FC236}">
                <a16:creationId xmlns:a16="http://schemas.microsoft.com/office/drawing/2014/main" id="{012E1827-9AFE-4834-A5A5-74BCB1A76EC3}"/>
              </a:ext>
            </a:extLst>
          </p:cNvPr>
          <p:cNvSpPr>
            <a:spLocks xmlns:a="http://schemas.openxmlformats.org/drawingml/2006/main" noGrp="1"/>
          </p:cNvSpPr>
          <p:nvPr/>
        </p:nvSpPr>
        <p:spPr>
          <a:xfrm xmlns:a="http://schemas.openxmlformats.org/drawingml/2006/main">
            <a:off x="628650" y="28765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7131F"/>
                </a:solidFill>
                <a:latin typeface="맑은 고딕"/>
                <a:ea typeface="맑은 고딕"/>
                <a:cs typeface="맑은 고딕"/>
              </a:defRPr>
            </a:pPr>
            <a:r>
              <a:rPr sz="1275" b="1">
                <a:solidFill>
                  <a:srgbClr val="07131F"/>
                </a:solidFill>
                <a:latin typeface="맑은 고딕"/>
                <a:ea typeface="맑은 고딕"/>
                <a:cs typeface="맑은 고딕"/>
              </a:rPr>
              <a:t>기능 완성도</a:t>
            </a:r>
          </a:p>
        </p:txBody>
      </p:sp>
      <p:sp>
        <p:nvSpPr>
          <p:cNvPr id="9" name="">
            <a:extLst xmlns:a="http://schemas.openxmlformats.org/drawingml/2006/main">
              <a:ext uri="{FF2B5EF4-FFF2-40B4-BE49-F238E27FC236}">
                <a16:creationId xmlns:a16="http://schemas.microsoft.com/office/drawing/2014/main" id="{422CBB4F-6911-4424-9E36-6EA42C0AF0EC}"/>
              </a:ext>
            </a:extLst>
          </p:cNvPr>
          <p:cNvSpPr>
            <a:spLocks xmlns:a="http://schemas.openxmlformats.org/drawingml/2006/main" noGrp="1"/>
          </p:cNvSpPr>
          <p:nvPr/>
        </p:nvSpPr>
        <p:spPr>
          <a:xfrm xmlns:a="http://schemas.openxmlformats.org/drawingml/2006/main">
            <a:off x="628650" y="3352800"/>
            <a:ext cx="4953000" cy="95250"/>
          </a:xfrm>
          <a:prstGeom xmlns:a="http://schemas.openxmlformats.org/drawingml/2006/main" prst="roundRect">
            <a:avLst>
              <a:gd name="adj" fmla="val 50000"/>
            </a:avLst>
          </a:prstGeom>
          <a:solidFill xmlns:a="http://schemas.openxmlformats.org/drawingml/2006/main">
            <a:srgbClr val="E7ECE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BE65BD7-0D2C-4F14-BEDD-1AACCC445308}"/>
              </a:ext>
            </a:extLst>
          </p:cNvPr>
          <p:cNvSpPr>
            <a:spLocks xmlns:a="http://schemas.openxmlformats.org/drawingml/2006/main" noGrp="1"/>
          </p:cNvSpPr>
          <p:nvPr/>
        </p:nvSpPr>
        <p:spPr>
          <a:xfrm xmlns:a="http://schemas.openxmlformats.org/drawingml/2006/main">
            <a:off x="628650" y="3352800"/>
            <a:ext cx="396240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CDB373A-8BD6-46C3-B766-3B6285D88238}"/>
              </a:ext>
            </a:extLst>
          </p:cNvPr>
          <p:cNvSpPr>
            <a:spLocks xmlns:a="http://schemas.openxmlformats.org/drawingml/2006/main" noGrp="1"/>
          </p:cNvSpPr>
          <p:nvPr/>
        </p:nvSpPr>
        <p:spPr>
          <a:xfrm xmlns:a="http://schemas.openxmlformats.org/drawingml/2006/main">
            <a:off x="6191250" y="19240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0AFA8"/>
                </a:solidFill>
                <a:latin typeface="맑은 고딕"/>
                <a:ea typeface="맑은 고딕"/>
                <a:cs typeface="맑은 고딕"/>
              </a:defRPr>
            </a:pPr>
            <a:r>
              <a:rPr sz="1125" b="1">
                <a:solidFill>
                  <a:srgbClr val="00AFA8"/>
                </a:solidFill>
                <a:latin typeface="맑은 고딕"/>
                <a:ea typeface="맑은 고딕"/>
                <a:cs typeface="맑은 고딕"/>
              </a:rPr>
              <a:t>평가 근거</a:t>
            </a:r>
          </a:p>
        </p:txBody>
      </p:sp>
      <p:sp>
        <p:nvSpPr>
          <p:cNvPr id="12" name="">
            <a:extLst xmlns:a="http://schemas.openxmlformats.org/drawingml/2006/main">
              <a:ext uri="{FF2B5EF4-FFF2-40B4-BE49-F238E27FC236}">
                <a16:creationId xmlns:a16="http://schemas.microsoft.com/office/drawing/2014/main" id="{0484C4E5-0E0D-4C0C-842A-A16CEADD5E8A}"/>
              </a:ext>
            </a:extLst>
          </p:cNvPr>
          <p:cNvSpPr>
            <a:spLocks xmlns:a="http://schemas.openxmlformats.org/drawingml/2006/main" noGrp="1"/>
          </p:cNvSpPr>
          <p:nvPr/>
        </p:nvSpPr>
        <p:spPr>
          <a:xfrm xmlns:a="http://schemas.openxmlformats.org/drawingml/2006/main">
            <a:off x="6191250" y="23622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7131F"/>
                </a:solidFill>
                <a:latin typeface="맑은 고딕"/>
                <a:ea typeface="맑은 고딕"/>
                <a:cs typeface="맑은 고딕"/>
              </a:defRPr>
            </a:pPr>
            <a:r>
              <a:rPr sz="1425" b="1">
                <a:solidFill>
                  <a:srgbClr val="07131F"/>
                </a:solidFill>
                <a:latin typeface="맑은 고딕"/>
                <a:ea typeface="맑은 고딕"/>
                <a:cs typeface="맑은 고딕"/>
              </a:rPr>
              <a:t>고객 접수부터 만족도까지 실제 화면으로 연결</a:t>
            </a:r>
          </a:p>
        </p:txBody>
      </p:sp>
      <p:sp>
        <p:nvSpPr>
          <p:cNvPr id="13" name="">
            <a:extLst xmlns:a="http://schemas.openxmlformats.org/drawingml/2006/main">
              <a:ext uri="{FF2B5EF4-FFF2-40B4-BE49-F238E27FC236}">
                <a16:creationId xmlns:a16="http://schemas.microsoft.com/office/drawing/2014/main" id="{AA205FAE-C977-479F-BF2A-1AD12DBEB22F}"/>
              </a:ext>
            </a:extLst>
          </p:cNvPr>
          <p:cNvSpPr>
            <a:spLocks xmlns:a="http://schemas.openxmlformats.org/drawingml/2006/main" noGrp="1"/>
          </p:cNvSpPr>
          <p:nvPr/>
        </p:nvSpPr>
        <p:spPr>
          <a:xfrm xmlns:a="http://schemas.openxmlformats.org/drawingml/2006/main">
            <a:off x="6191250" y="28384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7131F"/>
                </a:solidFill>
                <a:latin typeface="맑은 고딕"/>
                <a:ea typeface="맑은 고딕"/>
                <a:cs typeface="맑은 고딕"/>
              </a:defRPr>
            </a:pPr>
            <a:r>
              <a:rPr sz="1425" b="1">
                <a:solidFill>
                  <a:srgbClr val="07131F"/>
                </a:solidFill>
                <a:latin typeface="맑은 고딕"/>
                <a:ea typeface="맑은 고딕"/>
                <a:cs typeface="맑은 고딕"/>
              </a:rPr>
              <a:t>역할별 접근 제어와 기사 일정 소유권 확인</a:t>
            </a:r>
          </a:p>
        </p:txBody>
      </p:sp>
      <p:sp>
        <p:nvSpPr>
          <p:cNvPr id="14" name="">
            <a:extLst xmlns:a="http://schemas.openxmlformats.org/drawingml/2006/main">
              <a:ext uri="{FF2B5EF4-FFF2-40B4-BE49-F238E27FC236}">
                <a16:creationId xmlns:a16="http://schemas.microsoft.com/office/drawing/2014/main" id="{EB820362-C019-4A22-AEA2-61FA703964A6}"/>
              </a:ext>
            </a:extLst>
          </p:cNvPr>
          <p:cNvSpPr>
            <a:spLocks xmlns:a="http://schemas.openxmlformats.org/drawingml/2006/main" noGrp="1"/>
          </p:cNvSpPr>
          <p:nvPr/>
        </p:nvSpPr>
        <p:spPr>
          <a:xfrm xmlns:a="http://schemas.openxmlformats.org/drawingml/2006/main">
            <a:off x="6191250" y="33147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7131F"/>
                </a:solidFill>
                <a:latin typeface="맑은 고딕"/>
                <a:ea typeface="맑은 고딕"/>
                <a:cs typeface="맑은 고딕"/>
              </a:defRPr>
            </a:pPr>
            <a:r>
              <a:rPr sz="1425" b="1">
                <a:solidFill>
                  <a:srgbClr val="07131F"/>
                </a:solidFill>
                <a:latin typeface="맑은 고딕"/>
                <a:ea typeface="맑은 고딕"/>
                <a:cs typeface="맑은 고딕"/>
              </a:rPr>
              <a:t>현재 빌드와 자동 테스트 4개 통과</a:t>
            </a:r>
          </a:p>
        </p:txBody>
      </p:sp>
      <p:sp>
        <p:nvSpPr>
          <p:cNvPr id="15" name="">
            <a:extLst xmlns:a="http://schemas.openxmlformats.org/drawingml/2006/main">
              <a:ext uri="{FF2B5EF4-FFF2-40B4-BE49-F238E27FC236}">
                <a16:creationId xmlns:a16="http://schemas.microsoft.com/office/drawing/2014/main" id="{7BE03F0E-F4FF-438A-8943-083C45BB2D28}"/>
              </a:ext>
            </a:extLst>
          </p:cNvPr>
          <p:cNvSpPr>
            <a:spLocks xmlns:a="http://schemas.openxmlformats.org/drawingml/2006/main" noGrp="1"/>
          </p:cNvSpPr>
          <p:nvPr/>
        </p:nvSpPr>
        <p:spPr>
          <a:xfrm xmlns:a="http://schemas.openxmlformats.org/drawingml/2006/main">
            <a:off x="628650" y="4095750"/>
            <a:ext cx="10934700" cy="9525"/>
          </a:xfrm>
          <a:prstGeom xmlns:a="http://schemas.openxmlformats.org/drawingml/2006/main" prst="rect">
            <a:avLst/>
          </a:prstGeom>
          <a:solidFill xmlns:a="http://schemas.openxmlformats.org/drawingml/2006/main">
            <a:srgbClr val="DCE5E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4D93E84-9EA1-4FDD-8C08-9488701190D3}"/>
              </a:ext>
            </a:extLst>
          </p:cNvPr>
          <p:cNvSpPr>
            <a:spLocks xmlns:a="http://schemas.openxmlformats.org/drawingml/2006/main" noGrp="1"/>
          </p:cNvSpPr>
          <p:nvPr/>
        </p:nvSpPr>
        <p:spPr>
          <a:xfrm xmlns:a="http://schemas.openxmlformats.org/drawingml/2006/main">
            <a:off x="628650" y="44386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0AFA8"/>
                </a:solidFill>
                <a:latin typeface="맑은 고딕"/>
                <a:ea typeface="맑은 고딕"/>
                <a:cs typeface="맑은 고딕"/>
              </a:defRPr>
            </a:pPr>
            <a:r>
              <a:rPr sz="1125" b="1">
                <a:solidFill>
                  <a:srgbClr val="00AFA8"/>
                </a:solidFill>
                <a:latin typeface="맑은 고딕"/>
                <a:ea typeface="맑은 고딕"/>
                <a:cs typeface="맑은 고딕"/>
              </a:rPr>
              <a:t>배운 점</a:t>
            </a:r>
          </a:p>
        </p:txBody>
      </p:sp>
      <p:sp>
        <p:nvSpPr>
          <p:cNvPr id="17" name="">
            <a:extLst xmlns:a="http://schemas.openxmlformats.org/drawingml/2006/main">
              <a:ext uri="{FF2B5EF4-FFF2-40B4-BE49-F238E27FC236}">
                <a16:creationId xmlns:a16="http://schemas.microsoft.com/office/drawing/2014/main" id="{4CCA409B-6B57-4E96-BC05-1544474E6788}"/>
              </a:ext>
            </a:extLst>
          </p:cNvPr>
          <p:cNvSpPr>
            <a:spLocks xmlns:a="http://schemas.openxmlformats.org/drawingml/2006/main" noGrp="1"/>
          </p:cNvSpPr>
          <p:nvPr/>
        </p:nvSpPr>
        <p:spPr>
          <a:xfrm xmlns:a="http://schemas.openxmlformats.org/drawingml/2006/main">
            <a:off x="628650" y="483870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7131F"/>
                </a:solidFill>
                <a:latin typeface="맑은 고딕"/>
                <a:ea typeface="맑은 고딕"/>
                <a:cs typeface="맑은 고딕"/>
              </a:defRPr>
            </a:pPr>
            <a:r>
              <a:rPr sz="1350" b="1">
                <a:solidFill>
                  <a:srgbClr val="07131F"/>
                </a:solidFill>
                <a:latin typeface="맑은 고딕"/>
                <a:ea typeface="맑은 고딕"/>
                <a:cs typeface="맑은 고딕"/>
              </a:rPr>
              <a:t>테이블별 PK를 명확히 구분해야 서비스 로직이 안정됩니다</a:t>
            </a:r>
          </a:p>
        </p:txBody>
      </p:sp>
      <p:sp>
        <p:nvSpPr>
          <p:cNvPr id="18" name="">
            <a:extLst xmlns:a="http://schemas.openxmlformats.org/drawingml/2006/main">
              <a:ext uri="{FF2B5EF4-FFF2-40B4-BE49-F238E27FC236}">
                <a16:creationId xmlns:a16="http://schemas.microsoft.com/office/drawing/2014/main" id="{31468E9F-3E6F-4B55-B75F-749D537F43C2}"/>
              </a:ext>
            </a:extLst>
          </p:cNvPr>
          <p:cNvSpPr>
            <a:spLocks xmlns:a="http://schemas.openxmlformats.org/drawingml/2006/main" noGrp="1"/>
          </p:cNvSpPr>
          <p:nvPr/>
        </p:nvSpPr>
        <p:spPr>
          <a:xfrm xmlns:a="http://schemas.openxmlformats.org/drawingml/2006/main">
            <a:off x="628650" y="531495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7131F"/>
                </a:solidFill>
                <a:latin typeface="맑은 고딕"/>
                <a:ea typeface="맑은 고딕"/>
                <a:cs typeface="맑은 고딕"/>
              </a:defRPr>
            </a:pPr>
            <a:r>
              <a:rPr sz="1350" b="1">
                <a:solidFill>
                  <a:srgbClr val="07131F"/>
                </a:solidFill>
                <a:latin typeface="맑은 고딕"/>
                <a:ea typeface="맑은 고딕"/>
                <a:cs typeface="맑은 고딕"/>
              </a:rPr>
              <a:t>처리시각과 권한 검증은 화면보다 서버가 책임져야 합니다</a:t>
            </a:r>
          </a:p>
        </p:txBody>
      </p:sp>
      <p:sp>
        <p:nvSpPr>
          <p:cNvPr id="19" name="">
            <a:extLst xmlns:a="http://schemas.openxmlformats.org/drawingml/2006/main">
              <a:ext uri="{FF2B5EF4-FFF2-40B4-BE49-F238E27FC236}">
                <a16:creationId xmlns:a16="http://schemas.microsoft.com/office/drawing/2014/main" id="{7016DA4A-EC8E-4D07-BC9C-1ADCB6C1402B}"/>
              </a:ext>
            </a:extLst>
          </p:cNvPr>
          <p:cNvSpPr>
            <a:spLocks xmlns:a="http://schemas.openxmlformats.org/drawingml/2006/main" noGrp="1"/>
          </p:cNvSpPr>
          <p:nvPr/>
        </p:nvSpPr>
        <p:spPr>
          <a:xfrm xmlns:a="http://schemas.openxmlformats.org/drawingml/2006/main">
            <a:off x="8572500" y="4667250"/>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6B4A"/>
                </a:solidFill>
                <a:latin typeface="맑은 고딕"/>
                <a:ea typeface="맑은 고딕"/>
                <a:cs typeface="맑은 고딕"/>
              </a:defRPr>
            </a:pPr>
            <a:r>
              <a:rPr sz="3000" b="1">
                <a:solidFill>
                  <a:srgbClr val="FF6B4A"/>
                </a:solidFill>
                <a:latin typeface="맑은 고딕"/>
                <a:ea typeface="맑은 고딕"/>
                <a:cs typeface="맑은 고딕"/>
              </a:rPr>
              <a:t>Q&amp;A</a:t>
            </a:r>
          </a:p>
        </p:txBody>
      </p:sp>
      <p:sp>
        <p:nvSpPr>
          <p:cNvPr id="20" name="">
            <a:extLst xmlns:a="http://schemas.openxmlformats.org/drawingml/2006/main">
              <a:ext uri="{FF2B5EF4-FFF2-40B4-BE49-F238E27FC236}">
                <a16:creationId xmlns:a16="http://schemas.microsoft.com/office/drawing/2014/main" id="{F511BD8C-E652-4536-A1A8-819664907933}"/>
              </a:ext>
            </a:extLst>
          </p:cNvPr>
          <p:cNvSpPr>
            <a:spLocks xmlns:a="http://schemas.openxmlformats.org/drawingml/2006/main" noGrp="1"/>
          </p:cNvSpPr>
          <p:nvPr/>
        </p:nvSpPr>
        <p:spPr>
          <a:xfrm xmlns:a="http://schemas.openxmlformats.org/drawingml/2006/main">
            <a:off x="7429500" y="5276850"/>
            <a:ext cx="381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18295"/>
                </a:solidFill>
                <a:latin typeface="맑은 고딕"/>
                <a:ea typeface="맑은 고딕"/>
                <a:cs typeface="맑은 고딕"/>
              </a:defRPr>
            </a:pPr>
            <a:r>
              <a:rPr sz="1200" b="0">
                <a:solidFill>
                  <a:srgbClr val="718295"/>
                </a:solidFill>
                <a:latin typeface="맑은 고딕"/>
                <a:ea typeface="맑은 고딕"/>
                <a:cs typeface="맑은 고딕"/>
              </a:rPr>
              <a:t>실제 화면과 코드 흐름을 기준으로 답변드리겠습니다</a:t>
            </a:r>
          </a:p>
        </p:txBody>
      </p:sp>
      <p:sp>
        <p:nvSpPr>
          <p:cNvPr id="21" name="">
            <a:extLst xmlns:a="http://schemas.openxmlformats.org/drawingml/2006/main">
              <a:ext uri="{FF2B5EF4-FFF2-40B4-BE49-F238E27FC236}">
                <a16:creationId xmlns:a16="http://schemas.microsoft.com/office/drawing/2014/main" id="{2813973B-8B1B-434F-9224-04F3178B851C}"/>
              </a:ext>
            </a:extLst>
          </p:cNvPr>
          <p:cNvSpPr>
            <a:spLocks xmlns:a="http://schemas.openxmlformats.org/drawingml/2006/main" noGrp="1"/>
          </p:cNvSpPr>
          <p:nvPr/>
        </p:nvSpPr>
        <p:spPr>
          <a:xfrm xmlns:a="http://schemas.openxmlformats.org/drawingml/2006/main">
            <a:off x="628650" y="61531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5A5AF"/>
                </a:solidFill>
                <a:latin typeface="맑은 고딕"/>
                <a:ea typeface="맑은 고딕"/>
                <a:cs typeface="맑은 고딕"/>
              </a:defRPr>
            </a:pPr>
            <a:r>
              <a:rPr sz="900" b="0">
                <a:solidFill>
                  <a:srgbClr val="95A5AF"/>
                </a:solidFill>
                <a:latin typeface="맑은 고딕"/>
                <a:ea typeface="맑은 고딕"/>
                <a:cs typeface="맑은 고딕"/>
              </a:rPr>
              <a:t>팀명 · 발표자 · 멘토 정보 입력 필요</a:t>
            </a:r>
          </a:p>
        </p:txBody>
      </p:sp>
    </p:spTree>
    <p:extLst>
      <p:ext uri="{BB962C8B-B14F-4D97-AF65-F5344CB8AC3E}">
        <p14:creationId xmlns:p14="http://schemas.microsoft.com/office/powerpoint/2010/main" val="14936638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2026-09-15T06:57:02.3940000Z</dcterms:created>
  <dcterms:modified xsi:type="dcterms:W3CDTF">2026-09-15T06:57:02.3940000Z</dcterms:modified>
</coreProperties>
</file>