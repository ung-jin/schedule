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2.png"/><Relationship Id="rId7" Type="http://schemas.openxmlformats.org/officeDocument/2006/relationships/image" Target="../media/image-9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4.png"/><Relationship Id="rId6" Type="http://schemas.openxmlformats.org/officeDocument/2006/relationships/image" Target="../media/image-10-4.png"/><Relationship Id="rId7" Type="http://schemas.openxmlformats.org/officeDocument/2006/relationships/image" Target="../media/image-10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93992"/>
            <a:ext cx="1533106" cy="64008"/>
          </a:xfrm>
          <a:prstGeom prst="rect">
            <a:avLst/>
          </a:prstGeom>
          <a:solidFill>
            <a:srgbClr val="2B6BF0"/>
          </a:solidFill>
          <a:ln/>
        </p:spPr>
      </p:sp>
      <p:sp>
        <p:nvSpPr>
          <p:cNvPr id="3" name="Shape 1"/>
          <p:cNvSpPr/>
          <p:nvPr/>
        </p:nvSpPr>
        <p:spPr>
          <a:xfrm>
            <a:off x="1523962" y="6793992"/>
            <a:ext cx="1533106" cy="6400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24" y="6793992"/>
            <a:ext cx="1533106" cy="64008"/>
          </a:xfrm>
          <a:prstGeom prst="rect">
            <a:avLst/>
          </a:prstGeom>
          <a:solidFill>
            <a:srgbClr val="1FBBD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86" y="6793992"/>
            <a:ext cx="1533106" cy="64008"/>
          </a:xfrm>
          <a:prstGeom prst="rect">
            <a:avLst/>
          </a:prstGeom>
          <a:solidFill>
            <a:srgbClr val="3CC98A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93992"/>
            <a:ext cx="1533106" cy="64008"/>
          </a:xfrm>
          <a:prstGeom prst="rect">
            <a:avLst/>
          </a:prstGeom>
          <a:solidFill>
            <a:srgbClr val="D2C81A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10" y="6793992"/>
            <a:ext cx="1533106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9143771" y="6793992"/>
            <a:ext cx="1533106" cy="64008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9" name="Shape 7"/>
          <p:cNvSpPr/>
          <p:nvPr/>
        </p:nvSpPr>
        <p:spPr>
          <a:xfrm>
            <a:off x="10667733" y="6793992"/>
            <a:ext cx="1533106" cy="64008"/>
          </a:xfrm>
          <a:prstGeom prst="rect">
            <a:avLst/>
          </a:prstGeom>
          <a:solidFill>
            <a:srgbClr val="E63A1A"/>
          </a:solidFill>
          <a:ln/>
        </p:spPr>
      </p:sp>
      <p:sp>
        <p:nvSpPr>
          <p:cNvPr id="10" name="Shape 8"/>
          <p:cNvSpPr/>
          <p:nvPr/>
        </p:nvSpPr>
        <p:spPr>
          <a:xfrm rot="-240000">
            <a:off x="7178040" y="640080"/>
            <a:ext cx="2880360" cy="246888"/>
          </a:xfrm>
          <a:prstGeom prst="roundRect">
            <a:avLst>
              <a:gd name="adj" fmla="val 185185"/>
            </a:avLst>
          </a:prstGeom>
          <a:solidFill>
            <a:srgbClr val="2B6BF0">
              <a:alpha val="8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240000">
            <a:off x="7818120" y="868680"/>
            <a:ext cx="3703320" cy="246888"/>
          </a:xfrm>
          <a:prstGeom prst="roundRect">
            <a:avLst>
              <a:gd name="adj" fmla="val 185185"/>
            </a:avLst>
          </a:prstGeom>
          <a:solidFill>
            <a:srgbClr val="2196D4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240000">
            <a:off x="7406640" y="1325880"/>
            <a:ext cx="2331720" cy="246888"/>
          </a:xfrm>
          <a:prstGeom prst="roundRect">
            <a:avLst>
              <a:gd name="adj" fmla="val 185185"/>
            </a:avLst>
          </a:prstGeom>
          <a:solidFill>
            <a:srgbClr val="1FBBD1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-240000">
            <a:off x="8641080" y="1490472"/>
            <a:ext cx="3182112" cy="246888"/>
          </a:xfrm>
          <a:prstGeom prst="roundRect">
            <a:avLst>
              <a:gd name="adj" fmla="val 185185"/>
            </a:avLst>
          </a:prstGeom>
          <a:solidFill>
            <a:srgbClr val="3CC98A">
              <a:alpha val="8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240000">
            <a:off x="8174736" y="1828800"/>
            <a:ext cx="4087368" cy="246888"/>
          </a:xfrm>
          <a:prstGeom prst="roundRect">
            <a:avLst>
              <a:gd name="adj" fmla="val 185185"/>
            </a:avLst>
          </a:prstGeom>
          <a:solidFill>
            <a:srgbClr val="D2C81A">
              <a:alpha val="8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-240000">
            <a:off x="9308592" y="2130552"/>
            <a:ext cx="2487168" cy="246888"/>
          </a:xfrm>
          <a:prstGeom prst="roundRect">
            <a:avLst>
              <a:gd name="adj" fmla="val 185185"/>
            </a:avLst>
          </a:prstGeom>
          <a:solidFill>
            <a:srgbClr val="F0A500">
              <a:alpha val="8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-240000">
            <a:off x="7772400" y="2587752"/>
            <a:ext cx="3493008" cy="246888"/>
          </a:xfrm>
          <a:prstGeom prst="roundRect">
            <a:avLst>
              <a:gd name="adj" fmla="val 185185"/>
            </a:avLst>
          </a:prstGeom>
          <a:solidFill>
            <a:srgbClr val="FF5A1F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-240000">
            <a:off x="8942832" y="2834640"/>
            <a:ext cx="2139696" cy="246888"/>
          </a:xfrm>
          <a:prstGeom prst="roundRect">
            <a:avLst>
              <a:gd name="adj" fmla="val 185185"/>
            </a:avLst>
          </a:prstGeom>
          <a:solidFill>
            <a:srgbClr val="E63A1A">
              <a:alpha val="8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566928"/>
            <a:ext cx="1600200" cy="310896"/>
          </a:xfrm>
          <a:prstGeom prst="roundRect">
            <a:avLst>
              <a:gd name="adj" fmla="val 147059"/>
            </a:avLst>
          </a:prstGeom>
          <a:solidFill>
            <a:srgbClr val="FF5A1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56692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F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팀 프로젝트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40280" y="566928"/>
            <a:ext cx="2148840" cy="310896"/>
          </a:xfrm>
          <a:prstGeom prst="roundRect">
            <a:avLst>
              <a:gd name="adj" fmla="val 147059"/>
            </a:avLst>
          </a:prstGeom>
          <a:solidFill>
            <a:srgbClr val="0B0F16"/>
          </a:solidFill>
          <a:ln w="12700">
            <a:solidFill>
              <a:srgbClr val="2C36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56692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9CB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4인 팀 · 화면 단위 분업</a:t>
            </a:r>
            <a:endParaRPr lang="en-US" sz="1100" dirty="0"/>
          </a:p>
        </p:txBody>
      </p:sp>
      <p:pic>
        <p:nvPicPr>
          <p:cNvPr id="22" name="Image 0" descr="/home/claude/deck/assets/images/snowfl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960120" cy="9601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91640" y="1965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6200" dirty="0"/>
          </a:p>
        </p:txBody>
      </p:sp>
      <p:sp>
        <p:nvSpPr>
          <p:cNvPr id="24" name="Shape 21"/>
          <p:cNvSpPr/>
          <p:nvPr/>
        </p:nvSpPr>
        <p:spPr>
          <a:xfrm>
            <a:off x="502920" y="3127248"/>
            <a:ext cx="1188720" cy="82296"/>
          </a:xfrm>
          <a:prstGeom prst="roundRect">
            <a:avLst>
              <a:gd name="adj" fmla="val 555556"/>
            </a:avLst>
          </a:prstGeom>
          <a:solidFill>
            <a:srgbClr val="FF5A1F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D0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냉난방기기 AS기사 스케줄 관리 시스템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02920" y="37307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A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개요부터 결과와 자체 평가까지, 진행한 내용을 정리한 발표 자료입니다.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02920" y="4434840"/>
            <a:ext cx="10789920" cy="9144"/>
          </a:xfrm>
          <a:prstGeom prst="rect">
            <a:avLst/>
          </a:prstGeom>
          <a:solidFill>
            <a:srgbClr val="1F2836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4709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02920" y="49560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최준영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502920" y="52303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대시보드 · 기사관리 담당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108960" y="4709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108960" y="49560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2026.09.07 —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3108960" y="52303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중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715000" y="4709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715000" y="49560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4인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5715000" y="52303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단위로 역할 분업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321040" y="4709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321040" y="49560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EDF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Boot · Thymeleaf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8321040" y="523036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A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MyBatis · MariaDB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· 2026 팀 프로젝트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93992"/>
            <a:ext cx="1533106" cy="64008"/>
          </a:xfrm>
          <a:prstGeom prst="rect">
            <a:avLst/>
          </a:prstGeom>
          <a:solidFill>
            <a:srgbClr val="2B6BF0"/>
          </a:solidFill>
          <a:ln/>
        </p:spPr>
      </p:sp>
      <p:sp>
        <p:nvSpPr>
          <p:cNvPr id="3" name="Shape 1"/>
          <p:cNvSpPr/>
          <p:nvPr/>
        </p:nvSpPr>
        <p:spPr>
          <a:xfrm>
            <a:off x="1523962" y="6793992"/>
            <a:ext cx="1533106" cy="6400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24" y="6793992"/>
            <a:ext cx="1533106" cy="64008"/>
          </a:xfrm>
          <a:prstGeom prst="rect">
            <a:avLst/>
          </a:prstGeom>
          <a:solidFill>
            <a:srgbClr val="1FBBD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86" y="6793992"/>
            <a:ext cx="1533106" cy="64008"/>
          </a:xfrm>
          <a:prstGeom prst="rect">
            <a:avLst/>
          </a:prstGeom>
          <a:solidFill>
            <a:srgbClr val="3CC98A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93992"/>
            <a:ext cx="1533106" cy="64008"/>
          </a:xfrm>
          <a:prstGeom prst="rect">
            <a:avLst/>
          </a:prstGeom>
          <a:solidFill>
            <a:srgbClr val="D2C81A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10" y="6793992"/>
            <a:ext cx="1533106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9143771" y="6793992"/>
            <a:ext cx="1533106" cy="64008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9" name="Shape 7"/>
          <p:cNvSpPr/>
          <p:nvPr/>
        </p:nvSpPr>
        <p:spPr>
          <a:xfrm>
            <a:off x="10667733" y="6793992"/>
            <a:ext cx="1533106" cy="64008"/>
          </a:xfrm>
          <a:prstGeom prst="rect">
            <a:avLst/>
          </a:prstGeom>
          <a:solidFill>
            <a:srgbClr val="E63A1A"/>
          </a:solidFill>
          <a:ln/>
        </p:spPr>
      </p:sp>
      <p:pic>
        <p:nvPicPr>
          <p:cNvPr id="10" name="Image 0" descr="/home/claude/deck/assets/images/snowfl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347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768096"/>
            <a:ext cx="9144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5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   목차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987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502920" y="1536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— 냉난방기기 AS기사 스케줄 관리 시스템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2148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6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280160" y="213055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280160" y="24414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만들었는지 한눈에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02920" y="2944368"/>
            <a:ext cx="5349240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31089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9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1280160" y="30906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주제 및 선정 배경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1280160" y="34015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문제를 골랐는지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" y="3904488"/>
            <a:ext cx="5349240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40690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1280160" y="405079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1280160" y="43616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4명이 어떻게 역할을 나눴는지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02920" y="4864608"/>
            <a:ext cx="5349240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5029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1280160" y="50109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계획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1280160" y="53218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순서로 진행했는지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172200" y="2148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2C8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6949440" y="213055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장비 및 개발 환경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6949440" y="24414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사용한 언어와 도구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172200" y="2944368"/>
            <a:ext cx="5349240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35" name="Text 32"/>
          <p:cNvSpPr/>
          <p:nvPr/>
        </p:nvSpPr>
        <p:spPr>
          <a:xfrm>
            <a:off x="6172200" y="31089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36" name="Text 33"/>
          <p:cNvSpPr/>
          <p:nvPr/>
        </p:nvSpPr>
        <p:spPr>
          <a:xfrm>
            <a:off x="6949440" y="30906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결과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6949440" y="34015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만든 화면과 기능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172200" y="3904488"/>
            <a:ext cx="5349240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39" name="Text 36"/>
          <p:cNvSpPr/>
          <p:nvPr/>
        </p:nvSpPr>
        <p:spPr>
          <a:xfrm>
            <a:off x="6172200" y="40690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40" name="Text 37"/>
          <p:cNvSpPr/>
          <p:nvPr/>
        </p:nvSpPr>
        <p:spPr>
          <a:xfrm>
            <a:off x="6949440" y="405079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방안 및 기대 효과</a:t>
            </a:r>
            <a:endParaRPr lang="en-US" sz="1450" dirty="0"/>
          </a:p>
        </p:txBody>
      </p:sp>
      <p:sp>
        <p:nvSpPr>
          <p:cNvPr id="41" name="Text 38"/>
          <p:cNvSpPr/>
          <p:nvPr/>
        </p:nvSpPr>
        <p:spPr>
          <a:xfrm>
            <a:off x="6949440" y="43616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어떻게 쓸 수 있는지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6172200" y="4864608"/>
            <a:ext cx="5349240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43" name="Text 40"/>
          <p:cNvSpPr/>
          <p:nvPr/>
        </p:nvSpPr>
        <p:spPr>
          <a:xfrm>
            <a:off x="6172200" y="5029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600" dirty="0"/>
          </a:p>
        </p:txBody>
      </p:sp>
      <p:sp>
        <p:nvSpPr>
          <p:cNvPr id="44" name="Text 41"/>
          <p:cNvSpPr/>
          <p:nvPr/>
        </p:nvSpPr>
        <p:spPr>
          <a:xfrm>
            <a:off x="6949440" y="50109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450" dirty="0"/>
          </a:p>
        </p:txBody>
      </p:sp>
      <p:sp>
        <p:nvSpPr>
          <p:cNvPr id="45" name="Text 42"/>
          <p:cNvSpPr/>
          <p:nvPr/>
        </p:nvSpPr>
        <p:spPr>
          <a:xfrm>
            <a:off x="6949440" y="53218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점과 아쉬운 점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· 2026 팀 프로젝트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93992"/>
            <a:ext cx="1533106" cy="64008"/>
          </a:xfrm>
          <a:prstGeom prst="rect">
            <a:avLst/>
          </a:prstGeom>
          <a:solidFill>
            <a:srgbClr val="2B6BF0"/>
          </a:solidFill>
          <a:ln/>
        </p:spPr>
      </p:sp>
      <p:sp>
        <p:nvSpPr>
          <p:cNvPr id="3" name="Shape 1"/>
          <p:cNvSpPr/>
          <p:nvPr/>
        </p:nvSpPr>
        <p:spPr>
          <a:xfrm>
            <a:off x="1523962" y="6793992"/>
            <a:ext cx="1533106" cy="6400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24" y="6793992"/>
            <a:ext cx="1533106" cy="64008"/>
          </a:xfrm>
          <a:prstGeom prst="rect">
            <a:avLst/>
          </a:prstGeom>
          <a:solidFill>
            <a:srgbClr val="1FBBD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86" y="6793992"/>
            <a:ext cx="1533106" cy="64008"/>
          </a:xfrm>
          <a:prstGeom prst="rect">
            <a:avLst/>
          </a:prstGeom>
          <a:solidFill>
            <a:srgbClr val="3CC98A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93992"/>
            <a:ext cx="1533106" cy="64008"/>
          </a:xfrm>
          <a:prstGeom prst="rect">
            <a:avLst/>
          </a:prstGeom>
          <a:solidFill>
            <a:srgbClr val="D2C81A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10" y="6793992"/>
            <a:ext cx="1533106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9143771" y="6793992"/>
            <a:ext cx="1533106" cy="64008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9" name="Shape 7"/>
          <p:cNvSpPr/>
          <p:nvPr/>
        </p:nvSpPr>
        <p:spPr>
          <a:xfrm>
            <a:off x="10667733" y="6793992"/>
            <a:ext cx="1533106" cy="64008"/>
          </a:xfrm>
          <a:prstGeom prst="rect">
            <a:avLst/>
          </a:prstGeom>
          <a:solidFill>
            <a:srgbClr val="E63A1A"/>
          </a:solidFill>
          <a:ln/>
        </p:spPr>
      </p:sp>
      <p:pic>
        <p:nvPicPr>
          <p:cNvPr id="10" name="Image 0" descr="/home/claude/deck/assets/images/snowfl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347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768096"/>
            <a:ext cx="9144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5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 프로젝트 개요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987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 접수부터 결과 보고까지, 한 화면에서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· 2026 팀 프로젝트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Schedule은 냉난방기기 AS기사의 일정을 관리자와 기사가 함께 확인할 수 있는 웹 시스템입니다. 고객의 AS 신청부터 기사 배정, 방문 결과 보고까지 하나의 흐름으로 이어지도록 만들었습니다.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233172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6656" y="2505456"/>
            <a:ext cx="566928" cy="566928"/>
          </a:xfrm>
          <a:prstGeom prst="ellipse">
            <a:avLst/>
          </a:prstGeom>
          <a:solidFill>
            <a:srgbClr val="2B6BF0">
              <a:alpha val="15000"/>
            </a:srgbClr>
          </a:solidFill>
          <a:ln/>
        </p:spPr>
      </p:sp>
      <p:pic>
        <p:nvPicPr>
          <p:cNvPr id="20" name="Image 1" descr="/home/claude/deck/asset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2647188"/>
            <a:ext cx="283464" cy="28346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1520" y="317296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731520" y="336499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3191256" y="233172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364992" y="2505456"/>
            <a:ext cx="566928" cy="566928"/>
          </a:xfrm>
          <a:prstGeom prst="ellipse">
            <a:avLst/>
          </a:prstGeom>
          <a:solidFill>
            <a:srgbClr val="1FBBD1">
              <a:alpha val="15000"/>
            </a:srgbClr>
          </a:solidFill>
          <a:ln/>
        </p:spPr>
      </p:sp>
      <p:pic>
        <p:nvPicPr>
          <p:cNvPr id="25" name="Image 2" descr="/home/claude/deck/assets/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724" y="2647188"/>
            <a:ext cx="283464" cy="2834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419856" y="317296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기간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3419856" y="336499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2026.09.07 ~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5879592" y="233172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053328" y="2505456"/>
            <a:ext cx="566928" cy="566928"/>
          </a:xfrm>
          <a:prstGeom prst="ellipse">
            <a:avLst/>
          </a:prstGeom>
          <a:solidFill>
            <a:srgbClr val="D2C81A">
              <a:alpha val="15000"/>
            </a:srgbClr>
          </a:solidFill>
          <a:ln/>
        </p:spPr>
      </p:sp>
      <p:pic>
        <p:nvPicPr>
          <p:cNvPr id="30" name="Image 3" descr="/home/claude/deck/assets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060" y="2647188"/>
            <a:ext cx="283464" cy="28346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108192" y="317296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108192" y="336499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 · Spring Boot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8567928" y="2331720"/>
            <a:ext cx="2487168" cy="1417320"/>
          </a:xfrm>
          <a:prstGeom prst="roundRect">
            <a:avLst>
              <a:gd name="adj" fmla="val 5161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741664" y="2505456"/>
            <a:ext cx="566928" cy="566928"/>
          </a:xfrm>
          <a:prstGeom prst="ellipse">
            <a:avLst/>
          </a:prstGeom>
          <a:solidFill>
            <a:srgbClr val="FF5A1F">
              <a:alpha val="15000"/>
            </a:srgbClr>
          </a:solidFill>
          <a:ln/>
        </p:spPr>
      </p:sp>
      <p:pic>
        <p:nvPicPr>
          <p:cNvPr id="35" name="Image 4" descr="/home/claude/deck/assets/icons/githu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3396" y="2647188"/>
            <a:ext cx="283464" cy="28346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796528" y="317296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도구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8796528" y="3364992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· 노션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502920" y="4251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신청부터 결과 보고까지의 흐름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557784" y="4718304"/>
            <a:ext cx="658368" cy="658368"/>
          </a:xfrm>
          <a:prstGeom prst="ellipse">
            <a:avLst/>
          </a:prstGeom>
          <a:solidFill>
            <a:srgbClr val="2B6BF0">
              <a:alpha val="15000"/>
            </a:srgbClr>
          </a:solidFill>
          <a:ln/>
        </p:spPr>
      </p:sp>
      <p:pic>
        <p:nvPicPr>
          <p:cNvPr id="40" name="Image 5" descr="/home/claude/deck/assets/icons/smartpho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4882896"/>
            <a:ext cx="329184" cy="32918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502920" y="5440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AS 신청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2880360" y="479145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43" name="Shape 35"/>
          <p:cNvSpPr/>
          <p:nvPr/>
        </p:nvSpPr>
        <p:spPr>
          <a:xfrm>
            <a:off x="3392424" y="4718304"/>
            <a:ext cx="658368" cy="658368"/>
          </a:xfrm>
          <a:prstGeom prst="ellipse">
            <a:avLst/>
          </a:prstGeom>
          <a:solidFill>
            <a:srgbClr val="1FBBD1">
              <a:alpha val="15000"/>
            </a:srgbClr>
          </a:solidFill>
          <a:ln/>
        </p:spPr>
      </p:sp>
      <p:pic>
        <p:nvPicPr>
          <p:cNvPr id="44" name="Image 6" descr="/home/claude/deck/assets/icons/clipbo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7016" y="4882896"/>
            <a:ext cx="329184" cy="329184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3337560" y="5440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확인 · 배정</a:t>
            </a:r>
            <a:endParaRPr lang="en-US" sz="1150" dirty="0"/>
          </a:p>
        </p:txBody>
      </p:sp>
      <p:sp>
        <p:nvSpPr>
          <p:cNvPr id="46" name="Text 37"/>
          <p:cNvSpPr/>
          <p:nvPr/>
        </p:nvSpPr>
        <p:spPr>
          <a:xfrm>
            <a:off x="5715000" y="479145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47" name="Shape 38"/>
          <p:cNvSpPr/>
          <p:nvPr/>
        </p:nvSpPr>
        <p:spPr>
          <a:xfrm>
            <a:off x="6227064" y="4718304"/>
            <a:ext cx="658368" cy="658368"/>
          </a:xfrm>
          <a:prstGeom prst="ellipse">
            <a:avLst/>
          </a:prstGeom>
          <a:solidFill>
            <a:srgbClr val="FF5A1F">
              <a:alpha val="15000"/>
            </a:srgbClr>
          </a:solidFill>
          <a:ln/>
        </p:spPr>
      </p:sp>
      <p:pic>
        <p:nvPicPr>
          <p:cNvPr id="48" name="Image 7" descr="/home/claude/deck/assets/icons/too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1656" y="4882896"/>
            <a:ext cx="329184" cy="329184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6172200" y="5440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방문</a:t>
            </a:r>
            <a:endParaRPr lang="en-US" sz="1150" dirty="0"/>
          </a:p>
        </p:txBody>
      </p:sp>
      <p:sp>
        <p:nvSpPr>
          <p:cNvPr id="50" name="Text 40"/>
          <p:cNvSpPr/>
          <p:nvPr/>
        </p:nvSpPr>
        <p:spPr>
          <a:xfrm>
            <a:off x="8549640" y="479145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E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51" name="Shape 41"/>
          <p:cNvSpPr/>
          <p:nvPr/>
        </p:nvSpPr>
        <p:spPr>
          <a:xfrm>
            <a:off x="9061704" y="4718304"/>
            <a:ext cx="658368" cy="658368"/>
          </a:xfrm>
          <a:prstGeom prst="ellipse">
            <a:avLst/>
          </a:prstGeom>
          <a:solidFill>
            <a:srgbClr val="3CC98A">
              <a:alpha val="15000"/>
            </a:srgbClr>
          </a:solidFill>
          <a:ln/>
        </p:spPr>
      </p:sp>
      <p:pic>
        <p:nvPicPr>
          <p:cNvPr id="52" name="Image 8" descr="/home/claude/deck/assets/icons/camer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6296" y="4882896"/>
            <a:ext cx="329184" cy="329184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9006840" y="5440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보고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93992"/>
            <a:ext cx="1533106" cy="64008"/>
          </a:xfrm>
          <a:prstGeom prst="rect">
            <a:avLst/>
          </a:prstGeom>
          <a:solidFill>
            <a:srgbClr val="2B6BF0"/>
          </a:solidFill>
          <a:ln/>
        </p:spPr>
      </p:sp>
      <p:sp>
        <p:nvSpPr>
          <p:cNvPr id="3" name="Shape 1"/>
          <p:cNvSpPr/>
          <p:nvPr/>
        </p:nvSpPr>
        <p:spPr>
          <a:xfrm>
            <a:off x="1523962" y="6793992"/>
            <a:ext cx="1533106" cy="6400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24" y="6793992"/>
            <a:ext cx="1533106" cy="64008"/>
          </a:xfrm>
          <a:prstGeom prst="rect">
            <a:avLst/>
          </a:prstGeom>
          <a:solidFill>
            <a:srgbClr val="1FBBD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86" y="6793992"/>
            <a:ext cx="1533106" cy="64008"/>
          </a:xfrm>
          <a:prstGeom prst="rect">
            <a:avLst/>
          </a:prstGeom>
          <a:solidFill>
            <a:srgbClr val="3CC98A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93992"/>
            <a:ext cx="1533106" cy="64008"/>
          </a:xfrm>
          <a:prstGeom prst="rect">
            <a:avLst/>
          </a:prstGeom>
          <a:solidFill>
            <a:srgbClr val="D2C81A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10" y="6793992"/>
            <a:ext cx="1533106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9143771" y="6793992"/>
            <a:ext cx="1533106" cy="64008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9" name="Shape 7"/>
          <p:cNvSpPr/>
          <p:nvPr/>
        </p:nvSpPr>
        <p:spPr>
          <a:xfrm>
            <a:off x="10667733" y="6793992"/>
            <a:ext cx="1533106" cy="64008"/>
          </a:xfrm>
          <a:prstGeom prst="rect">
            <a:avLst/>
          </a:prstGeom>
          <a:solidFill>
            <a:srgbClr val="E63A1A"/>
          </a:solidFill>
          <a:ln/>
        </p:spPr>
      </p:sp>
      <p:pic>
        <p:nvPicPr>
          <p:cNvPr id="10" name="Image 0" descr="/home/claude/deck/assets/images/snowfl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347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768096"/>
            <a:ext cx="9144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5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 프로젝트 주제 및 선정 배경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987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예약과 배정이 메모와 전화로 돌아가고 있었습니다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· 2026 팀 프로젝트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" y="16916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E63A1A">
              <a:alpha val="15000"/>
            </a:srgbClr>
          </a:solidFill>
          <a:ln/>
        </p:spPr>
      </p:sp>
      <p:pic>
        <p:nvPicPr>
          <p:cNvPr id="19" name="Image 1" descr="/home/claude/deck/assets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7160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방식의 문제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822960" y="2816352"/>
            <a:ext cx="73152" cy="73152"/>
          </a:xfrm>
          <a:prstGeom prst="ellipse">
            <a:avLst/>
          </a:prstGeom>
          <a:solidFill>
            <a:srgbClr val="E63A1A"/>
          </a:solidFill>
          <a:ln/>
        </p:spPr>
      </p:sp>
      <p:sp>
        <p:nvSpPr>
          <p:cNvPr id="22" name="Text 18"/>
          <p:cNvSpPr/>
          <p:nvPr/>
        </p:nvSpPr>
        <p:spPr>
          <a:xfrm>
            <a:off x="1051560" y="26700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기사에게 시간이 겹치는 AS 건이 중복으로 배정될 수 있음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22960" y="3593592"/>
            <a:ext cx="73152" cy="73152"/>
          </a:xfrm>
          <a:prstGeom prst="ellipse">
            <a:avLst/>
          </a:prstGeom>
          <a:solidFill>
            <a:srgbClr val="E63A1A"/>
          </a:solidFill>
          <a:ln/>
        </p:spPr>
      </p:sp>
      <p:sp>
        <p:nvSpPr>
          <p:cNvPr id="24" name="Text 20"/>
          <p:cNvSpPr/>
          <p:nvPr/>
        </p:nvSpPr>
        <p:spPr>
          <a:xfrm>
            <a:off x="1051560" y="34472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관리자가 전체 기사의 일정을 한눈에 파악하기 어려움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22960" y="4370832"/>
            <a:ext cx="73152" cy="73152"/>
          </a:xfrm>
          <a:prstGeom prst="ellipse">
            <a:avLst/>
          </a:prstGeom>
          <a:solidFill>
            <a:srgbClr val="E63A1A"/>
          </a:solidFill>
          <a:ln/>
        </p:spPr>
      </p:sp>
      <p:sp>
        <p:nvSpPr>
          <p:cNvPr id="26" name="Text 22"/>
          <p:cNvSpPr/>
          <p:nvPr/>
        </p:nvSpPr>
        <p:spPr>
          <a:xfrm>
            <a:off x="1051560" y="42245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본인이 오늘·이번 주 일정을 실시간으로 확인하기 어려움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822960" y="5148072"/>
            <a:ext cx="73152" cy="73152"/>
          </a:xfrm>
          <a:prstGeom prst="ellipse">
            <a:avLst/>
          </a:prstGeom>
          <a:solidFill>
            <a:srgbClr val="E63A1A"/>
          </a:solidFill>
          <a:ln/>
        </p:spPr>
      </p:sp>
      <p:sp>
        <p:nvSpPr>
          <p:cNvPr id="28" name="Text 24"/>
          <p:cNvSpPr/>
          <p:nvPr/>
        </p:nvSpPr>
        <p:spPr>
          <a:xfrm>
            <a:off x="1051560" y="50017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일정이 바뀌거나 취소돼도 관련자에게 전달이 누락될 수 있음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897880" y="16916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10151E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126480" y="1874520"/>
            <a:ext cx="548640" cy="548640"/>
          </a:xfrm>
          <a:prstGeom prst="ellipse">
            <a:avLst/>
          </a:prstGeom>
          <a:solidFill>
            <a:srgbClr val="FF5A1F">
              <a:alpha val="15000"/>
            </a:srgbClr>
          </a:solidFill>
          <a:ln/>
        </p:spPr>
      </p:sp>
      <p:pic>
        <p:nvPicPr>
          <p:cNvPr id="31" name="Image 2" descr="/home/claude/deck/assets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11680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76656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이렇게 만들기로 했습니다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6263640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6D0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관리자가 AS 건을 등록하고 기사를 배정하면, 기사는 자신의 일정을 웹 화면에서 바로 확인할 수 있는 시스템을 만들기로 했습니다.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6263640" y="3749040"/>
            <a:ext cx="4389120" cy="9144"/>
          </a:xfrm>
          <a:prstGeom prst="rect">
            <a:avLst/>
          </a:prstGeom>
          <a:solidFill>
            <a:srgbClr val="2C3646"/>
          </a:solidFill>
          <a:ln/>
        </p:spPr>
      </p:sp>
      <p:sp>
        <p:nvSpPr>
          <p:cNvPr id="35" name="Text 30"/>
          <p:cNvSpPr/>
          <p:nvPr/>
        </p:nvSpPr>
        <p:spPr>
          <a:xfrm>
            <a:off x="6263640" y="39044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 미리보기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263640" y="423367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0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배정 실수 · 중복 감소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6263640" y="456285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0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관리자 일정 파악 시간 단축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6263640" y="48920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0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기사-관리자 소통 비용 감소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6263640" y="522122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0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AS 처리 이력의 체계적 관리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6263640" y="54406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8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자세한 기대 효과는 07에서 다시 정리했습니다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93992"/>
            <a:ext cx="1533106" cy="64008"/>
          </a:xfrm>
          <a:prstGeom prst="rect">
            <a:avLst/>
          </a:prstGeom>
          <a:solidFill>
            <a:srgbClr val="2B6BF0"/>
          </a:solidFill>
          <a:ln/>
        </p:spPr>
      </p:sp>
      <p:sp>
        <p:nvSpPr>
          <p:cNvPr id="3" name="Shape 1"/>
          <p:cNvSpPr/>
          <p:nvPr/>
        </p:nvSpPr>
        <p:spPr>
          <a:xfrm>
            <a:off x="1523962" y="6793992"/>
            <a:ext cx="1533106" cy="6400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24" y="6793992"/>
            <a:ext cx="1533106" cy="64008"/>
          </a:xfrm>
          <a:prstGeom prst="rect">
            <a:avLst/>
          </a:prstGeom>
          <a:solidFill>
            <a:srgbClr val="1FBBD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86" y="6793992"/>
            <a:ext cx="1533106" cy="64008"/>
          </a:xfrm>
          <a:prstGeom prst="rect">
            <a:avLst/>
          </a:prstGeom>
          <a:solidFill>
            <a:srgbClr val="3CC98A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93992"/>
            <a:ext cx="1533106" cy="64008"/>
          </a:xfrm>
          <a:prstGeom prst="rect">
            <a:avLst/>
          </a:prstGeom>
          <a:solidFill>
            <a:srgbClr val="D2C81A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10" y="6793992"/>
            <a:ext cx="1533106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9143771" y="6793992"/>
            <a:ext cx="1533106" cy="64008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9" name="Shape 7"/>
          <p:cNvSpPr/>
          <p:nvPr/>
        </p:nvSpPr>
        <p:spPr>
          <a:xfrm>
            <a:off x="10667733" y="6793992"/>
            <a:ext cx="1533106" cy="64008"/>
          </a:xfrm>
          <a:prstGeom prst="rect">
            <a:avLst/>
          </a:prstGeom>
          <a:solidFill>
            <a:srgbClr val="E63A1A"/>
          </a:solidFill>
          <a:ln/>
        </p:spPr>
      </p:sp>
      <p:pic>
        <p:nvPicPr>
          <p:cNvPr id="10" name="Image 0" descr="/home/claude/deck/assets/images/snowfl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347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768096"/>
            <a:ext cx="9144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5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 프로젝트 팀 구성 및 역할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987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단위로 나눠서, 각자 처음부터 끝까지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· 2026 팀 프로젝트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" y="169164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1947672"/>
            <a:ext cx="566928" cy="566928"/>
          </a:xfrm>
          <a:prstGeom prst="ellipse">
            <a:avLst/>
          </a:prstGeom>
          <a:solidFill>
            <a:srgbClr val="2B6BF0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1520" y="26517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31520" y="295351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B6B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· 로그인 · 통합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31520" y="3474720"/>
            <a:ext cx="2029968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593592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메인/로그인 화면, 공통 레이아웃, 권한별 화면 분기, 전체 통합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191256" y="169164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419856" y="1947672"/>
            <a:ext cx="566928" cy="566928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26" name="Text 23"/>
          <p:cNvSpPr/>
          <p:nvPr/>
        </p:nvSpPr>
        <p:spPr>
          <a:xfrm>
            <a:off x="3419856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3419856" y="26517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최준영 (본인)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3419856" y="295351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5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대시보드 · 기사관리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419856" y="3474720"/>
            <a:ext cx="2029968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30" name="Text 27"/>
          <p:cNvSpPr/>
          <p:nvPr/>
        </p:nvSpPr>
        <p:spPr>
          <a:xfrm>
            <a:off x="3419856" y="3593592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상태별 통계 카드, 최근 AS 접수 리스트, 기사 등록·수정·삭제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879592" y="169164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08192" y="1947672"/>
            <a:ext cx="566928" cy="566928"/>
          </a:xfrm>
          <a:prstGeom prst="ellipse">
            <a:avLst/>
          </a:prstGeom>
          <a:solidFill>
            <a:srgbClr val="D2C81A"/>
          </a:solidFill>
          <a:ln/>
        </p:spPr>
      </p:sp>
      <p:sp>
        <p:nvSpPr>
          <p:cNvPr id="33" name="Text 30"/>
          <p:cNvSpPr/>
          <p:nvPr/>
        </p:nvSpPr>
        <p:spPr>
          <a:xfrm>
            <a:off x="6108192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108192" y="26517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김성준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6108192" y="295351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D2C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일정관리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108192" y="3474720"/>
            <a:ext cx="2029968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37" name="Text 34"/>
          <p:cNvSpPr/>
          <p:nvPr/>
        </p:nvSpPr>
        <p:spPr>
          <a:xfrm>
            <a:off x="6108192" y="3593592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캘린더 출력, 기사 배정, 일정 충돌 확인 (진행 중)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567928" y="169164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8796528" y="1947672"/>
            <a:ext cx="566928" cy="566928"/>
          </a:xfrm>
          <a:prstGeom prst="ellipse">
            <a:avLst/>
          </a:prstGeom>
          <a:solidFill>
            <a:srgbClr val="3CC98A"/>
          </a:solidFill>
          <a:ln/>
        </p:spPr>
      </p:sp>
      <p:sp>
        <p:nvSpPr>
          <p:cNvPr id="40" name="Text 37"/>
          <p:cNvSpPr/>
          <p:nvPr/>
        </p:nvSpPr>
        <p:spPr>
          <a:xfrm>
            <a:off x="8796528" y="19476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8796528" y="26517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박성인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8796528" y="2953512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CC9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대시보드 · AS결과보고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8796528" y="3474720"/>
            <a:ext cx="2029968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44" name="Text 41"/>
          <p:cNvSpPr/>
          <p:nvPr/>
        </p:nvSpPr>
        <p:spPr>
          <a:xfrm>
            <a:off x="8796528" y="3593592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본인 일정 확인, 방문 결과 등록(사진 포함)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02920" y="4800600"/>
            <a:ext cx="10744200" cy="868680"/>
          </a:xfrm>
          <a:prstGeom prst="roundRect">
            <a:avLst>
              <a:gd name="adj" fmla="val 8421"/>
            </a:avLst>
          </a:prstGeom>
          <a:solidFill>
            <a:srgbClr val="10151E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22960" y="5001768"/>
            <a:ext cx="457200" cy="457200"/>
          </a:xfrm>
          <a:prstGeom prst="ellipse">
            <a:avLst/>
          </a:prstGeom>
          <a:solidFill>
            <a:srgbClr val="D2C81A">
              <a:alpha val="15000"/>
            </a:srgbClr>
          </a:solidFill>
          <a:ln/>
        </p:spPr>
      </p:sp>
      <p:pic>
        <p:nvPicPr>
          <p:cNvPr id="47" name="Image 1" descr="/home/claude/deck/assets/icons/help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5116068"/>
            <a:ext cx="228600" cy="228600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1417320" y="4937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화면 단위로 나눴나요?</a:t>
            </a:r>
            <a:endParaRPr lang="en-US" sz="1250" dirty="0"/>
          </a:p>
        </p:txBody>
      </p:sp>
      <p:sp>
        <p:nvSpPr>
          <p:cNvPr id="49" name="Text 45"/>
          <p:cNvSpPr/>
          <p:nvPr/>
        </p:nvSpPr>
        <p:spPr>
          <a:xfrm>
            <a:off x="4297680" y="493776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6D0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백엔드/프론트로 나누면 서로 기다리는 시간이 길어집니다. 그래서 각자 화면 하나를 처음부터 끝까지 완성해보는 방식을 선택했고, 덕분에 서로 의존이 적어 대기 시간도 줄었습니다.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93992"/>
            <a:ext cx="1533106" cy="64008"/>
          </a:xfrm>
          <a:prstGeom prst="rect">
            <a:avLst/>
          </a:prstGeom>
          <a:solidFill>
            <a:srgbClr val="2B6BF0"/>
          </a:solidFill>
          <a:ln/>
        </p:spPr>
      </p:sp>
      <p:sp>
        <p:nvSpPr>
          <p:cNvPr id="3" name="Shape 1"/>
          <p:cNvSpPr/>
          <p:nvPr/>
        </p:nvSpPr>
        <p:spPr>
          <a:xfrm>
            <a:off x="1523962" y="6793992"/>
            <a:ext cx="1533106" cy="6400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24" y="6793992"/>
            <a:ext cx="1533106" cy="64008"/>
          </a:xfrm>
          <a:prstGeom prst="rect">
            <a:avLst/>
          </a:prstGeom>
          <a:solidFill>
            <a:srgbClr val="1FBBD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86" y="6793992"/>
            <a:ext cx="1533106" cy="64008"/>
          </a:xfrm>
          <a:prstGeom prst="rect">
            <a:avLst/>
          </a:prstGeom>
          <a:solidFill>
            <a:srgbClr val="3CC98A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93992"/>
            <a:ext cx="1533106" cy="64008"/>
          </a:xfrm>
          <a:prstGeom prst="rect">
            <a:avLst/>
          </a:prstGeom>
          <a:solidFill>
            <a:srgbClr val="D2C81A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10" y="6793992"/>
            <a:ext cx="1533106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9143771" y="6793992"/>
            <a:ext cx="1533106" cy="64008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9" name="Shape 7"/>
          <p:cNvSpPr/>
          <p:nvPr/>
        </p:nvSpPr>
        <p:spPr>
          <a:xfrm>
            <a:off x="10667733" y="6793992"/>
            <a:ext cx="1533106" cy="64008"/>
          </a:xfrm>
          <a:prstGeom prst="rect">
            <a:avLst/>
          </a:prstGeom>
          <a:solidFill>
            <a:srgbClr val="E63A1A"/>
          </a:solidFill>
          <a:ln/>
        </p:spPr>
      </p:sp>
      <p:pic>
        <p:nvPicPr>
          <p:cNvPr id="10" name="Image 0" descr="/home/claude/deck/assets/images/snowfl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347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768096"/>
            <a:ext cx="9144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5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 프로젝트 수행 계획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987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기간이지만, 순서는 지키면서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· 2026 팀 프로젝트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2148840"/>
            <a:ext cx="9829800" cy="27432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18" name="Shape 15"/>
          <p:cNvSpPr/>
          <p:nvPr/>
        </p:nvSpPr>
        <p:spPr>
          <a:xfrm>
            <a:off x="521208" y="2057400"/>
            <a:ext cx="210312" cy="210312"/>
          </a:xfrm>
          <a:prstGeom prst="ellipse">
            <a:avLst/>
          </a:prstGeom>
          <a:solidFill>
            <a:srgbClr val="2B6BF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82880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09.07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82880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킥오프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82880" y="2679192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구성, 화면 단위 역할 분담, 협업 도구 결정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578608" y="2057400"/>
            <a:ext cx="210312" cy="210312"/>
          </a:xfrm>
          <a:prstGeom prst="ellipse">
            <a:avLst/>
          </a:prstGeom>
          <a:solidFill>
            <a:srgbClr val="1FBBD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240280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B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09.08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240280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설계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240280" y="2679192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화면 시안 확정, 프로젝트 뼈대 생성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36008" y="2057400"/>
            <a:ext cx="210312" cy="210312"/>
          </a:xfrm>
          <a:prstGeom prst="ellipse">
            <a:avLst/>
          </a:prstGeom>
          <a:solidFill>
            <a:srgbClr val="3CC98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97680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09.09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297680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· 개발 환경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297680" y="2679192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ERDCloud로 5개 테이블 설계, 기사관리 기능 구현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693408" y="2057400"/>
            <a:ext cx="210312" cy="210312"/>
          </a:xfrm>
          <a:prstGeom prst="ellipse">
            <a:avLst/>
          </a:prstGeom>
          <a:solidFill>
            <a:srgbClr val="FF5A1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55080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09.11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355080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리뷰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355080" y="2679192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파트 셀프 리뷰로 7개 이슈 점검·개선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750808" y="2057400"/>
            <a:ext cx="210312" cy="210312"/>
          </a:xfrm>
          <a:prstGeom prst="ellipse">
            <a:avLst/>
          </a:prstGeom>
          <a:solidFill>
            <a:srgbClr val="E63A1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12480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진행중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412480" y="2350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· 마무리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412480" y="2679192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 기능 통합, 발표 준비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02920" y="41605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777240" y="4361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브랜치 전략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777240" y="4782312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E63A1A">
              <a:alpha val="15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777240" y="478231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3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1965960" y="4782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배포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777240" y="516636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2196D4">
              <a:alpha val="15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777240" y="51663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9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1965960" y="51663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개발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777240" y="5550408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2B6BF0">
              <a:alpha val="15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777240" y="555040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6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feature/*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1965960" y="55504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작업 (예: ft/admin-engineer)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5852160" y="416052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6126480" y="4361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도구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6195060" y="4960620"/>
            <a:ext cx="502920" cy="502920"/>
          </a:xfrm>
          <a:prstGeom prst="ellipse">
            <a:avLst/>
          </a:prstGeom>
          <a:solidFill>
            <a:srgbClr val="2B6BF0">
              <a:alpha val="15000"/>
            </a:srgbClr>
          </a:solidFill>
          <a:ln/>
        </p:spPr>
      </p:sp>
      <p:pic>
        <p:nvPicPr>
          <p:cNvPr id="52" name="Image 1" descr="/home/claude/deck/assets/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790" y="5086350"/>
            <a:ext cx="251460" cy="251460"/>
          </a:xfrm>
          <a:prstGeom prst="rect">
            <a:avLst/>
          </a:prstGeom>
        </p:spPr>
      </p:pic>
      <p:sp>
        <p:nvSpPr>
          <p:cNvPr id="53" name="Text 49"/>
          <p:cNvSpPr/>
          <p:nvPr/>
        </p:nvSpPr>
        <p:spPr>
          <a:xfrm>
            <a:off x="5989320" y="55138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7493508" y="4960620"/>
            <a:ext cx="502920" cy="502920"/>
          </a:xfrm>
          <a:prstGeom prst="ellipse">
            <a:avLst/>
          </a:prstGeom>
          <a:solidFill>
            <a:srgbClr val="2B6BF0">
              <a:alpha val="15000"/>
            </a:srgbClr>
          </a:solidFill>
          <a:ln/>
        </p:spPr>
      </p:sp>
      <p:pic>
        <p:nvPicPr>
          <p:cNvPr id="55" name="Image 2" descr="/home/claude/deck/assets/icons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238" y="5086350"/>
            <a:ext cx="251460" cy="251460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7287768" y="55138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노션</a:t>
            </a:r>
            <a:endParaRPr lang="en-US" sz="950" dirty="0"/>
          </a:p>
        </p:txBody>
      </p:sp>
      <p:sp>
        <p:nvSpPr>
          <p:cNvPr id="57" name="Shape 52"/>
          <p:cNvSpPr/>
          <p:nvPr/>
        </p:nvSpPr>
        <p:spPr>
          <a:xfrm>
            <a:off x="8791956" y="4960620"/>
            <a:ext cx="502920" cy="502920"/>
          </a:xfrm>
          <a:prstGeom prst="ellipse">
            <a:avLst/>
          </a:prstGeom>
          <a:solidFill>
            <a:srgbClr val="2B6BF0">
              <a:alpha val="15000"/>
            </a:srgbClr>
          </a:solidFill>
          <a:ln/>
        </p:spPr>
      </p:sp>
      <p:pic>
        <p:nvPicPr>
          <p:cNvPr id="58" name="Image 3" descr="/home/claude/deck/assets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686" y="5086350"/>
            <a:ext cx="251460" cy="251460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8586216" y="55138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ERDCloud</a:t>
            </a:r>
            <a:endParaRPr lang="en-US" sz="950" dirty="0"/>
          </a:p>
        </p:txBody>
      </p:sp>
      <p:sp>
        <p:nvSpPr>
          <p:cNvPr id="60" name="Shape 54"/>
          <p:cNvSpPr/>
          <p:nvPr/>
        </p:nvSpPr>
        <p:spPr>
          <a:xfrm>
            <a:off x="10090404" y="4960620"/>
            <a:ext cx="502920" cy="502920"/>
          </a:xfrm>
          <a:prstGeom prst="ellipse">
            <a:avLst/>
          </a:prstGeom>
          <a:solidFill>
            <a:srgbClr val="2B6BF0">
              <a:alpha val="15000"/>
            </a:srgbClr>
          </a:solidFill>
          <a:ln/>
        </p:spPr>
      </p:sp>
      <p:pic>
        <p:nvPicPr>
          <p:cNvPr id="61" name="Image 4" descr="/home/claude/deck/assets/icons/mess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6134" y="5086350"/>
            <a:ext cx="251460" cy="251460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9884664" y="55138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93992"/>
            <a:ext cx="1533106" cy="64008"/>
          </a:xfrm>
          <a:prstGeom prst="rect">
            <a:avLst/>
          </a:prstGeom>
          <a:solidFill>
            <a:srgbClr val="2B6BF0"/>
          </a:solidFill>
          <a:ln/>
        </p:spPr>
      </p:sp>
      <p:sp>
        <p:nvSpPr>
          <p:cNvPr id="3" name="Shape 1"/>
          <p:cNvSpPr/>
          <p:nvPr/>
        </p:nvSpPr>
        <p:spPr>
          <a:xfrm>
            <a:off x="1523962" y="6793992"/>
            <a:ext cx="1533106" cy="6400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24" y="6793992"/>
            <a:ext cx="1533106" cy="64008"/>
          </a:xfrm>
          <a:prstGeom prst="rect">
            <a:avLst/>
          </a:prstGeom>
          <a:solidFill>
            <a:srgbClr val="1FBBD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86" y="6793992"/>
            <a:ext cx="1533106" cy="64008"/>
          </a:xfrm>
          <a:prstGeom prst="rect">
            <a:avLst/>
          </a:prstGeom>
          <a:solidFill>
            <a:srgbClr val="3CC98A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93992"/>
            <a:ext cx="1533106" cy="64008"/>
          </a:xfrm>
          <a:prstGeom prst="rect">
            <a:avLst/>
          </a:prstGeom>
          <a:solidFill>
            <a:srgbClr val="D2C81A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10" y="6793992"/>
            <a:ext cx="1533106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9143771" y="6793992"/>
            <a:ext cx="1533106" cy="64008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9" name="Shape 7"/>
          <p:cNvSpPr/>
          <p:nvPr/>
        </p:nvSpPr>
        <p:spPr>
          <a:xfrm>
            <a:off x="10667733" y="6793992"/>
            <a:ext cx="1533106" cy="64008"/>
          </a:xfrm>
          <a:prstGeom prst="rect">
            <a:avLst/>
          </a:prstGeom>
          <a:solidFill>
            <a:srgbClr val="E63A1A"/>
          </a:solidFill>
          <a:ln/>
        </p:spPr>
      </p:sp>
      <p:pic>
        <p:nvPicPr>
          <p:cNvPr id="10" name="Image 0" descr="/home/claude/deck/assets/images/snowfl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347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768096"/>
            <a:ext cx="9144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5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 활용 장비 및 개발 환경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987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수업에서 배운 기술로, 실무에 가깝게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· 2026 팀 프로젝트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" y="169164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22376" y="1883664"/>
            <a:ext cx="566928" cy="566928"/>
          </a:xfrm>
          <a:prstGeom prst="ellipse">
            <a:avLst/>
          </a:prstGeom>
          <a:solidFill>
            <a:srgbClr val="2B6BF0">
              <a:alpha val="15000"/>
            </a:srgbClr>
          </a:solidFill>
          <a:ln/>
        </p:spPr>
      </p:sp>
      <p:pic>
        <p:nvPicPr>
          <p:cNvPr id="19" name="Image 1" descr="/home/claude/deck/assets/icons/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025396"/>
            <a:ext cx="283464" cy="28346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99032" y="1911096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 · 프레임워크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58952" y="2624328"/>
            <a:ext cx="2944368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22" name="Text 18"/>
          <p:cNvSpPr/>
          <p:nvPr/>
        </p:nvSpPr>
        <p:spPr>
          <a:xfrm>
            <a:off x="758952" y="274320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6B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 17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758952" y="304495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Spring Boot 4.0.8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142232" y="169164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361688" y="1883664"/>
            <a:ext cx="566928" cy="566928"/>
          </a:xfrm>
          <a:prstGeom prst="ellipse">
            <a:avLst/>
          </a:prstGeom>
          <a:solidFill>
            <a:srgbClr val="2196D4">
              <a:alpha val="15000"/>
            </a:srgbClr>
          </a:solidFill>
          <a:ln/>
        </p:spPr>
      </p:sp>
      <p:pic>
        <p:nvPicPr>
          <p:cNvPr id="26" name="Image 2" descr="/home/claude/deck/assets/icons/lay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025396"/>
            <a:ext cx="283464" cy="28346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038344" y="1911096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화면(뷰) 엔진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398264" y="2624328"/>
            <a:ext cx="2944368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29" name="Text 24"/>
          <p:cNvSpPr/>
          <p:nvPr/>
        </p:nvSpPr>
        <p:spPr>
          <a:xfrm>
            <a:off x="4398264" y="274320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96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Thymeleaf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4398264" y="304495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Layout Dialect 사용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781544" y="169164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001000" y="1883664"/>
            <a:ext cx="566928" cy="566928"/>
          </a:xfrm>
          <a:prstGeom prst="ellipse">
            <a:avLst/>
          </a:prstGeom>
          <a:solidFill>
            <a:srgbClr val="1FBBD1">
              <a:alpha val="15000"/>
            </a:srgbClr>
          </a:solidFill>
          <a:ln/>
        </p:spPr>
      </p:sp>
      <p:pic>
        <p:nvPicPr>
          <p:cNvPr id="33" name="Image 3" descr="/home/claude/deck/assets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32" y="2025396"/>
            <a:ext cx="283464" cy="28346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677656" y="1911096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8037576" y="2624328"/>
            <a:ext cx="2944368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36" name="Text 30"/>
          <p:cNvSpPr/>
          <p:nvPr/>
        </p:nvSpPr>
        <p:spPr>
          <a:xfrm>
            <a:off x="8037576" y="274320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BB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MariaDB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8037576" y="304495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MyBatis · log4jdbc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502920" y="365760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722376" y="3849624"/>
            <a:ext cx="566928" cy="566928"/>
          </a:xfrm>
          <a:prstGeom prst="ellipse">
            <a:avLst/>
          </a:prstGeom>
          <a:solidFill>
            <a:srgbClr val="3CC98A">
              <a:alpha val="15000"/>
            </a:srgbClr>
          </a:solidFill>
          <a:ln/>
        </p:spPr>
      </p:sp>
      <p:pic>
        <p:nvPicPr>
          <p:cNvPr id="40" name="Image 4" descr="/home/claude/deck/assets/icons/moni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3991356"/>
            <a:ext cx="283464" cy="2834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399032" y="3877056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758952" y="4590288"/>
            <a:ext cx="2944368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43" name="Text 36"/>
          <p:cNvSpPr/>
          <p:nvPr/>
        </p:nvSpPr>
        <p:spPr>
          <a:xfrm>
            <a:off x="758952" y="470916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C9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HTML · CSS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758952" y="501091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JavaScript (AJAX)</a:t>
            </a:r>
            <a:endParaRPr lang="en-US" sz="1050" dirty="0"/>
          </a:p>
        </p:txBody>
      </p:sp>
      <p:sp>
        <p:nvSpPr>
          <p:cNvPr id="45" name="Shape 38"/>
          <p:cNvSpPr/>
          <p:nvPr/>
        </p:nvSpPr>
        <p:spPr>
          <a:xfrm>
            <a:off x="4142232" y="365760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4361688" y="3849624"/>
            <a:ext cx="566928" cy="566928"/>
          </a:xfrm>
          <a:prstGeom prst="ellipse">
            <a:avLst/>
          </a:prstGeom>
          <a:solidFill>
            <a:srgbClr val="D2C81A">
              <a:alpha val="15000"/>
            </a:srgbClr>
          </a:solidFill>
          <a:ln/>
        </p:spPr>
      </p:sp>
      <p:pic>
        <p:nvPicPr>
          <p:cNvPr id="47" name="Image 5" descr="/home/claude/deck/assets/icons/termin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420" y="3991356"/>
            <a:ext cx="283464" cy="283464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5038344" y="3877056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도구</a:t>
            </a:r>
            <a:endParaRPr lang="en-US" sz="1200" dirty="0"/>
          </a:p>
        </p:txBody>
      </p:sp>
      <p:sp>
        <p:nvSpPr>
          <p:cNvPr id="49" name="Shape 41"/>
          <p:cNvSpPr/>
          <p:nvPr/>
        </p:nvSpPr>
        <p:spPr>
          <a:xfrm>
            <a:off x="4398264" y="4590288"/>
            <a:ext cx="2944368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50" name="Text 42"/>
          <p:cNvSpPr/>
          <p:nvPr/>
        </p:nvSpPr>
        <p:spPr>
          <a:xfrm>
            <a:off x="4398264" y="470916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2C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IntelliJ IDEA</a:t>
            </a:r>
            <a:endParaRPr lang="en-US" sz="1250" dirty="0"/>
          </a:p>
        </p:txBody>
      </p:sp>
      <p:sp>
        <p:nvSpPr>
          <p:cNvPr id="51" name="Text 43"/>
          <p:cNvSpPr/>
          <p:nvPr/>
        </p:nvSpPr>
        <p:spPr>
          <a:xfrm>
            <a:off x="4398264" y="501091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Gradle · Lombok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7781544" y="365760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53" name="Shape 45"/>
          <p:cNvSpPr/>
          <p:nvPr/>
        </p:nvSpPr>
        <p:spPr>
          <a:xfrm>
            <a:off x="8001000" y="3849624"/>
            <a:ext cx="566928" cy="566928"/>
          </a:xfrm>
          <a:prstGeom prst="ellipse">
            <a:avLst/>
          </a:prstGeom>
          <a:solidFill>
            <a:srgbClr val="FF5A1F">
              <a:alpha val="15000"/>
            </a:srgbClr>
          </a:solidFill>
          <a:ln/>
        </p:spPr>
      </p:sp>
      <p:pic>
        <p:nvPicPr>
          <p:cNvPr id="54" name="Image 6" descr="/home/claude/deck/assets/icons/githu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2732" y="3991356"/>
            <a:ext cx="283464" cy="283464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8677656" y="3877056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협업 도구</a:t>
            </a:r>
            <a:endParaRPr lang="en-US" sz="1200" dirty="0"/>
          </a:p>
        </p:txBody>
      </p:sp>
      <p:sp>
        <p:nvSpPr>
          <p:cNvPr id="56" name="Shape 47"/>
          <p:cNvSpPr/>
          <p:nvPr/>
        </p:nvSpPr>
        <p:spPr>
          <a:xfrm>
            <a:off x="8037576" y="4590288"/>
            <a:ext cx="2944368" cy="7315"/>
          </a:xfrm>
          <a:prstGeom prst="rect">
            <a:avLst/>
          </a:prstGeom>
          <a:solidFill>
            <a:srgbClr val="DDE3EA"/>
          </a:solidFill>
          <a:ln/>
        </p:spPr>
      </p:sp>
      <p:sp>
        <p:nvSpPr>
          <p:cNvPr id="57" name="Text 48"/>
          <p:cNvSpPr/>
          <p:nvPr/>
        </p:nvSpPr>
        <p:spPr>
          <a:xfrm>
            <a:off x="8037576" y="470916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· 노션</a:t>
            </a:r>
            <a:endParaRPr lang="en-US" sz="1250" dirty="0"/>
          </a:p>
        </p:txBody>
      </p:sp>
      <p:sp>
        <p:nvSpPr>
          <p:cNvPr id="58" name="Text 49"/>
          <p:cNvSpPr/>
          <p:nvPr/>
        </p:nvSpPr>
        <p:spPr>
          <a:xfrm>
            <a:off x="8037576" y="5010912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ERDCloud · 카카오톡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93992"/>
            <a:ext cx="1533106" cy="64008"/>
          </a:xfrm>
          <a:prstGeom prst="rect">
            <a:avLst/>
          </a:prstGeom>
          <a:solidFill>
            <a:srgbClr val="2B6BF0"/>
          </a:solidFill>
          <a:ln/>
        </p:spPr>
      </p:sp>
      <p:sp>
        <p:nvSpPr>
          <p:cNvPr id="3" name="Shape 1"/>
          <p:cNvSpPr/>
          <p:nvPr/>
        </p:nvSpPr>
        <p:spPr>
          <a:xfrm>
            <a:off x="1523962" y="6793992"/>
            <a:ext cx="1533106" cy="6400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24" y="6793992"/>
            <a:ext cx="1533106" cy="64008"/>
          </a:xfrm>
          <a:prstGeom prst="rect">
            <a:avLst/>
          </a:prstGeom>
          <a:solidFill>
            <a:srgbClr val="1FBBD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86" y="6793992"/>
            <a:ext cx="1533106" cy="64008"/>
          </a:xfrm>
          <a:prstGeom prst="rect">
            <a:avLst/>
          </a:prstGeom>
          <a:solidFill>
            <a:srgbClr val="3CC98A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93992"/>
            <a:ext cx="1533106" cy="64008"/>
          </a:xfrm>
          <a:prstGeom prst="rect">
            <a:avLst/>
          </a:prstGeom>
          <a:solidFill>
            <a:srgbClr val="D2C81A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10" y="6793992"/>
            <a:ext cx="1533106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9143771" y="6793992"/>
            <a:ext cx="1533106" cy="64008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9" name="Shape 7"/>
          <p:cNvSpPr/>
          <p:nvPr/>
        </p:nvSpPr>
        <p:spPr>
          <a:xfrm>
            <a:off x="10667733" y="6793992"/>
            <a:ext cx="1533106" cy="64008"/>
          </a:xfrm>
          <a:prstGeom prst="rect">
            <a:avLst/>
          </a:prstGeom>
          <a:solidFill>
            <a:srgbClr val="E63A1A"/>
          </a:solidFill>
          <a:ln/>
        </p:spPr>
      </p:sp>
      <p:pic>
        <p:nvPicPr>
          <p:cNvPr id="10" name="Image 0" descr="/home/claude/deck/assets/images/snowfl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347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768096"/>
            <a:ext cx="9144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5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 프로젝트 결과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987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영역 중 어디까지 완성했는지 정리했습니다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· 2026 팀 프로젝트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1481328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표기는 실제 커밋 이력이 아닌 역할 분담과 코드 스타일을 바탕으로 확인한 것입니다.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1874520"/>
            <a:ext cx="10744200" cy="64008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1874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· 공통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566160" y="1874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팀장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349240" y="18745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로그인/로그아웃, 권한별 화면 분기, 공통 레이아웃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10012680" y="2039112"/>
            <a:ext cx="1005840" cy="310896"/>
          </a:xfrm>
          <a:prstGeom prst="roundRect">
            <a:avLst>
              <a:gd name="adj" fmla="val 147059"/>
            </a:avLst>
          </a:prstGeom>
          <a:solidFill>
            <a:srgbClr val="3CC98A">
              <a:alpha val="18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0012680" y="20391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C9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02920" y="2624328"/>
            <a:ext cx="10744200" cy="64008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26243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대시보드 · 기사관리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566160" y="26243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최준영 (본인)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349240" y="26243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카드, 최근 접수 리스트, 기사 CRUD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0012680" y="2788920"/>
            <a:ext cx="1005840" cy="310896"/>
          </a:xfrm>
          <a:prstGeom prst="roundRect">
            <a:avLst>
              <a:gd name="adj" fmla="val 147059"/>
            </a:avLst>
          </a:prstGeom>
          <a:solidFill>
            <a:srgbClr val="3CC98A">
              <a:alpha val="18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10012680" y="27889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C9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02920" y="3374136"/>
            <a:ext cx="10744200" cy="64008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" y="337413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일정관리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566160" y="337413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김성준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349240" y="337413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뼈대까지 진행, 실제 캘린더·배정 기능은 다음 단계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0012680" y="3538728"/>
            <a:ext cx="1005840" cy="310896"/>
          </a:xfrm>
          <a:prstGeom prst="roundRect">
            <a:avLst>
              <a:gd name="adj" fmla="val 147059"/>
            </a:avLst>
          </a:prstGeom>
          <a:solidFill>
            <a:srgbClr val="D2C81A">
              <a:alpha val="18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10012680" y="35387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2C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중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02920" y="4123944"/>
            <a:ext cx="10744200" cy="64008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1520" y="412394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대시보드 · AS결과보고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3566160" y="41239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박성인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349240" y="41239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일정 확인, 결과 등록(사진 업로드 포함)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10012680" y="4288536"/>
            <a:ext cx="1005840" cy="310896"/>
          </a:xfrm>
          <a:prstGeom prst="roundRect">
            <a:avLst>
              <a:gd name="adj" fmla="val 147059"/>
            </a:avLst>
          </a:prstGeom>
          <a:solidFill>
            <a:srgbClr val="3CC98A">
              <a:alpha val="18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10012680" y="42885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C9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02920" y="4873752"/>
            <a:ext cx="10744200" cy="640080"/>
          </a:xfrm>
          <a:prstGeom prst="roundRect">
            <a:avLst>
              <a:gd name="adj" fmla="val 11429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31520" y="487375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AS 신청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3566160" y="487375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확인 중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5349240" y="48737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신청 · 조회 기능은 완료, 역할 분담표에는 없던 기능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10012680" y="5038344"/>
            <a:ext cx="1005840" cy="310896"/>
          </a:xfrm>
          <a:prstGeom prst="roundRect">
            <a:avLst>
              <a:gd name="adj" fmla="val 147059"/>
            </a:avLst>
          </a:prstGeom>
          <a:solidFill>
            <a:srgbClr val="3CC98A">
              <a:alpha val="18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10012680" y="50383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C9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502920" y="56784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설계: ERDCloud로 함께 그린 5개 테이블 — MEMBER · ENGINEER · AS_REQUEST · AS_SCHEDULE · AS_RESULT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93992"/>
            <a:ext cx="1533106" cy="64008"/>
          </a:xfrm>
          <a:prstGeom prst="rect">
            <a:avLst/>
          </a:prstGeom>
          <a:solidFill>
            <a:srgbClr val="2B6BF0"/>
          </a:solidFill>
          <a:ln/>
        </p:spPr>
      </p:sp>
      <p:sp>
        <p:nvSpPr>
          <p:cNvPr id="3" name="Shape 1"/>
          <p:cNvSpPr/>
          <p:nvPr/>
        </p:nvSpPr>
        <p:spPr>
          <a:xfrm>
            <a:off x="1523962" y="6793992"/>
            <a:ext cx="1533106" cy="6400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24" y="6793992"/>
            <a:ext cx="1533106" cy="64008"/>
          </a:xfrm>
          <a:prstGeom prst="rect">
            <a:avLst/>
          </a:prstGeom>
          <a:solidFill>
            <a:srgbClr val="1FBBD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86" y="6793992"/>
            <a:ext cx="1533106" cy="64008"/>
          </a:xfrm>
          <a:prstGeom prst="rect">
            <a:avLst/>
          </a:prstGeom>
          <a:solidFill>
            <a:srgbClr val="3CC98A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93992"/>
            <a:ext cx="1533106" cy="64008"/>
          </a:xfrm>
          <a:prstGeom prst="rect">
            <a:avLst/>
          </a:prstGeom>
          <a:solidFill>
            <a:srgbClr val="D2C81A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10" y="6793992"/>
            <a:ext cx="1533106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9143771" y="6793992"/>
            <a:ext cx="1533106" cy="64008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9" name="Shape 7"/>
          <p:cNvSpPr/>
          <p:nvPr/>
        </p:nvSpPr>
        <p:spPr>
          <a:xfrm>
            <a:off x="10667733" y="6793992"/>
            <a:ext cx="1533106" cy="64008"/>
          </a:xfrm>
          <a:prstGeom prst="rect">
            <a:avLst/>
          </a:prstGeom>
          <a:solidFill>
            <a:srgbClr val="E63A1A"/>
          </a:solidFill>
          <a:ln/>
        </p:spPr>
      </p:sp>
      <p:pic>
        <p:nvPicPr>
          <p:cNvPr id="10" name="Image 0" descr="/home/claude/deck/assets/images/snowfl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347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768096"/>
            <a:ext cx="9144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5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 프로젝트 결과 · 담당 파트(최준영)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987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대시보드 · 기사관리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· 2026 팀 프로젝트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" y="169164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1892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대시보드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68096" y="2304288"/>
            <a:ext cx="384048" cy="384048"/>
          </a:xfrm>
          <a:prstGeom prst="ellipse">
            <a:avLst/>
          </a:prstGeom>
          <a:solidFill>
            <a:srgbClr val="2B6BF0">
              <a:alpha val="15000"/>
            </a:srgbClr>
          </a:solidFill>
          <a:ln/>
        </p:spPr>
      </p:sp>
      <p:pic>
        <p:nvPicPr>
          <p:cNvPr id="20" name="Image 1" descr="/home/claude/deck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400300"/>
            <a:ext cx="192024" cy="19202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280160" y="23134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상태별 통계 카드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1280160" y="2542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접수중 · 진행중 · 완료 · 취소 건수를 한 번에 집계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68096" y="2871216"/>
            <a:ext cx="384048" cy="384048"/>
          </a:xfrm>
          <a:prstGeom prst="ellipse">
            <a:avLst/>
          </a:prstGeom>
          <a:solidFill>
            <a:srgbClr val="2B6BF0">
              <a:alpha val="15000"/>
            </a:srgbClr>
          </a:solidFill>
          <a:ln/>
        </p:spPr>
      </p:sp>
      <p:pic>
        <p:nvPicPr>
          <p:cNvPr id="24" name="Image 2" descr="/home/claude/deck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2967228"/>
            <a:ext cx="192024" cy="1920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80160" y="28803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AS 접수 리스트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128016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접수일이 같아도 순서가 흔들리지 않게 정렬 처리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68096" y="3438144"/>
            <a:ext cx="384048" cy="384048"/>
          </a:xfrm>
          <a:prstGeom prst="ellipse">
            <a:avLst/>
          </a:prstGeom>
          <a:solidFill>
            <a:srgbClr val="2B6BF0">
              <a:alpha val="15000"/>
            </a:srgbClr>
          </a:solidFill>
          <a:ln/>
        </p:spPr>
      </p:sp>
      <p:pic>
        <p:nvPicPr>
          <p:cNvPr id="28" name="Image 3" descr="/home/claude/deck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3534156"/>
            <a:ext cx="192024" cy="19202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80160" y="34472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모달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1280160" y="3675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존재하지 않는 요청번호로 열어도 안전하게 처리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897880" y="169164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6172200" y="1892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기사관리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6163056" y="2304288"/>
            <a:ext cx="384048" cy="384048"/>
          </a:xfrm>
          <a:prstGeom prst="ellipse">
            <a:avLst/>
          </a:prstGeom>
          <a:solidFill>
            <a:srgbClr val="FF5A1F">
              <a:alpha val="15000"/>
            </a:srgbClr>
          </a:solidFill>
          <a:ln/>
        </p:spPr>
      </p:sp>
      <p:pic>
        <p:nvPicPr>
          <p:cNvPr id="34" name="Image 4" descr="/home/claude/deck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068" y="2400300"/>
            <a:ext cx="192024" cy="1920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675120" y="23134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· 등록 · 수정 통합</a:t>
            </a:r>
            <a:endParaRPr lang="en-US" sz="1150" dirty="0"/>
          </a:p>
        </p:txBody>
      </p:sp>
      <p:sp>
        <p:nvSpPr>
          <p:cNvPr id="36" name="Text 29"/>
          <p:cNvSpPr/>
          <p:nvPr/>
        </p:nvSpPr>
        <p:spPr>
          <a:xfrm>
            <a:off x="6675120" y="2542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화면에서 formMode로 상태를 바꿔가며 처리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163056" y="2871216"/>
            <a:ext cx="384048" cy="384048"/>
          </a:xfrm>
          <a:prstGeom prst="ellipse">
            <a:avLst/>
          </a:prstGeom>
          <a:solidFill>
            <a:srgbClr val="FF5A1F">
              <a:alpha val="15000"/>
            </a:srgbClr>
          </a:solidFill>
          <a:ln/>
        </p:spPr>
      </p:sp>
      <p:pic>
        <p:nvPicPr>
          <p:cNvPr id="38" name="Image 5" descr="/home/claude/deck/assets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068" y="2967228"/>
            <a:ext cx="192024" cy="19202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75120" y="28803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+ 기사 정보 동시 등록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667512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테이블 저장을 하나의 단위로 묶어 처리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6163056" y="3438144"/>
            <a:ext cx="384048" cy="384048"/>
          </a:xfrm>
          <a:prstGeom prst="ellipse">
            <a:avLst/>
          </a:prstGeom>
          <a:solidFill>
            <a:srgbClr val="FF5A1F">
              <a:alpha val="15000"/>
            </a:srgbClr>
          </a:solidFill>
          <a:ln/>
        </p:spPr>
      </p:sp>
      <p:pic>
        <p:nvPicPr>
          <p:cNvPr id="42" name="Image 6" descr="/home/claude/deck/assets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9068" y="3534156"/>
            <a:ext cx="192024" cy="19202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675120" y="34472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삭제</a:t>
            </a:r>
            <a:endParaRPr lang="en-US" sz="1150" dirty="0"/>
          </a:p>
        </p:txBody>
      </p:sp>
      <p:sp>
        <p:nvSpPr>
          <p:cNvPr id="44" name="Text 35"/>
          <p:cNvSpPr/>
          <p:nvPr/>
        </p:nvSpPr>
        <p:spPr>
          <a:xfrm>
            <a:off x="6675120" y="36758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정보를 안전하게 제거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502920" y="4251960"/>
            <a:ext cx="10744200" cy="1417320"/>
          </a:xfrm>
          <a:prstGeom prst="roundRect">
            <a:avLst>
              <a:gd name="adj" fmla="val 5161"/>
            </a:avLst>
          </a:prstGeom>
          <a:solidFill>
            <a:srgbClr val="10151E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7772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 후, 스스로 다시 점검했습니다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777240" y="475488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D0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파트를 셀프 코드 리뷰로 다시 살펴보며 7개의 개선 지점을 찾았고, 그중 5개를 완전히 해결했습니다.</a:t>
            </a:r>
            <a:endParaRPr lang="en-US" sz="1100" dirty="0"/>
          </a:p>
        </p:txBody>
      </p:sp>
      <p:sp>
        <p:nvSpPr>
          <p:cNvPr id="48" name="Shape 39"/>
          <p:cNvSpPr/>
          <p:nvPr/>
        </p:nvSpPr>
        <p:spPr>
          <a:xfrm>
            <a:off x="777240" y="5184648"/>
            <a:ext cx="1028700" cy="310896"/>
          </a:xfrm>
          <a:prstGeom prst="roundRect">
            <a:avLst>
              <a:gd name="adj" fmla="val 147059"/>
            </a:avLst>
          </a:prstGeom>
          <a:solidFill>
            <a:srgbClr val="1A2230"/>
          </a:solidFill>
          <a:ln w="12700">
            <a:solidFill>
              <a:srgbClr val="2C3646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777240" y="5184648"/>
            <a:ext cx="10287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처리</a:t>
            </a:r>
            <a:endParaRPr lang="en-US" sz="950" dirty="0"/>
          </a:p>
        </p:txBody>
      </p:sp>
      <p:sp>
        <p:nvSpPr>
          <p:cNvPr id="50" name="Shape 41"/>
          <p:cNvSpPr/>
          <p:nvPr/>
        </p:nvSpPr>
        <p:spPr>
          <a:xfrm>
            <a:off x="1943100" y="5184648"/>
            <a:ext cx="923544" cy="310896"/>
          </a:xfrm>
          <a:prstGeom prst="roundRect">
            <a:avLst>
              <a:gd name="adj" fmla="val 147059"/>
            </a:avLst>
          </a:prstGeom>
          <a:solidFill>
            <a:srgbClr val="1A2230"/>
          </a:solidFill>
          <a:ln w="12700">
            <a:solidFill>
              <a:srgbClr val="2C3646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1943100" y="5184648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XSS 방지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3003804" y="5184648"/>
            <a:ext cx="2290572" cy="310896"/>
          </a:xfrm>
          <a:prstGeom prst="roundRect">
            <a:avLst>
              <a:gd name="adj" fmla="val 147059"/>
            </a:avLst>
          </a:prstGeom>
          <a:solidFill>
            <a:srgbClr val="1A2230"/>
          </a:solidFill>
          <a:ln w="12700">
            <a:solidFill>
              <a:srgbClr val="2C3646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3003804" y="5184648"/>
            <a:ext cx="22905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CSRF 방어(GET→DELETE)</a:t>
            </a:r>
            <a:endParaRPr lang="en-US" sz="950" dirty="0"/>
          </a:p>
        </p:txBody>
      </p:sp>
      <p:sp>
        <p:nvSpPr>
          <p:cNvPr id="54" name="Shape 45"/>
          <p:cNvSpPr/>
          <p:nvPr/>
        </p:nvSpPr>
        <p:spPr>
          <a:xfrm>
            <a:off x="5431536" y="5184648"/>
            <a:ext cx="923544" cy="310896"/>
          </a:xfrm>
          <a:prstGeom prst="roundRect">
            <a:avLst>
              <a:gd name="adj" fmla="val 147059"/>
            </a:avLst>
          </a:prstGeom>
          <a:solidFill>
            <a:srgbClr val="1A2230"/>
          </a:solidFill>
          <a:ln w="12700">
            <a:solidFill>
              <a:srgbClr val="2C3646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5431536" y="5184648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안정화</a:t>
            </a:r>
            <a:endParaRPr lang="en-US" sz="950" dirty="0"/>
          </a:p>
        </p:txBody>
      </p:sp>
      <p:sp>
        <p:nvSpPr>
          <p:cNvPr id="56" name="Shape 47"/>
          <p:cNvSpPr/>
          <p:nvPr/>
        </p:nvSpPr>
        <p:spPr>
          <a:xfrm>
            <a:off x="6492240" y="5184648"/>
            <a:ext cx="1133856" cy="310896"/>
          </a:xfrm>
          <a:prstGeom prst="roundRect">
            <a:avLst>
              <a:gd name="adj" fmla="val 147059"/>
            </a:avLst>
          </a:prstGeom>
          <a:solidFill>
            <a:srgbClr val="1A2230"/>
          </a:solidFill>
          <a:ln w="12700">
            <a:solidFill>
              <a:srgbClr val="2C3646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6492240" y="5184648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상황 처리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93992"/>
            <a:ext cx="1533106" cy="64008"/>
          </a:xfrm>
          <a:prstGeom prst="rect">
            <a:avLst/>
          </a:prstGeom>
          <a:solidFill>
            <a:srgbClr val="2B6BF0"/>
          </a:solidFill>
          <a:ln/>
        </p:spPr>
      </p:sp>
      <p:sp>
        <p:nvSpPr>
          <p:cNvPr id="3" name="Shape 1"/>
          <p:cNvSpPr/>
          <p:nvPr/>
        </p:nvSpPr>
        <p:spPr>
          <a:xfrm>
            <a:off x="1523962" y="6793992"/>
            <a:ext cx="1533106" cy="6400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24" y="6793992"/>
            <a:ext cx="1533106" cy="64008"/>
          </a:xfrm>
          <a:prstGeom prst="rect">
            <a:avLst/>
          </a:prstGeom>
          <a:solidFill>
            <a:srgbClr val="1FBBD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86" y="6793992"/>
            <a:ext cx="1533106" cy="64008"/>
          </a:xfrm>
          <a:prstGeom prst="rect">
            <a:avLst/>
          </a:prstGeom>
          <a:solidFill>
            <a:srgbClr val="3CC98A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93992"/>
            <a:ext cx="1533106" cy="64008"/>
          </a:xfrm>
          <a:prstGeom prst="rect">
            <a:avLst/>
          </a:prstGeom>
          <a:solidFill>
            <a:srgbClr val="D2C81A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10" y="6793992"/>
            <a:ext cx="1533106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9143771" y="6793992"/>
            <a:ext cx="1533106" cy="64008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9" name="Shape 7"/>
          <p:cNvSpPr/>
          <p:nvPr/>
        </p:nvSpPr>
        <p:spPr>
          <a:xfrm>
            <a:off x="10667733" y="6793992"/>
            <a:ext cx="1533106" cy="64008"/>
          </a:xfrm>
          <a:prstGeom prst="rect">
            <a:avLst/>
          </a:prstGeom>
          <a:solidFill>
            <a:srgbClr val="E63A1A"/>
          </a:solidFill>
          <a:ln/>
        </p:spPr>
      </p:sp>
      <p:pic>
        <p:nvPicPr>
          <p:cNvPr id="10" name="Image 0" descr="/home/claude/deck/assets/images/snowfl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347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768096"/>
            <a:ext cx="9144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5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 활용 방안 및 기대 효과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987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만들고 끝나는 프로젝트가 아니라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· 2026 팀 프로젝트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" y="169164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10151E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2B6BF0">
              <a:alpha val="15000"/>
            </a:srgbClr>
          </a:solidFill>
          <a:ln/>
        </p:spPr>
      </p:sp>
      <p:pic>
        <p:nvPicPr>
          <p:cNvPr id="19" name="Image 1" descr="/home/claude/deck/assets/icons/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7160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방안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868680" y="27432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도입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68680" y="3017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D0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냉난방기기 AS 업체가 실제 일정 관리 도구로 바로 활용 가능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68680" y="36758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포트폴리오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68680" y="39502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D0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 준비 시 실무 역량을 보여주는 프로젝트로 활용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68680" y="46085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확장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68680" y="48828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6D0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알림, 통계 고도화 등을 더할 수 있는 기반 시스템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897880" y="169164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126480" y="1874520"/>
            <a:ext cx="548640" cy="548640"/>
          </a:xfrm>
          <a:prstGeom prst="ellipse">
            <a:avLst/>
          </a:prstGeom>
          <a:solidFill>
            <a:srgbClr val="3CC98A">
              <a:alpha val="15000"/>
            </a:srgbClr>
          </a:solidFill>
          <a:ln/>
        </p:spPr>
      </p:sp>
      <p:pic>
        <p:nvPicPr>
          <p:cNvPr id="29" name="Image 2" descr="/home/claude/deck/assets/icons/trend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1168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6656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6199632" y="2697480"/>
            <a:ext cx="402336" cy="402336"/>
          </a:xfrm>
          <a:prstGeom prst="ellipse">
            <a:avLst/>
          </a:prstGeom>
          <a:solidFill>
            <a:srgbClr val="3CC98A">
              <a:alpha val="15000"/>
            </a:srgbClr>
          </a:solidFill>
          <a:ln/>
        </p:spPr>
      </p:sp>
      <p:pic>
        <p:nvPicPr>
          <p:cNvPr id="32" name="Image 3" descr="/home/claude/deck/asset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16" y="2798064"/>
            <a:ext cx="201168" cy="20116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720840" y="26974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배정 실수 · 중복 감소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720840" y="2926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일정이 겹치는지 화면에서 바로 확인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199632" y="3447288"/>
            <a:ext cx="402336" cy="402336"/>
          </a:xfrm>
          <a:prstGeom prst="ellipse">
            <a:avLst/>
          </a:prstGeom>
          <a:solidFill>
            <a:srgbClr val="3CC98A">
              <a:alpha val="15000"/>
            </a:srgbClr>
          </a:solidFill>
          <a:ln/>
        </p:spPr>
      </p:sp>
      <p:pic>
        <p:nvPicPr>
          <p:cNvPr id="36" name="Image 4" descr="/home/claude/deck/asset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3547872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720840" y="34472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 파악 시간 단축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720840" y="3675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관리자가 전체 현황을 한 화면에서 확인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199632" y="4197096"/>
            <a:ext cx="402336" cy="402336"/>
          </a:xfrm>
          <a:prstGeom prst="ellipse">
            <a:avLst/>
          </a:prstGeom>
          <a:solidFill>
            <a:srgbClr val="3CC98A">
              <a:alpha val="15000"/>
            </a:srgbClr>
          </a:solidFill>
          <a:ln/>
        </p:spPr>
      </p:sp>
      <p:pic>
        <p:nvPicPr>
          <p:cNvPr id="40" name="Image 5" descr="/home/claude/deck/assets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0216" y="4297680"/>
            <a:ext cx="201168" cy="20116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720840" y="41970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소통 비용 감소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6720840" y="4425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대신 화면으로 확인 · 공유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199632" y="4946904"/>
            <a:ext cx="402336" cy="402336"/>
          </a:xfrm>
          <a:prstGeom prst="ellipse">
            <a:avLst/>
          </a:prstGeom>
          <a:solidFill>
            <a:srgbClr val="3CC98A">
              <a:alpha val="15000"/>
            </a:srgbClr>
          </a:solidFill>
          <a:ln/>
        </p:spPr>
      </p:sp>
      <p:pic>
        <p:nvPicPr>
          <p:cNvPr id="44" name="Image 6" descr="/home/claude/deck/assets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216" y="5047488"/>
            <a:ext cx="201168" cy="20116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720840" y="49469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이력 관리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6720840" y="5175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접수부터 결과까지 기록이 남음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93992"/>
            <a:ext cx="1533106" cy="64008"/>
          </a:xfrm>
          <a:prstGeom prst="rect">
            <a:avLst/>
          </a:prstGeom>
          <a:solidFill>
            <a:srgbClr val="2B6BF0"/>
          </a:solidFill>
          <a:ln/>
        </p:spPr>
      </p:sp>
      <p:sp>
        <p:nvSpPr>
          <p:cNvPr id="3" name="Shape 1"/>
          <p:cNvSpPr/>
          <p:nvPr/>
        </p:nvSpPr>
        <p:spPr>
          <a:xfrm>
            <a:off x="1523962" y="6793992"/>
            <a:ext cx="1533106" cy="6400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24" y="6793992"/>
            <a:ext cx="1533106" cy="64008"/>
          </a:xfrm>
          <a:prstGeom prst="rect">
            <a:avLst/>
          </a:prstGeom>
          <a:solidFill>
            <a:srgbClr val="1FBBD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86" y="6793992"/>
            <a:ext cx="1533106" cy="64008"/>
          </a:xfrm>
          <a:prstGeom prst="rect">
            <a:avLst/>
          </a:prstGeom>
          <a:solidFill>
            <a:srgbClr val="3CC98A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93992"/>
            <a:ext cx="1533106" cy="64008"/>
          </a:xfrm>
          <a:prstGeom prst="rect">
            <a:avLst/>
          </a:prstGeom>
          <a:solidFill>
            <a:srgbClr val="D2C81A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10" y="6793992"/>
            <a:ext cx="1533106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9143771" y="6793992"/>
            <a:ext cx="1533106" cy="64008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9" name="Shape 7"/>
          <p:cNvSpPr/>
          <p:nvPr/>
        </p:nvSpPr>
        <p:spPr>
          <a:xfrm>
            <a:off x="10667733" y="6793992"/>
            <a:ext cx="1533106" cy="64008"/>
          </a:xfrm>
          <a:prstGeom prst="rect">
            <a:avLst/>
          </a:prstGeom>
          <a:solidFill>
            <a:srgbClr val="E63A1A"/>
          </a:solidFill>
          <a:ln/>
        </p:spPr>
      </p:sp>
      <p:pic>
        <p:nvPicPr>
          <p:cNvPr id="10" name="Image 0" descr="/home/claude/deck/assets/images/snowfl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347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5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768096"/>
            <a:ext cx="91440" cy="91440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F5A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 자체 평가 의견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987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결과보다, 과정에서 무엇을 배웠는지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· 2026 팀 프로젝트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85855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" y="164592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1801368"/>
            <a:ext cx="457200" cy="457200"/>
          </a:xfrm>
          <a:prstGeom prst="ellipse">
            <a:avLst/>
          </a:prstGeom>
          <a:solidFill>
            <a:srgbClr val="3CC98A">
              <a:alpha val="15000"/>
            </a:srgbClr>
          </a:solidFill>
          <a:ln/>
        </p:spPr>
      </p:sp>
      <p:pic>
        <p:nvPicPr>
          <p:cNvPr id="19" name="Image 1" descr="/home/claude/deck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1915668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80160" y="182880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잘된 점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777240" y="2427732"/>
            <a:ext cx="54864" cy="54864"/>
          </a:xfrm>
          <a:prstGeom prst="ellipse">
            <a:avLst/>
          </a:prstGeom>
          <a:solidFill>
            <a:srgbClr val="3CC98A"/>
          </a:solidFill>
          <a:ln/>
        </p:spPr>
      </p:sp>
      <p:sp>
        <p:nvSpPr>
          <p:cNvPr id="22" name="Text 18"/>
          <p:cNvSpPr/>
          <p:nvPr/>
        </p:nvSpPr>
        <p:spPr>
          <a:xfrm>
            <a:off x="960120" y="23042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단위로 나눠 각자 완결된 경험을 해봄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77240" y="2866644"/>
            <a:ext cx="54864" cy="54864"/>
          </a:xfrm>
          <a:prstGeom prst="ellipse">
            <a:avLst/>
          </a:prstGeom>
          <a:solidFill>
            <a:srgbClr val="3CC98A"/>
          </a:solidFill>
          <a:ln/>
        </p:spPr>
      </p:sp>
      <p:sp>
        <p:nvSpPr>
          <p:cNvPr id="24" name="Text 20"/>
          <p:cNvSpPr/>
          <p:nvPr/>
        </p:nvSpPr>
        <p:spPr>
          <a:xfrm>
            <a:off x="960120" y="2743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 후에도 스스로 다시 점검(셀프 코드 리뷰)해서 보안 문제를 직접 찾고 고침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77240" y="3305556"/>
            <a:ext cx="54864" cy="54864"/>
          </a:xfrm>
          <a:prstGeom prst="ellipse">
            <a:avLst/>
          </a:prstGeom>
          <a:solidFill>
            <a:srgbClr val="3CC98A"/>
          </a:solidFill>
          <a:ln/>
        </p:spPr>
      </p:sp>
      <p:sp>
        <p:nvSpPr>
          <p:cNvPr id="26" name="Text 22"/>
          <p:cNvSpPr/>
          <p:nvPr/>
        </p:nvSpPr>
        <p:spPr>
          <a:xfrm>
            <a:off x="960120" y="31821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프로젝트의 코드 컨벤션을 이어받아 협업 속도를 지킴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035040" y="164592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263640" y="1801368"/>
            <a:ext cx="457200" cy="457200"/>
          </a:xfrm>
          <a:prstGeom prst="ellipse">
            <a:avLst/>
          </a:prstGeom>
          <a:solidFill>
            <a:srgbClr val="E63A1A">
              <a:alpha val="15000"/>
            </a:srgbClr>
          </a:solidFill>
          <a:ln/>
        </p:spPr>
      </p:sp>
      <p:pic>
        <p:nvPicPr>
          <p:cNvPr id="29" name="Image 2" descr="/home/claude/deck/assets/icons/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915668"/>
            <a:ext cx="228600" cy="2286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812280" y="182880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아쉬운 점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6309360" y="2427732"/>
            <a:ext cx="54864" cy="54864"/>
          </a:xfrm>
          <a:prstGeom prst="ellipse">
            <a:avLst/>
          </a:prstGeom>
          <a:solidFill>
            <a:srgbClr val="E63A1A"/>
          </a:solidFill>
          <a:ln/>
        </p:spPr>
      </p:sp>
      <p:sp>
        <p:nvSpPr>
          <p:cNvPr id="32" name="Text 27"/>
          <p:cNvSpPr/>
          <p:nvPr/>
        </p:nvSpPr>
        <p:spPr>
          <a:xfrm>
            <a:off x="6492240" y="23042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화면·데이터 설계에 시간을 더 썼어야 함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309360" y="2866644"/>
            <a:ext cx="54864" cy="54864"/>
          </a:xfrm>
          <a:prstGeom prst="ellipse">
            <a:avLst/>
          </a:prstGeom>
          <a:solidFill>
            <a:srgbClr val="E63A1A"/>
          </a:solidFill>
          <a:ln/>
        </p:spPr>
      </p:sp>
      <p:sp>
        <p:nvSpPr>
          <p:cNvPr id="34" name="Text 29"/>
          <p:cNvSpPr/>
          <p:nvPr/>
        </p:nvSpPr>
        <p:spPr>
          <a:xfrm>
            <a:off x="6492240" y="2743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값을 문자열로 흩어 둬서 나중에 관리가 번거로움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309360" y="3305556"/>
            <a:ext cx="54864" cy="54864"/>
          </a:xfrm>
          <a:prstGeom prst="ellipse">
            <a:avLst/>
          </a:prstGeom>
          <a:solidFill>
            <a:srgbClr val="E63A1A"/>
          </a:solidFill>
          <a:ln/>
        </p:spPr>
      </p:sp>
      <p:sp>
        <p:nvSpPr>
          <p:cNvPr id="36" name="Text 31"/>
          <p:cNvSpPr/>
          <p:nvPr/>
        </p:nvSpPr>
        <p:spPr>
          <a:xfrm>
            <a:off x="6492240" y="31821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일정관리 등 일부 기능은 아직 진행 중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502920" y="402336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731520" y="4178808"/>
            <a:ext cx="457200" cy="457200"/>
          </a:xfrm>
          <a:prstGeom prst="ellipse">
            <a:avLst/>
          </a:prstGeom>
          <a:solidFill>
            <a:srgbClr val="2B6BF0">
              <a:alpha val="15000"/>
            </a:srgbClr>
          </a:solidFill>
          <a:ln/>
        </p:spPr>
      </p:sp>
      <p:pic>
        <p:nvPicPr>
          <p:cNvPr id="39" name="Image 3" descr="/home/claude/deck/assets/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4293108"/>
            <a:ext cx="228600" cy="2286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1280160" y="420624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점</a:t>
            </a:r>
            <a:endParaRPr lang="en-US" sz="1350" dirty="0"/>
          </a:p>
        </p:txBody>
      </p:sp>
      <p:sp>
        <p:nvSpPr>
          <p:cNvPr id="41" name="Shape 35"/>
          <p:cNvSpPr/>
          <p:nvPr/>
        </p:nvSpPr>
        <p:spPr>
          <a:xfrm>
            <a:off x="777240" y="4805172"/>
            <a:ext cx="54864" cy="54864"/>
          </a:xfrm>
          <a:prstGeom prst="ellipse">
            <a:avLst/>
          </a:prstGeom>
          <a:solidFill>
            <a:srgbClr val="2B6BF0"/>
          </a:solidFill>
          <a:ln/>
        </p:spPr>
      </p:sp>
      <p:sp>
        <p:nvSpPr>
          <p:cNvPr id="42" name="Text 36"/>
          <p:cNvSpPr/>
          <p:nvPr/>
        </p:nvSpPr>
        <p:spPr>
          <a:xfrm>
            <a:off x="960120" y="46817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테이블에 걸친 저장은 트랜잭션으로 묶어야 안전함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777240" y="5244084"/>
            <a:ext cx="54864" cy="54864"/>
          </a:xfrm>
          <a:prstGeom prst="ellipse">
            <a:avLst/>
          </a:prstGeom>
          <a:solidFill>
            <a:srgbClr val="2B6BF0"/>
          </a:solidFill>
          <a:ln/>
        </p:spPr>
      </p:sp>
      <p:sp>
        <p:nvSpPr>
          <p:cNvPr id="44" name="Text 38"/>
          <p:cNvSpPr/>
          <p:nvPr/>
        </p:nvSpPr>
        <p:spPr>
          <a:xfrm>
            <a:off x="960120" y="5120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"동작하는 코드"와 "안전한 코드"는 다른 문제라는 것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777240" y="5682996"/>
            <a:ext cx="54864" cy="54864"/>
          </a:xfrm>
          <a:prstGeom prst="ellipse">
            <a:avLst/>
          </a:prstGeom>
          <a:solidFill>
            <a:srgbClr val="2B6BF0"/>
          </a:solidFill>
          <a:ln/>
        </p:spPr>
      </p:sp>
      <p:sp>
        <p:nvSpPr>
          <p:cNvPr id="46" name="Text 40"/>
          <p:cNvSpPr/>
          <p:nvPr/>
        </p:nvSpPr>
        <p:spPr>
          <a:xfrm>
            <a:off x="960120" y="5559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규칙은 말로 합의하는 것보다 도구로 강제하는 편이 오래 감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6035040" y="402336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2000"/>
              </a:srgbClr>
            </a:outerShdw>
          </a:effectLst>
        </p:spPr>
      </p:sp>
      <p:sp>
        <p:nvSpPr>
          <p:cNvPr id="48" name="Shape 42"/>
          <p:cNvSpPr/>
          <p:nvPr/>
        </p:nvSpPr>
        <p:spPr>
          <a:xfrm>
            <a:off x="6263640" y="4178808"/>
            <a:ext cx="457200" cy="457200"/>
          </a:xfrm>
          <a:prstGeom prst="ellipse">
            <a:avLst/>
          </a:prstGeom>
          <a:solidFill>
            <a:srgbClr val="D2C81A">
              <a:alpha val="15000"/>
            </a:srgbClr>
          </a:solidFill>
          <a:ln/>
        </p:spPr>
      </p:sp>
      <p:pic>
        <p:nvPicPr>
          <p:cNvPr id="49" name="Image 4" descr="/home/claude/deck/assets/icons/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4293108"/>
            <a:ext cx="228600" cy="228600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6812280" y="420624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할 일</a:t>
            </a:r>
            <a:endParaRPr lang="en-US" sz="1350" dirty="0"/>
          </a:p>
        </p:txBody>
      </p:sp>
      <p:sp>
        <p:nvSpPr>
          <p:cNvPr id="51" name="Shape 44"/>
          <p:cNvSpPr/>
          <p:nvPr/>
        </p:nvSpPr>
        <p:spPr>
          <a:xfrm>
            <a:off x="6309360" y="4805172"/>
            <a:ext cx="54864" cy="54864"/>
          </a:xfrm>
          <a:prstGeom prst="ellipse">
            <a:avLst/>
          </a:prstGeom>
          <a:solidFill>
            <a:srgbClr val="D2C81A"/>
          </a:solidFill>
          <a:ln/>
        </p:spPr>
      </p:sp>
      <p:sp>
        <p:nvSpPr>
          <p:cNvPr id="52" name="Text 45"/>
          <p:cNvSpPr/>
          <p:nvPr/>
        </p:nvSpPr>
        <p:spPr>
          <a:xfrm>
            <a:off x="6492240" y="46817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 저장 방식(현재 평문)을 팀 논의 후 개선</a:t>
            </a:r>
            <a:endParaRPr lang="en-US" sz="1000" dirty="0"/>
          </a:p>
        </p:txBody>
      </p:sp>
      <p:sp>
        <p:nvSpPr>
          <p:cNvPr id="53" name="Shape 46"/>
          <p:cNvSpPr/>
          <p:nvPr/>
        </p:nvSpPr>
        <p:spPr>
          <a:xfrm>
            <a:off x="6309360" y="5244084"/>
            <a:ext cx="54864" cy="54864"/>
          </a:xfrm>
          <a:prstGeom prst="ellipse">
            <a:avLst/>
          </a:prstGeom>
          <a:solidFill>
            <a:srgbClr val="D2C81A"/>
          </a:solidFill>
          <a:ln/>
        </p:spPr>
      </p:sp>
      <p:sp>
        <p:nvSpPr>
          <p:cNvPr id="54" name="Text 47"/>
          <p:cNvSpPr/>
          <p:nvPr/>
        </p:nvSpPr>
        <p:spPr>
          <a:xfrm>
            <a:off x="6492240" y="5120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전문분야 값처럼 남은 데이터 표기 정리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6309360" y="5682996"/>
            <a:ext cx="54864" cy="54864"/>
          </a:xfrm>
          <a:prstGeom prst="ellipse">
            <a:avLst/>
          </a:prstGeom>
          <a:solidFill>
            <a:srgbClr val="D2C81A"/>
          </a:solidFill>
          <a:ln/>
        </p:spPr>
      </p:sp>
      <p:sp>
        <p:nvSpPr>
          <p:cNvPr id="56" name="Text 49"/>
          <p:cNvSpPr/>
          <p:nvPr/>
        </p:nvSpPr>
        <p:spPr>
          <a:xfrm>
            <a:off x="6492240" y="55595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D6A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불명확한 기능의 역할을 팀과 함께 확정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93992"/>
            <a:ext cx="1533106" cy="64008"/>
          </a:xfrm>
          <a:prstGeom prst="rect">
            <a:avLst/>
          </a:prstGeom>
          <a:solidFill>
            <a:srgbClr val="2B6BF0"/>
          </a:solidFill>
          <a:ln/>
        </p:spPr>
      </p:sp>
      <p:sp>
        <p:nvSpPr>
          <p:cNvPr id="3" name="Shape 1"/>
          <p:cNvSpPr/>
          <p:nvPr/>
        </p:nvSpPr>
        <p:spPr>
          <a:xfrm>
            <a:off x="1523962" y="6793992"/>
            <a:ext cx="1533106" cy="6400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924" y="6793992"/>
            <a:ext cx="1533106" cy="64008"/>
          </a:xfrm>
          <a:prstGeom prst="rect">
            <a:avLst/>
          </a:prstGeom>
          <a:solidFill>
            <a:srgbClr val="1FBBD1"/>
          </a:solidFill>
          <a:ln/>
        </p:spPr>
      </p:sp>
      <p:sp>
        <p:nvSpPr>
          <p:cNvPr id="5" name="Shape 3"/>
          <p:cNvSpPr/>
          <p:nvPr/>
        </p:nvSpPr>
        <p:spPr>
          <a:xfrm>
            <a:off x="4571886" y="6793992"/>
            <a:ext cx="1533106" cy="64008"/>
          </a:xfrm>
          <a:prstGeom prst="rect">
            <a:avLst/>
          </a:prstGeom>
          <a:solidFill>
            <a:srgbClr val="3CC98A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48" y="6793992"/>
            <a:ext cx="1533106" cy="64008"/>
          </a:xfrm>
          <a:prstGeom prst="rect">
            <a:avLst/>
          </a:prstGeom>
          <a:solidFill>
            <a:srgbClr val="D2C81A"/>
          </a:solidFill>
          <a:ln/>
        </p:spPr>
      </p:sp>
      <p:sp>
        <p:nvSpPr>
          <p:cNvPr id="7" name="Shape 5"/>
          <p:cNvSpPr/>
          <p:nvPr/>
        </p:nvSpPr>
        <p:spPr>
          <a:xfrm>
            <a:off x="7619810" y="6793992"/>
            <a:ext cx="1533106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9143771" y="6793992"/>
            <a:ext cx="1533106" cy="64008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9" name="Shape 7"/>
          <p:cNvSpPr/>
          <p:nvPr/>
        </p:nvSpPr>
        <p:spPr>
          <a:xfrm>
            <a:off x="10667733" y="6793992"/>
            <a:ext cx="1533106" cy="64008"/>
          </a:xfrm>
          <a:prstGeom prst="rect">
            <a:avLst/>
          </a:prstGeom>
          <a:solidFill>
            <a:srgbClr val="E63A1A"/>
          </a:solidFill>
          <a:ln/>
        </p:spPr>
      </p:sp>
      <p:sp>
        <p:nvSpPr>
          <p:cNvPr id="10" name="Shape 8"/>
          <p:cNvSpPr/>
          <p:nvPr/>
        </p:nvSpPr>
        <p:spPr>
          <a:xfrm rot="-240000">
            <a:off x="502920" y="1417320"/>
            <a:ext cx="2880360" cy="219456"/>
          </a:xfrm>
          <a:prstGeom prst="roundRect">
            <a:avLst>
              <a:gd name="adj" fmla="val 208333"/>
            </a:avLst>
          </a:prstGeom>
          <a:solidFill>
            <a:srgbClr val="2B6BF0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240000">
            <a:off x="1143000" y="1645920"/>
            <a:ext cx="3703320" cy="219456"/>
          </a:xfrm>
          <a:prstGeom prst="roundRect">
            <a:avLst>
              <a:gd name="adj" fmla="val 208333"/>
            </a:avLst>
          </a:prstGeom>
          <a:solidFill>
            <a:srgbClr val="2196D4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240000">
            <a:off x="731520" y="2103120"/>
            <a:ext cx="2331720" cy="219456"/>
          </a:xfrm>
          <a:prstGeom prst="roundRect">
            <a:avLst>
              <a:gd name="adj" fmla="val 208333"/>
            </a:avLst>
          </a:prstGeom>
          <a:solidFill>
            <a:srgbClr val="1FBBD1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-240000">
            <a:off x="1965960" y="2267712"/>
            <a:ext cx="3182112" cy="219456"/>
          </a:xfrm>
          <a:prstGeom prst="roundRect">
            <a:avLst>
              <a:gd name="adj" fmla="val 208333"/>
            </a:avLst>
          </a:prstGeom>
          <a:solidFill>
            <a:srgbClr val="3CC98A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240000">
            <a:off x="1499616" y="2606040"/>
            <a:ext cx="4087368" cy="219456"/>
          </a:xfrm>
          <a:prstGeom prst="roundRect">
            <a:avLst>
              <a:gd name="adj" fmla="val 208333"/>
            </a:avLst>
          </a:prstGeom>
          <a:solidFill>
            <a:srgbClr val="D2C81A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-240000">
            <a:off x="2633472" y="2907792"/>
            <a:ext cx="2487168" cy="219456"/>
          </a:xfrm>
          <a:prstGeom prst="roundRect">
            <a:avLst>
              <a:gd name="adj" fmla="val 208333"/>
            </a:avLst>
          </a:prstGeom>
          <a:solidFill>
            <a:srgbClr val="F0A500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-240000">
            <a:off x="1097280" y="3364992"/>
            <a:ext cx="3493008" cy="219456"/>
          </a:xfrm>
          <a:prstGeom prst="roundRect">
            <a:avLst>
              <a:gd name="adj" fmla="val 208333"/>
            </a:avLst>
          </a:prstGeom>
          <a:solidFill>
            <a:srgbClr val="FF5A1F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-240000">
            <a:off x="2267712" y="3611880"/>
            <a:ext cx="2139696" cy="219456"/>
          </a:xfrm>
          <a:prstGeom prst="roundRect">
            <a:avLst>
              <a:gd name="adj" fmla="val 208333"/>
            </a:avLst>
          </a:prstGeom>
          <a:solidFill>
            <a:srgbClr val="E63A1A">
              <a:alpha val="85000"/>
            </a:srgbClr>
          </a:solidFill>
          <a:ln/>
        </p:spPr>
      </p:sp>
      <p:pic>
        <p:nvPicPr>
          <p:cNvPr id="18" name="Image 0" descr="/home/claude/deck/assets/images/snowfl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502920"/>
            <a:ext cx="384048" cy="38404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24128" y="530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24128" y="8961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냉난방 AS 스케줄 관리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52160" y="246888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들어주셔서</a:t>
            </a:r>
            <a:endParaRPr lang="en-US" sz="4200" dirty="0"/>
          </a:p>
        </p:txBody>
      </p:sp>
      <p:sp>
        <p:nvSpPr>
          <p:cNvPr id="22" name="Text 19"/>
          <p:cNvSpPr/>
          <p:nvPr/>
        </p:nvSpPr>
        <p:spPr>
          <a:xfrm>
            <a:off x="5852160" y="312724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200" dirty="0"/>
          </a:p>
        </p:txBody>
      </p:sp>
      <p:sp>
        <p:nvSpPr>
          <p:cNvPr id="23" name="Text 20"/>
          <p:cNvSpPr/>
          <p:nvPr/>
        </p:nvSpPr>
        <p:spPr>
          <a:xfrm>
            <a:off x="5852160" y="39136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02920" y="5806440"/>
            <a:ext cx="11201400" cy="9144"/>
          </a:xfrm>
          <a:prstGeom prst="rect">
            <a:avLst/>
          </a:prstGeom>
          <a:solidFill>
            <a:srgbClr val="1F2836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" y="5989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02920" y="6199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github.com/ung-Jin/Schedule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389120" y="5989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발표자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389120" y="6199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최준영 — 관리자 대시보드 · 기사관리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595360" y="5989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B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595360" y="6199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4인 · 화면 단위 분업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0" y="6793992"/>
            <a:ext cx="1533106" cy="64008"/>
          </a:xfrm>
          <a:prstGeom prst="rect">
            <a:avLst/>
          </a:prstGeom>
          <a:solidFill>
            <a:srgbClr val="2B6BF0"/>
          </a:solidFill>
          <a:ln/>
        </p:spPr>
      </p:sp>
      <p:sp>
        <p:nvSpPr>
          <p:cNvPr id="32" name="Shape 29"/>
          <p:cNvSpPr/>
          <p:nvPr/>
        </p:nvSpPr>
        <p:spPr>
          <a:xfrm>
            <a:off x="1523962" y="6793992"/>
            <a:ext cx="1533106" cy="64008"/>
          </a:xfrm>
          <a:prstGeom prst="rect">
            <a:avLst/>
          </a:prstGeom>
          <a:solidFill>
            <a:srgbClr val="2196D4"/>
          </a:solidFill>
          <a:ln/>
        </p:spPr>
      </p:sp>
      <p:sp>
        <p:nvSpPr>
          <p:cNvPr id="33" name="Shape 30"/>
          <p:cNvSpPr/>
          <p:nvPr/>
        </p:nvSpPr>
        <p:spPr>
          <a:xfrm>
            <a:off x="3047924" y="6793992"/>
            <a:ext cx="1533106" cy="64008"/>
          </a:xfrm>
          <a:prstGeom prst="rect">
            <a:avLst/>
          </a:prstGeom>
          <a:solidFill>
            <a:srgbClr val="1FBBD1"/>
          </a:solidFill>
          <a:ln/>
        </p:spPr>
      </p:sp>
      <p:sp>
        <p:nvSpPr>
          <p:cNvPr id="34" name="Shape 31"/>
          <p:cNvSpPr/>
          <p:nvPr/>
        </p:nvSpPr>
        <p:spPr>
          <a:xfrm>
            <a:off x="4571886" y="6793992"/>
            <a:ext cx="1533106" cy="64008"/>
          </a:xfrm>
          <a:prstGeom prst="rect">
            <a:avLst/>
          </a:prstGeom>
          <a:solidFill>
            <a:srgbClr val="3CC98A"/>
          </a:solidFill>
          <a:ln/>
        </p:spPr>
      </p:sp>
      <p:sp>
        <p:nvSpPr>
          <p:cNvPr id="35" name="Shape 32"/>
          <p:cNvSpPr/>
          <p:nvPr/>
        </p:nvSpPr>
        <p:spPr>
          <a:xfrm>
            <a:off x="6095848" y="6793992"/>
            <a:ext cx="1533106" cy="64008"/>
          </a:xfrm>
          <a:prstGeom prst="rect">
            <a:avLst/>
          </a:prstGeom>
          <a:solidFill>
            <a:srgbClr val="D2C81A"/>
          </a:solidFill>
          <a:ln/>
        </p:spPr>
      </p:sp>
      <p:sp>
        <p:nvSpPr>
          <p:cNvPr id="36" name="Shape 33"/>
          <p:cNvSpPr/>
          <p:nvPr/>
        </p:nvSpPr>
        <p:spPr>
          <a:xfrm>
            <a:off x="7619810" y="6793992"/>
            <a:ext cx="1533106" cy="6400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7" name="Shape 34"/>
          <p:cNvSpPr/>
          <p:nvPr/>
        </p:nvSpPr>
        <p:spPr>
          <a:xfrm>
            <a:off x="9143771" y="6793992"/>
            <a:ext cx="1533106" cy="64008"/>
          </a:xfrm>
          <a:prstGeom prst="rect">
            <a:avLst/>
          </a:prstGeom>
          <a:solidFill>
            <a:srgbClr val="FF5A1F"/>
          </a:solidFill>
          <a:ln/>
        </p:spPr>
      </p:sp>
      <p:sp>
        <p:nvSpPr>
          <p:cNvPr id="38" name="Shape 35"/>
          <p:cNvSpPr/>
          <p:nvPr/>
        </p:nvSpPr>
        <p:spPr>
          <a:xfrm>
            <a:off x="10667733" y="6793992"/>
            <a:ext cx="1533106" cy="64008"/>
          </a:xfrm>
          <a:prstGeom prst="rect">
            <a:avLst/>
          </a:prstGeom>
          <a:solidFill>
            <a:srgbClr val="E63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2026-09-14T02:59:35Z</dcterms:created>
  <dcterms:modified xsi:type="dcterms:W3CDTF">2026-09-14T02:59:35Z</dcterms:modified>
</cp:coreProperties>
</file>